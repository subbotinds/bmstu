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4"/>
  </p:notesMasterIdLst>
  <p:sldIdLst>
    <p:sldId id="256" r:id="rId2"/>
    <p:sldId id="257" r:id="rId3"/>
    <p:sldId id="259" r:id="rId4"/>
    <p:sldId id="261" r:id="rId5"/>
    <p:sldId id="263" r:id="rId6"/>
    <p:sldId id="265" r:id="rId7"/>
    <p:sldId id="267" r:id="rId8"/>
    <p:sldId id="268" r:id="rId9"/>
    <p:sldId id="269" r:id="rId10"/>
    <p:sldId id="270" r:id="rId11"/>
    <p:sldId id="264" r:id="rId12"/>
    <p:sldId id="25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Савелий Вепринцев" initials="СВ" lastIdx="1" clrIdx="0">
    <p:extLst>
      <p:ext uri="{19B8F6BF-5375-455C-9EA6-DF929625EA0E}">
        <p15:presenceInfo xmlns:p15="http://schemas.microsoft.com/office/powerpoint/2012/main" userId="49335ece5b206a4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72"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3F022B-2133-44C6-A523-6A115CA68667}" type="datetimeFigureOut">
              <a:rPr lang="ru-RU" smtClean="0"/>
              <a:t>13.10.2026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0A006-DD3F-497C-8D85-963CDCDEF422}" type="slidenum">
              <a:rPr lang="ru-RU" smtClean="0"/>
              <a:t>‹#›</a:t>
            </a:fld>
            <a:endParaRPr lang="ru-RU"/>
          </a:p>
        </p:txBody>
      </p:sp>
    </p:spTree>
    <p:extLst>
      <p:ext uri="{BB962C8B-B14F-4D97-AF65-F5344CB8AC3E}">
        <p14:creationId xmlns:p14="http://schemas.microsoft.com/office/powerpoint/2010/main" val="3965931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ru-RU"/>
              <a:t>Образец заголовка</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872046B6-0165-4EE3-972D-9C8F335299E1}" type="datetime1">
              <a:rPr lang="ru-RU" smtClean="0"/>
              <a:t>13.10.2026</a:t>
            </a:fld>
            <a:endParaRPr lang="ru-RU"/>
          </a:p>
        </p:txBody>
      </p:sp>
      <p:sp>
        <p:nvSpPr>
          <p:cNvPr id="9" name="Footer Placeholder 8"/>
          <p:cNvSpPr>
            <a:spLocks noGrp="1"/>
          </p:cNvSpPr>
          <p:nvPr>
            <p:ph type="ftr" sz="quarter" idx="11"/>
          </p:nvPr>
        </p:nvSpPr>
        <p:spPr/>
        <p:txBody>
          <a:bodyPr/>
          <a:lstStyle/>
          <a:p>
            <a:endParaRPr lang="ru-RU"/>
          </a:p>
        </p:txBody>
      </p:sp>
      <p:sp>
        <p:nvSpPr>
          <p:cNvPr id="10" name="Slide Number Placeholder 9"/>
          <p:cNvSpPr>
            <a:spLocks noGrp="1"/>
          </p:cNvSpPr>
          <p:nvPr>
            <p:ph type="sldNum" sz="quarter" idx="12"/>
          </p:nvPr>
        </p:nvSpPr>
        <p:spPr/>
        <p:txBody>
          <a:bodyPr/>
          <a:lstStyle/>
          <a:p>
            <a:fld id="{DB84FAFC-C53C-4EBF-83F0-2A5A236E3751}" type="slidenum">
              <a:rPr lang="ru-RU" smtClean="0"/>
              <a:t>‹#›</a:t>
            </a:fld>
            <a:endParaRPr lang="ru-RU"/>
          </a:p>
        </p:txBody>
      </p:sp>
    </p:spTree>
    <p:extLst>
      <p:ext uri="{BB962C8B-B14F-4D97-AF65-F5344CB8AC3E}">
        <p14:creationId xmlns:p14="http://schemas.microsoft.com/office/powerpoint/2010/main" val="248833414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A91FC7E-8DFB-4753-BDCD-E6C9D31418A5}" type="datetime1">
              <a:rPr lang="ru-RU" smtClean="0"/>
              <a:t>13.10.2026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84FAFC-C53C-4EBF-83F0-2A5A236E3751}" type="slidenum">
              <a:rPr lang="ru-RU" smtClean="0"/>
              <a:t>‹#›</a:t>
            </a:fld>
            <a:endParaRPr lang="ru-RU"/>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07190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ru-RU"/>
              <a:t>Образец заголовка</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5CEF329-FAC1-4383-A761-3671B7FA7CA6}" type="datetime1">
              <a:rPr lang="ru-RU" smtClean="0"/>
              <a:t>13.10.2026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84FAFC-C53C-4EBF-83F0-2A5A236E3751}" type="slidenum">
              <a:rPr lang="ru-RU" smtClean="0"/>
              <a:t>‹#›</a:t>
            </a:fld>
            <a:endParaRPr lang="ru-RU"/>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7603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D08DFD4-48A5-467C-96DF-FB901466D34D}" type="datetime1">
              <a:rPr lang="ru-RU" smtClean="0"/>
              <a:t>13.10.2026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B84FAFC-C53C-4EBF-83F0-2A5A236E3751}" type="slidenum">
              <a:rPr lang="ru-RU" smtClean="0"/>
              <a:t>‹#›</a:t>
            </a:fld>
            <a:endParaRPr lang="ru-RU"/>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54751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ru-RU"/>
              <a:t>Образец текста</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C1D8F5F-B31E-4B11-B635-7E24A0A02392}" type="datetime1">
              <a:rPr lang="ru-RU" smtClean="0"/>
              <a:t>13.10.2026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DB84FAFC-C53C-4EBF-83F0-2A5A236E3751}" type="slidenum">
              <a:rPr lang="ru-RU" smtClean="0"/>
              <a:t>‹#›</a:t>
            </a:fld>
            <a:endParaRPr lang="ru-RU"/>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9158469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1B91C2A0-8D52-4460-A065-0299345BC111}" type="datetime1">
              <a:rPr lang="ru-RU" smtClean="0"/>
              <a:t>13.10.2026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DB84FAFC-C53C-4EBF-83F0-2A5A236E3751}" type="slidenum">
              <a:rPr lang="ru-RU" smtClean="0"/>
              <a:t>‹#›</a:t>
            </a:fld>
            <a:endParaRPr lang="ru-RU"/>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6512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69A161-355E-43EF-B9C8-6AB825C94644}" type="datetime1">
              <a:rPr lang="ru-RU" smtClean="0"/>
              <a:t>13.10.2026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DB84FAFC-C53C-4EBF-83F0-2A5A236E3751}" type="slidenum">
              <a:rPr lang="ru-RU" smtClean="0"/>
              <a:t>‹#›</a:t>
            </a:fld>
            <a:endParaRPr lang="ru-RU"/>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29577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ru-RU"/>
              <a:t>Образец заголовка</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4190227F-B63D-43F9-A979-B412C941A935}" type="datetime1">
              <a:rPr lang="ru-RU" smtClean="0"/>
              <a:t>13.10.2026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B84FAFC-C53C-4EBF-83F0-2A5A236E3751}" type="slidenum">
              <a:rPr lang="ru-RU" smtClean="0"/>
              <a:t>‹#›</a:t>
            </a:fld>
            <a:endParaRPr lang="ru-RU"/>
          </a:p>
        </p:txBody>
      </p:sp>
    </p:spTree>
    <p:extLst>
      <p:ext uri="{BB962C8B-B14F-4D97-AF65-F5344CB8AC3E}">
        <p14:creationId xmlns:p14="http://schemas.microsoft.com/office/powerpoint/2010/main" val="418086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0033BECF-BA65-4ECE-B78C-864D311B41F2}" type="datetime1">
              <a:rPr lang="ru-RU" smtClean="0"/>
              <a:t>13.10.2026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DB84FAFC-C53C-4EBF-83F0-2A5A236E3751}" type="slidenum">
              <a:rPr lang="ru-RU" smtClean="0"/>
              <a:t>‹#›</a:t>
            </a:fld>
            <a:endParaRPr lang="ru-RU"/>
          </a:p>
        </p:txBody>
      </p:sp>
    </p:spTree>
    <p:extLst>
      <p:ext uri="{BB962C8B-B14F-4D97-AF65-F5344CB8AC3E}">
        <p14:creationId xmlns:p14="http://schemas.microsoft.com/office/powerpoint/2010/main" val="633729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EA39B86-DC91-480F-83C6-ADB92392FEFD}" type="datetime1">
              <a:rPr lang="ru-RU" smtClean="0"/>
              <a:t>13.10.2026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84FAFC-C53C-4EBF-83F0-2A5A236E3751}" type="slidenum">
              <a:rPr lang="ru-RU" smtClean="0"/>
              <a:t>‹#›</a:t>
            </a:fld>
            <a:endParaRPr lang="ru-RU"/>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90661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F8EF8F9-0EB6-4484-91A7-5F3AA88872D9}" type="datetime1">
              <a:rPr lang="ru-RU" smtClean="0"/>
              <a:t>13.10.2026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DB84FAFC-C53C-4EBF-83F0-2A5A236E3751}" type="slidenum">
              <a:rPr lang="ru-RU" smtClean="0"/>
              <a:t>‹#›</a:t>
            </a:fld>
            <a:endParaRPr lang="ru-RU"/>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5429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3C1D8F5F-B31E-4B11-B635-7E24A0A02392}" type="datetime1">
              <a:rPr lang="ru-RU" smtClean="0"/>
              <a:t>13.10.2026</a:t>
            </a:fld>
            <a:endParaRPr lang="ru-R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ru-R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DB84FAFC-C53C-4EBF-83F0-2A5A236E3751}" type="slidenum">
              <a:rPr lang="ru-RU" smtClean="0"/>
              <a:t>‹#›</a:t>
            </a:fld>
            <a:endParaRPr lang="ru-RU"/>
          </a:p>
        </p:txBody>
      </p:sp>
    </p:spTree>
    <p:extLst>
      <p:ext uri="{BB962C8B-B14F-4D97-AF65-F5344CB8AC3E}">
        <p14:creationId xmlns:p14="http://schemas.microsoft.com/office/powerpoint/2010/main" val="140599773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ftr="0" dt="0"/>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3DDFBD73-780F-4F1C-8286-F4C720B996CD}"/>
              </a:ext>
            </a:extLst>
          </p:cNvPr>
          <p:cNvSpPr>
            <a:spLocks noGrp="1"/>
          </p:cNvSpPr>
          <p:nvPr>
            <p:ph type="subTitle" idx="1"/>
          </p:nvPr>
        </p:nvSpPr>
        <p:spPr>
          <a:xfrm>
            <a:off x="953580" y="2092544"/>
            <a:ext cx="9923970" cy="2027069"/>
          </a:xfrm>
        </p:spPr>
        <p:txBody>
          <a:bodyPr>
            <a:normAutofit fontScale="32500" lnSpcReduction="20000"/>
          </a:bodyPr>
          <a:lstStyle/>
          <a:p>
            <a:pPr algn="ctr"/>
            <a:r>
              <a:rPr lang="ru-RU" sz="2800" dirty="0">
                <a:solidFill>
                  <a:schemeClr val="tx1"/>
                </a:solidFill>
              </a:rPr>
              <a:t>Тонкопленочные и толстопленочные технологии изготовления ИМС</a:t>
            </a:r>
          </a:p>
          <a:p>
            <a:pPr algn="ctr"/>
            <a:r>
              <a:rPr lang="ru-RU" sz="2800" dirty="0">
                <a:solidFill>
                  <a:schemeClr val="tx1"/>
                </a:solidFill>
              </a:rPr>
              <a:t> </a:t>
            </a:r>
            <a:r>
              <a:rPr lang="ru-RU" sz="43100" dirty="0">
                <a:solidFill>
                  <a:schemeClr val="accent2">
                    <a:lumMod val="75000"/>
                  </a:schemeClr>
                </a:solidFill>
              </a:rPr>
              <a:t>ᛟ</a:t>
            </a:r>
          </a:p>
        </p:txBody>
      </p:sp>
      <p:sp>
        <p:nvSpPr>
          <p:cNvPr id="10" name="Номер слайда 9">
            <a:extLst>
              <a:ext uri="{FF2B5EF4-FFF2-40B4-BE49-F238E27FC236}">
                <a16:creationId xmlns:a16="http://schemas.microsoft.com/office/drawing/2014/main" id="{E5E9D8BF-DBAA-4877-8DFC-F4DEE063BE1C}"/>
              </a:ext>
            </a:extLst>
          </p:cNvPr>
          <p:cNvSpPr>
            <a:spLocks noGrp="1"/>
          </p:cNvSpPr>
          <p:nvPr>
            <p:ph type="sldNum" sz="quarter" idx="12"/>
          </p:nvPr>
        </p:nvSpPr>
        <p:spPr/>
        <p:txBody>
          <a:bodyPr>
            <a:normAutofit lnSpcReduction="10000"/>
          </a:bodyPr>
          <a:lstStyle/>
          <a:p>
            <a:r>
              <a:rPr lang="ru-RU" dirty="0"/>
              <a:t> </a:t>
            </a:r>
          </a:p>
        </p:txBody>
      </p:sp>
      <p:graphicFrame>
        <p:nvGraphicFramePr>
          <p:cNvPr id="6" name="Таблица 5">
            <a:extLst>
              <a:ext uri="{FF2B5EF4-FFF2-40B4-BE49-F238E27FC236}">
                <a16:creationId xmlns:a16="http://schemas.microsoft.com/office/drawing/2014/main" id="{31EB88F4-E1AD-49BC-A414-8AD141EB21A2}"/>
              </a:ext>
            </a:extLst>
          </p:cNvPr>
          <p:cNvGraphicFramePr>
            <a:graphicFrameLocks noGrp="1"/>
          </p:cNvGraphicFramePr>
          <p:nvPr>
            <p:extLst>
              <p:ext uri="{D42A27DB-BD31-4B8C-83A1-F6EECF244321}">
                <p14:modId xmlns:p14="http://schemas.microsoft.com/office/powerpoint/2010/main" val="831480477"/>
              </p:ext>
            </p:extLst>
          </p:nvPr>
        </p:nvGraphicFramePr>
        <p:xfrm>
          <a:off x="902563" y="270829"/>
          <a:ext cx="10386874" cy="1467488"/>
        </p:xfrm>
        <a:graphic>
          <a:graphicData uri="http://schemas.openxmlformats.org/drawingml/2006/table">
            <a:tbl>
              <a:tblPr firstRow="1" firstCol="1" bandRow="1"/>
              <a:tblGrid>
                <a:gridCol w="1074198">
                  <a:extLst>
                    <a:ext uri="{9D8B030D-6E8A-4147-A177-3AD203B41FA5}">
                      <a16:colId xmlns:a16="http://schemas.microsoft.com/office/drawing/2014/main" val="655757002"/>
                    </a:ext>
                  </a:extLst>
                </a:gridCol>
                <a:gridCol w="9312676">
                  <a:extLst>
                    <a:ext uri="{9D8B030D-6E8A-4147-A177-3AD203B41FA5}">
                      <a16:colId xmlns:a16="http://schemas.microsoft.com/office/drawing/2014/main" val="322559527"/>
                    </a:ext>
                  </a:extLst>
                </a:gridCol>
              </a:tblGrid>
              <a:tr h="1467488">
                <a:tc>
                  <a:txBody>
                    <a:bodyPr/>
                    <a:lstStyle/>
                    <a:p>
                      <a:pPr indent="450215" algn="just">
                        <a:lnSpc>
                          <a:spcPct val="150000"/>
                        </a:lnSpc>
                      </a:pPr>
                      <a:endParaRPr lang="ru-RU"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algn="ctr">
                        <a:lnSpc>
                          <a:spcPct val="107000"/>
                        </a:lnSpc>
                        <a:spcAft>
                          <a:spcPts val="800"/>
                        </a:spcAft>
                      </a:pP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Министерство науки и высшего образования Российской Федерации</a:t>
                      </a:r>
                      <a:endParaRPr lang="ru-RU"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Федеральное государственное автономное образовательное учреждение высшего образования</a:t>
                      </a:r>
                      <a:endParaRPr lang="ru-RU"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«Московский государственный технический университет</a:t>
                      </a:r>
                      <a:r>
                        <a:rPr lang="ru-RU"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имени Н.Э. Баумана</a:t>
                      </a:r>
                      <a:endParaRPr lang="ru-RU"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(национальный исследовательский университет)»</a:t>
                      </a:r>
                      <a:r>
                        <a:rPr lang="ru-RU" sz="16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ru-RU" sz="1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(МГТУ им. Н.Э. Баумана)</a:t>
                      </a:r>
                      <a:endParaRPr lang="ru-RU"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740748775"/>
                  </a:ext>
                </a:extLst>
              </a:tr>
            </a:tbl>
          </a:graphicData>
        </a:graphic>
      </p:graphicFrame>
      <p:pic>
        <p:nvPicPr>
          <p:cNvPr id="2051" name="Рисунок 45" descr="Gerb-BMSTU_01">
            <a:extLst>
              <a:ext uri="{FF2B5EF4-FFF2-40B4-BE49-F238E27FC236}">
                <a16:creationId xmlns:a16="http://schemas.microsoft.com/office/drawing/2014/main" id="{552C3676-A965-4635-B9C4-798E104A39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702" y="193675"/>
            <a:ext cx="1298811" cy="146748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единительная линия 7">
            <a:extLst>
              <a:ext uri="{FF2B5EF4-FFF2-40B4-BE49-F238E27FC236}">
                <a16:creationId xmlns:a16="http://schemas.microsoft.com/office/drawing/2014/main" id="{D95E34F5-FB5B-4785-9833-BB41C32B4120}"/>
              </a:ext>
            </a:extLst>
          </p:cNvPr>
          <p:cNvCxnSpPr>
            <a:cxnSpLocks/>
          </p:cNvCxnSpPr>
          <p:nvPr/>
        </p:nvCxnSpPr>
        <p:spPr>
          <a:xfrm>
            <a:off x="522011" y="1858156"/>
            <a:ext cx="10681608" cy="0"/>
          </a:xfrm>
          <a:prstGeom prst="line">
            <a:avLst/>
          </a:prstGeom>
          <a:ln w="76200">
            <a:solidFill>
              <a:schemeClr val="tx1">
                <a:alpha val="95000"/>
              </a:schemeClr>
            </a:solidFill>
          </a:ln>
        </p:spPr>
        <p:style>
          <a:lnRef idx="3">
            <a:schemeClr val="dk1"/>
          </a:lnRef>
          <a:fillRef idx="0">
            <a:schemeClr val="dk1"/>
          </a:fillRef>
          <a:effectRef idx="2">
            <a:schemeClr val="dk1"/>
          </a:effectRef>
          <a:fontRef idx="minor">
            <a:schemeClr val="tx1"/>
          </a:fontRef>
        </p:style>
      </p:cxnSp>
      <p:sp>
        <p:nvSpPr>
          <p:cNvPr id="12" name="Подзаголовок 2">
            <a:extLst>
              <a:ext uri="{FF2B5EF4-FFF2-40B4-BE49-F238E27FC236}">
                <a16:creationId xmlns:a16="http://schemas.microsoft.com/office/drawing/2014/main" id="{8216A4E4-D04D-4B12-AF98-37ADEBB448B4}"/>
              </a:ext>
            </a:extLst>
          </p:cNvPr>
          <p:cNvSpPr txBox="1">
            <a:spLocks/>
          </p:cNvSpPr>
          <p:nvPr/>
        </p:nvSpPr>
        <p:spPr>
          <a:xfrm>
            <a:off x="533925" y="4004167"/>
            <a:ext cx="5381640" cy="2343365"/>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ru-RU" dirty="0">
                <a:solidFill>
                  <a:schemeClr val="tx1"/>
                </a:solidFill>
              </a:rPr>
              <a:t>Подготовили студенты</a:t>
            </a:r>
          </a:p>
          <a:p>
            <a:r>
              <a:rPr lang="ru-RU" dirty="0">
                <a:solidFill>
                  <a:schemeClr val="tx1"/>
                </a:solidFill>
              </a:rPr>
              <a:t>группы РЛ6-91:</a:t>
            </a:r>
          </a:p>
          <a:p>
            <a:r>
              <a:rPr lang="ru-RU" dirty="0">
                <a:solidFill>
                  <a:schemeClr val="tx1"/>
                </a:solidFill>
              </a:rPr>
              <a:t>Вепринцев Савелий,</a:t>
            </a:r>
          </a:p>
          <a:p>
            <a:r>
              <a:rPr lang="ru-RU" dirty="0">
                <a:solidFill>
                  <a:schemeClr val="tx1"/>
                </a:solidFill>
              </a:rPr>
              <a:t>Субботин Дмитрий</a:t>
            </a:r>
          </a:p>
        </p:txBody>
      </p:sp>
    </p:spTree>
    <p:extLst>
      <p:ext uri="{BB962C8B-B14F-4D97-AF65-F5344CB8AC3E}">
        <p14:creationId xmlns:p14="http://schemas.microsoft.com/office/powerpoint/2010/main" val="890184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208606" y="426128"/>
            <a:ext cx="8595360" cy="5974672"/>
          </a:xfrm>
        </p:spPr>
        <p:txBody>
          <a:bodyPr>
            <a:normAutofit/>
          </a:bodyPr>
          <a:lstStyle/>
          <a:p>
            <a:pPr marL="0" indent="0">
              <a:buNone/>
            </a:pPr>
            <a:r>
              <a:rPr lang="ru-RU" sz="2800" dirty="0"/>
              <a:t>КОНСТРУИРОВАНИЕ И ТЕХНОЛОГИЯ ТОНКОПЛЕНОЧНЫХ ГИС</a:t>
            </a:r>
          </a:p>
          <a:p>
            <a:pPr marL="0" indent="0">
              <a:buNone/>
            </a:pPr>
            <a:r>
              <a:rPr lang="ru-RU" sz="2800" dirty="0"/>
              <a:t>Подложки тонкопленочных ГИС</a:t>
            </a:r>
          </a:p>
          <a:p>
            <a:pPr marL="0" indent="0">
              <a:buNone/>
            </a:pPr>
            <a:r>
              <a:rPr lang="ru-RU" dirty="0"/>
              <a:t>Подложки ГИС являются диэлектрическим и механическим основаниями для расположения пленочных и навесных элементов и служат для теплоотвода. По сравнению с ситаллами стекла имеют меньшую теплопроводность, что не позволяет использовать их при повышенных уровнях мощности. </a:t>
            </a:r>
            <a:endParaRPr lang="en-US" dirty="0"/>
          </a:p>
          <a:p>
            <a:pPr marL="0" indent="0">
              <a:buNone/>
            </a:pPr>
            <a:r>
              <a:rPr lang="ru-RU" dirty="0"/>
              <a:t>Для маломощных ГИС можно применять </a:t>
            </a:r>
            <a:r>
              <a:rPr lang="ru-RU" dirty="0" err="1"/>
              <a:t>бесщелочные</a:t>
            </a:r>
            <a:r>
              <a:rPr lang="ru-RU" dirty="0"/>
              <a:t> боросиликатные стекла С41-1 и С48-3, а также ситаллы. </a:t>
            </a:r>
          </a:p>
          <a:p>
            <a:pPr marL="0" indent="0">
              <a:buNone/>
            </a:pPr>
            <a:r>
              <a:rPr lang="ru-RU" dirty="0"/>
              <a:t>Для мощных ГИС применяют керамику </a:t>
            </a:r>
            <a:r>
              <a:rPr lang="ru-RU" dirty="0" err="1"/>
              <a:t>поликор</a:t>
            </a:r>
            <a:r>
              <a:rPr lang="ru-RU" dirty="0"/>
              <a:t>, а для особо мощных ГИС — бериллиевую керамику, имеющую очень высокую теплопроводность</a:t>
            </a:r>
            <a:r>
              <a:rPr lang="en-US" dirty="0"/>
              <a:t>.</a:t>
            </a:r>
            <a:endParaRPr lang="ru-RU" dirty="0"/>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2</a:t>
            </a:fld>
            <a:endParaRPr lang="ru-RU"/>
          </a:p>
        </p:txBody>
      </p:sp>
    </p:spTree>
    <p:extLst>
      <p:ext uri="{BB962C8B-B14F-4D97-AF65-F5344CB8AC3E}">
        <p14:creationId xmlns:p14="http://schemas.microsoft.com/office/powerpoint/2010/main" val="314134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208606" y="426128"/>
            <a:ext cx="5218827" cy="5974672"/>
          </a:xfrm>
        </p:spPr>
        <p:txBody>
          <a:bodyPr>
            <a:normAutofit lnSpcReduction="10000"/>
          </a:bodyPr>
          <a:lstStyle/>
          <a:p>
            <a:pPr marL="0" indent="0">
              <a:buNone/>
            </a:pPr>
            <a:r>
              <a:rPr lang="ru-RU" dirty="0"/>
              <a:t>Недостатком керамики является значительная шероховатость поверхности, что затрудняет получение воспроизводимых номиналов тонкопленочных элементов. По этой причине керамику 22ХС используют только для толстопленочных ГИС. Увеличение класса чистоты обработки поверхности путем глазурования керамики слоем </a:t>
            </a:r>
            <a:r>
              <a:rPr lang="ru-RU" dirty="0" err="1"/>
              <a:t>бесщелочного</a:t>
            </a:r>
            <a:r>
              <a:rPr lang="ru-RU" dirty="0"/>
              <a:t> стекла приводит к значительному уменьшению теплопроводности</a:t>
            </a:r>
            <a:r>
              <a:rPr lang="en-US" dirty="0"/>
              <a:t>.</a:t>
            </a:r>
          </a:p>
          <a:p>
            <a:pPr marL="0" indent="0">
              <a:buNone/>
            </a:pPr>
            <a:r>
              <a:rPr lang="ru-RU" dirty="0"/>
              <a:t>Также применяют металлические подложки: алюминиевые подложки, покрытые слоем анодного оксида, или эмалированные стальные подложки.</a:t>
            </a:r>
          </a:p>
          <a:p>
            <a:pPr marL="0" indent="0">
              <a:buNone/>
            </a:pPr>
            <a:r>
              <a:rPr lang="ru-RU" dirty="0"/>
              <a:t>Толщина подложек составляет 0,35–0,6 мм. Размеры подложек имеют только минусовые допуски в пределах 0,1–0,3 мм.</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3</a:t>
            </a:fld>
            <a:endParaRPr lang="ru-RU"/>
          </a:p>
        </p:txBody>
      </p:sp>
      <p:pic>
        <p:nvPicPr>
          <p:cNvPr id="5" name="Picture 2">
            <a:extLst>
              <a:ext uri="{FF2B5EF4-FFF2-40B4-BE49-F238E27FC236}">
                <a16:creationId xmlns:a16="http://schemas.microsoft.com/office/drawing/2014/main" id="{E44FE471-22BF-4AA1-958B-D5B3FF5B1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502200" y="949910"/>
            <a:ext cx="4586453" cy="4586453"/>
          </a:xfrm>
          <a:prstGeom prst="rect">
            <a:avLst/>
          </a:prstGeom>
          <a:noFill/>
          <a:extLst>
            <a:ext uri="{909E8E84-426E-40DD-AFC4-6F175D3DCCD1}">
              <a14:hiddenFill xmlns:a14="http://schemas.microsoft.com/office/drawing/2010/main">
                <a:solidFill>
                  <a:srgbClr val="FFFFFF"/>
                </a:solidFill>
              </a14:hiddenFill>
            </a:ext>
          </a:extLst>
        </p:spPr>
      </p:pic>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733694" y="5630662"/>
            <a:ext cx="3098783" cy="5415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r>
              <a:rPr lang="ru-RU" dirty="0"/>
              <a:t>Подложка с ИС</a:t>
            </a:r>
          </a:p>
        </p:txBody>
      </p:sp>
    </p:spTree>
    <p:extLst>
      <p:ext uri="{BB962C8B-B14F-4D97-AF65-F5344CB8AC3E}">
        <p14:creationId xmlns:p14="http://schemas.microsoft.com/office/powerpoint/2010/main" val="258644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208606" y="426128"/>
            <a:ext cx="8595360" cy="5974672"/>
          </a:xfrm>
        </p:spPr>
        <p:txBody>
          <a:bodyPr>
            <a:normAutofit/>
          </a:bodyPr>
          <a:lstStyle/>
          <a:p>
            <a:pPr marL="0" indent="0">
              <a:buNone/>
            </a:pPr>
            <a:r>
              <a:rPr lang="ru-RU" sz="2800" dirty="0"/>
              <a:t>Материалы элементов тонкопленочных ГИС</a:t>
            </a:r>
          </a:p>
          <a:p>
            <a:pPr marL="0" indent="0">
              <a:buNone/>
            </a:pPr>
            <a:r>
              <a:rPr lang="ru-RU" dirty="0"/>
              <a:t>Материалы резисторов</a:t>
            </a:r>
          </a:p>
          <a:p>
            <a:pPr marL="0" indent="0">
              <a:buNone/>
            </a:pPr>
            <a:r>
              <a:rPr lang="ru-RU" dirty="0"/>
              <a:t>Параметры тонкопленочных резисторов определяются свойствами применяемых резистивных материалов, толщиной резистивной пленки и условиями ее формирования. Для создания ГИС необходимы резистивные пленки с удельным поверхностным сопротивлением ρₛ от десятков до десятков тысяч ом на квадрат.</a:t>
            </a:r>
          </a:p>
          <a:p>
            <a:pPr marL="0" indent="0">
              <a:buNone/>
            </a:pPr>
            <a:r>
              <a:rPr lang="ru-RU" dirty="0"/>
              <a:t>Чем меньше толщина пленок, тем выше ρₛ, но одновременно повышается ТКС, а также ухудшается временная и температурная стабильность пленок. В качестве резистивных материалов используют чистые металлы и сплавы с высоким электрическим сопротивлением, а также специальные резистивные материалы — </a:t>
            </a:r>
            <a:r>
              <a:rPr lang="ru-RU" dirty="0" err="1"/>
              <a:t>керметы</a:t>
            </a:r>
            <a:r>
              <a:rPr lang="ru-RU" dirty="0"/>
              <a:t>, которые состоят из частиц металла и диэлектрика (например, </a:t>
            </a:r>
            <a:r>
              <a:rPr lang="ru-RU" dirty="0" err="1"/>
              <a:t>Cr</a:t>
            </a:r>
            <a:r>
              <a:rPr lang="ru-RU" dirty="0"/>
              <a:t> и </a:t>
            </a:r>
            <a:r>
              <a:rPr lang="ru-RU" dirty="0" err="1"/>
              <a:t>SiO</a:t>
            </a:r>
            <a:r>
              <a:rPr lang="ru-RU" dirty="0"/>
              <a:t>).</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4</a:t>
            </a:fld>
            <a:endParaRPr lang="ru-RU"/>
          </a:p>
        </p:txBody>
      </p:sp>
    </p:spTree>
    <p:extLst>
      <p:ext uri="{BB962C8B-B14F-4D97-AF65-F5344CB8AC3E}">
        <p14:creationId xmlns:p14="http://schemas.microsoft.com/office/powerpoint/2010/main" val="3262151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208606" y="426128"/>
            <a:ext cx="8595360" cy="5974672"/>
          </a:xfrm>
        </p:spPr>
        <p:txBody>
          <a:bodyPr>
            <a:normAutofit/>
          </a:bodyPr>
          <a:lstStyle/>
          <a:p>
            <a:pPr marL="0" indent="0">
              <a:buNone/>
            </a:pPr>
            <a:r>
              <a:rPr lang="ru-RU" sz="2800" dirty="0"/>
              <a:t>КОНСТРУИРОВАНИЕ И ТЕХНОЛОГИЯ ТОЛСТОПЛЕНОЧНЫХ ГИС</a:t>
            </a:r>
          </a:p>
          <a:p>
            <a:pPr marL="0" indent="0">
              <a:buNone/>
            </a:pPr>
            <a:r>
              <a:rPr lang="ru-RU" sz="2800" dirty="0"/>
              <a:t>Концептуальные задачи</a:t>
            </a:r>
          </a:p>
          <a:p>
            <a:pPr marL="457200" indent="-457200">
              <a:buFont typeface="+mj-lt"/>
              <a:buAutoNum type="arabicPeriod"/>
            </a:pPr>
            <a:r>
              <a:rPr lang="ru-RU" dirty="0"/>
              <a:t>Подготовка</a:t>
            </a:r>
            <a:r>
              <a:rPr lang="ru-RU" b="1" dirty="0"/>
              <a:t> </a:t>
            </a:r>
            <a:r>
              <a:rPr lang="ru-RU" dirty="0"/>
              <a:t>исходных материалов (пасты, подложки) и инструмент для переноса рисунка (трафареты).</a:t>
            </a:r>
          </a:p>
          <a:p>
            <a:pPr marL="457200" indent="-457200">
              <a:buFont typeface="+mj-lt"/>
              <a:buAutoNum type="arabicPeriod"/>
            </a:pPr>
            <a:r>
              <a:rPr lang="ru-RU" dirty="0"/>
              <a:t>Формирование пленочной структуры: послойное нанесение проводников, диэлектриков и резисторов, надежно закрепив их на подложке путем термообработки.</a:t>
            </a:r>
          </a:p>
          <a:p>
            <a:pPr marL="457200" indent="-457200">
              <a:buFont typeface="+mj-lt"/>
              <a:buAutoNum type="arabicPeriod"/>
            </a:pPr>
            <a:r>
              <a:rPr lang="ru-RU" dirty="0"/>
              <a:t>Сборка и настройка электрических параметров</a:t>
            </a:r>
            <a:r>
              <a:rPr lang="en-US" dirty="0"/>
              <a:t>: </a:t>
            </a:r>
            <a:r>
              <a:rPr lang="ru-RU" dirty="0"/>
              <a:t>корректирование неточностей пленочных элементов (подгонка), установка навесных компонентов и пайка контактов.</a:t>
            </a:r>
          </a:p>
          <a:p>
            <a:pPr marL="457200" indent="-457200">
              <a:buFont typeface="+mj-lt"/>
              <a:buAutoNum type="arabicPeriod"/>
            </a:pPr>
            <a:r>
              <a:rPr lang="ru-RU" dirty="0"/>
              <a:t>Защита и выходной контроль: изолирование ГИС от влаги и пыли (герметизация) и проверка работоспособности.</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5</a:t>
            </a:fld>
            <a:endParaRPr lang="ru-RU"/>
          </a:p>
        </p:txBody>
      </p:sp>
    </p:spTree>
    <p:extLst>
      <p:ext uri="{BB962C8B-B14F-4D97-AF65-F5344CB8AC3E}">
        <p14:creationId xmlns:p14="http://schemas.microsoft.com/office/powerpoint/2010/main" val="91437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7" y="426128"/>
            <a:ext cx="4962617" cy="5974672"/>
          </a:xfrm>
        </p:spPr>
        <p:txBody>
          <a:bodyPr>
            <a:normAutofit/>
          </a:bodyPr>
          <a:lstStyle/>
          <a:p>
            <a:pPr marL="0" indent="0">
              <a:buNone/>
            </a:pPr>
            <a:r>
              <a:rPr lang="ru-RU" sz="2400" dirty="0"/>
              <a:t>1. Подготовка</a:t>
            </a:r>
            <a:r>
              <a:rPr lang="ru-RU" sz="2400" b="1" dirty="0"/>
              <a:t> </a:t>
            </a:r>
            <a:r>
              <a:rPr lang="ru-RU" sz="2400" dirty="0"/>
              <a:t>исходных материалов</a:t>
            </a:r>
            <a:endParaRPr lang="ru-RU" sz="1800" dirty="0"/>
          </a:p>
          <a:p>
            <a:pPr marL="0" indent="0">
              <a:buNone/>
            </a:pPr>
            <a:r>
              <a:rPr lang="ru-RU" sz="1800" dirty="0"/>
              <a:t>В условиях массового </a:t>
            </a:r>
            <a:r>
              <a:rPr lang="en-US" sz="1800" dirty="0" err="1">
                <a:effectLst/>
                <a:ea typeface="Times New Roman" panose="02020603050405020304" pitchFamily="18" charset="0"/>
              </a:rPr>
              <a:t>производства</a:t>
            </a:r>
            <a:r>
              <a:rPr lang="ru-RU" sz="1800" dirty="0">
                <a:ea typeface="Times New Roman" panose="02020603050405020304" pitchFamily="18" charset="0"/>
              </a:rPr>
              <a:t> </a:t>
            </a:r>
            <a:r>
              <a:rPr lang="en-US" sz="1800" dirty="0" err="1">
                <a:effectLst/>
                <a:ea typeface="Times New Roman" panose="02020603050405020304" pitchFamily="18" charset="0"/>
              </a:rPr>
              <a:t>используют</a:t>
            </a:r>
            <a:r>
              <a:rPr lang="en-US" sz="1800" dirty="0">
                <a:effectLst/>
                <a:ea typeface="Times New Roman" panose="02020603050405020304" pitchFamily="18" charset="0"/>
              </a:rPr>
              <a:t> </a:t>
            </a:r>
            <a:r>
              <a:rPr lang="en-US" sz="1800" dirty="0" err="1">
                <a:effectLst/>
                <a:ea typeface="Times New Roman" panose="02020603050405020304" pitchFamily="18" charset="0"/>
              </a:rPr>
              <a:t>платы</a:t>
            </a:r>
            <a:r>
              <a:rPr lang="en-US" sz="1800" dirty="0">
                <a:effectLst/>
                <a:ea typeface="Times New Roman" panose="02020603050405020304" pitchFamily="18" charset="0"/>
              </a:rPr>
              <a:t> </a:t>
            </a:r>
            <a:r>
              <a:rPr lang="en-US" sz="1800" dirty="0" err="1">
                <a:effectLst/>
                <a:ea typeface="Times New Roman" panose="02020603050405020304" pitchFamily="18" charset="0"/>
              </a:rPr>
              <a:t>из</a:t>
            </a:r>
            <a:r>
              <a:rPr lang="en-US" sz="1800" dirty="0">
                <a:effectLst/>
                <a:ea typeface="Times New Roman" panose="02020603050405020304" pitchFamily="18" charset="0"/>
              </a:rPr>
              <a:t> </a:t>
            </a:r>
            <a:r>
              <a:rPr lang="en-US" sz="1800" dirty="0" err="1">
                <a:effectLst/>
                <a:ea typeface="Times New Roman" panose="02020603050405020304" pitchFamily="18" charset="0"/>
              </a:rPr>
              <a:t>керамики</a:t>
            </a:r>
            <a:r>
              <a:rPr lang="ru-RU" sz="1800" dirty="0">
                <a:effectLst/>
                <a:ea typeface="Times New Roman" panose="02020603050405020304" pitchFamily="18" charset="0"/>
              </a:rPr>
              <a:t> </a:t>
            </a:r>
            <a:r>
              <a:rPr lang="ru-RU" sz="1800" dirty="0"/>
              <a:t>22ХС</a:t>
            </a:r>
            <a:r>
              <a:rPr lang="ru-RU" sz="1800" dirty="0">
                <a:ea typeface="Times New Roman" panose="02020603050405020304" pitchFamily="18" charset="0"/>
              </a:rPr>
              <a:t>. Е</a:t>
            </a:r>
            <a:r>
              <a:rPr lang="ru-RU" sz="1800" dirty="0">
                <a:effectLst/>
                <a:ea typeface="Times New Roman" panose="02020603050405020304" pitchFamily="18" charset="0"/>
              </a:rPr>
              <a:t>е изготавливают прессованием порошков или литьем с обжигом при температуре 1650 °С.</a:t>
            </a:r>
            <a:endParaRPr lang="ru-RU" sz="1900" dirty="0">
              <a:effectLst/>
              <a:latin typeface="Century Schoolbook (Основной текст)"/>
              <a:ea typeface="Times New Roman" panose="02020603050405020304" pitchFamily="18" charset="0"/>
            </a:endParaRPr>
          </a:p>
          <a:p>
            <a:pPr marL="0" indent="0">
              <a:spcBef>
                <a:spcPts val="1200"/>
              </a:spcBef>
              <a:spcAft>
                <a:spcPts val="1200"/>
              </a:spcAft>
              <a:buNone/>
            </a:pPr>
            <a:r>
              <a:rPr lang="ru-RU" sz="1800" dirty="0">
                <a:effectLst/>
                <a:latin typeface="Century Schoolbook (Основной текст)"/>
                <a:ea typeface="Times New Roman" panose="02020603050405020304" pitchFamily="18" charset="0"/>
              </a:rPr>
              <a:t>Максимальные размеры плат 60×48 мм. Платы больших размеров не применяют из-за ухудшения параметров пленочных </a:t>
            </a:r>
            <a:r>
              <a:rPr lang="ru-RU" sz="1800" dirty="0">
                <a:effectLst/>
                <a:ea typeface="Times New Roman" panose="02020603050405020304" pitchFamily="18" charset="0"/>
              </a:rPr>
              <a:t>элементов вследствие коробления плат при </a:t>
            </a:r>
            <a:r>
              <a:rPr lang="ru-RU" sz="1800" dirty="0" err="1">
                <a:effectLst/>
                <a:ea typeface="Times New Roman" panose="02020603050405020304" pitchFamily="18" charset="0"/>
              </a:rPr>
              <a:t>вжигании</a:t>
            </a:r>
            <a:r>
              <a:rPr lang="ru-RU" sz="1800" dirty="0">
                <a:effectLst/>
                <a:ea typeface="Times New Roman" panose="02020603050405020304" pitchFamily="18" charset="0"/>
              </a:rPr>
              <a:t> пленок. Толщина плат 0,6 – 1 мм.</a:t>
            </a:r>
          </a:p>
          <a:p>
            <a:pPr marL="0" indent="0">
              <a:spcBef>
                <a:spcPts val="1200"/>
              </a:spcBef>
              <a:spcAft>
                <a:spcPts val="1200"/>
              </a:spcAft>
              <a:buNone/>
            </a:pPr>
            <a:r>
              <a:rPr lang="en-US" sz="1800" dirty="0" err="1">
                <a:effectLst/>
                <a:ea typeface="Times New Roman" panose="02020603050405020304" pitchFamily="18" charset="0"/>
              </a:rPr>
              <a:t>Пасты</a:t>
            </a:r>
            <a:r>
              <a:rPr lang="en-US" sz="1800" dirty="0">
                <a:effectLst/>
                <a:ea typeface="Times New Roman" panose="02020603050405020304" pitchFamily="18" charset="0"/>
              </a:rPr>
              <a:t> </a:t>
            </a:r>
            <a:r>
              <a:rPr lang="en-US" sz="1800" dirty="0" err="1">
                <a:effectLst/>
                <a:ea typeface="Times New Roman" panose="02020603050405020304" pitchFamily="18" charset="0"/>
              </a:rPr>
              <a:t>подразделяют</a:t>
            </a:r>
            <a:r>
              <a:rPr lang="en-US" sz="1800" dirty="0">
                <a:effectLst/>
                <a:ea typeface="Times New Roman" panose="02020603050405020304" pitchFamily="18" charset="0"/>
              </a:rPr>
              <a:t> </a:t>
            </a:r>
            <a:r>
              <a:rPr lang="en-US" sz="1800" dirty="0" err="1">
                <a:effectLst/>
                <a:ea typeface="Times New Roman" panose="02020603050405020304" pitchFamily="18" charset="0"/>
              </a:rPr>
              <a:t>на</a:t>
            </a:r>
            <a:r>
              <a:rPr lang="en-US" sz="1800" dirty="0">
                <a:effectLst/>
                <a:ea typeface="Times New Roman" panose="02020603050405020304" pitchFamily="18" charset="0"/>
              </a:rPr>
              <a:t> </a:t>
            </a:r>
            <a:r>
              <a:rPr lang="en-US" sz="1800" dirty="0" err="1">
                <a:effectLst/>
                <a:ea typeface="Times New Roman" panose="02020603050405020304" pitchFamily="18" charset="0"/>
              </a:rPr>
              <a:t>проводящие</a:t>
            </a:r>
            <a:r>
              <a:rPr lang="ru-RU" sz="1800" dirty="0">
                <a:effectLst/>
                <a:ea typeface="Times New Roman" panose="02020603050405020304" pitchFamily="18" charset="0"/>
              </a:rPr>
              <a:t>, </a:t>
            </a:r>
            <a:r>
              <a:rPr lang="en-US" sz="1800" dirty="0" err="1">
                <a:effectLst/>
                <a:ea typeface="Times New Roman" panose="02020603050405020304" pitchFamily="18" charset="0"/>
              </a:rPr>
              <a:t>резистивные</a:t>
            </a:r>
            <a:r>
              <a:rPr lang="en-US" sz="1800" dirty="0">
                <a:effectLst/>
                <a:ea typeface="Times New Roman" panose="02020603050405020304" pitchFamily="18" charset="0"/>
              </a:rPr>
              <a:t> и </a:t>
            </a:r>
            <a:r>
              <a:rPr lang="en-US" sz="1800" dirty="0" err="1">
                <a:effectLst/>
                <a:ea typeface="Times New Roman" panose="02020603050405020304" pitchFamily="18" charset="0"/>
              </a:rPr>
              <a:t>диэлектрические</a:t>
            </a:r>
            <a:r>
              <a:rPr lang="ru-RU" sz="1800" dirty="0">
                <a:ea typeface="Times New Roman" panose="02020603050405020304" pitchFamily="18" charset="0"/>
              </a:rPr>
              <a:t>. </a:t>
            </a:r>
            <a:r>
              <a:rPr lang="en-US" sz="1800" dirty="0">
                <a:effectLst/>
                <a:ea typeface="Times New Roman" panose="02020603050405020304" pitchFamily="18" charset="0"/>
              </a:rPr>
              <a:t>В </a:t>
            </a:r>
            <a:r>
              <a:rPr lang="en-US" sz="1800" dirty="0" err="1">
                <a:effectLst/>
                <a:ea typeface="Times New Roman" panose="02020603050405020304" pitchFamily="18" charset="0"/>
              </a:rPr>
              <a:t>состав</a:t>
            </a:r>
            <a:r>
              <a:rPr lang="en-US" sz="1800" dirty="0">
                <a:effectLst/>
                <a:ea typeface="Times New Roman" panose="02020603050405020304" pitchFamily="18" charset="0"/>
              </a:rPr>
              <a:t> </a:t>
            </a:r>
            <a:r>
              <a:rPr lang="en-US" sz="1800" dirty="0" err="1">
                <a:effectLst/>
                <a:ea typeface="Times New Roman" panose="02020603050405020304" pitchFamily="18" charset="0"/>
              </a:rPr>
              <a:t>паст</a:t>
            </a:r>
            <a:r>
              <a:rPr lang="en-US" sz="1800" dirty="0">
                <a:effectLst/>
                <a:ea typeface="Times New Roman" panose="02020603050405020304" pitchFamily="18" charset="0"/>
              </a:rPr>
              <a:t> </a:t>
            </a:r>
            <a:r>
              <a:rPr lang="en-US" sz="1800" dirty="0" err="1">
                <a:effectLst/>
                <a:ea typeface="Times New Roman" panose="02020603050405020304" pitchFamily="18" charset="0"/>
              </a:rPr>
              <a:t>входит</a:t>
            </a:r>
            <a:r>
              <a:rPr lang="en-US" sz="1800" dirty="0">
                <a:effectLst/>
                <a:ea typeface="Times New Roman" panose="02020603050405020304" pitchFamily="18" charset="0"/>
              </a:rPr>
              <a:t> </a:t>
            </a:r>
            <a:r>
              <a:rPr lang="en-US" sz="1800" dirty="0" err="1">
                <a:effectLst/>
                <a:ea typeface="Times New Roman" panose="02020603050405020304" pitchFamily="18" charset="0"/>
              </a:rPr>
              <a:t>примерно</a:t>
            </a:r>
            <a:r>
              <a:rPr lang="en-US" sz="1800" dirty="0">
                <a:effectLst/>
                <a:ea typeface="Times New Roman" panose="02020603050405020304" pitchFamily="18" charset="0"/>
              </a:rPr>
              <a:t> 2/3 </a:t>
            </a:r>
            <a:r>
              <a:rPr lang="en-US" sz="1800" dirty="0" err="1">
                <a:effectLst/>
                <a:ea typeface="Times New Roman" panose="02020603050405020304" pitchFamily="18" charset="0"/>
              </a:rPr>
              <a:t>основного</a:t>
            </a:r>
            <a:r>
              <a:rPr lang="en-US" sz="1800" dirty="0">
                <a:effectLst/>
                <a:ea typeface="Times New Roman" panose="02020603050405020304" pitchFamily="18" charset="0"/>
              </a:rPr>
              <a:t> </a:t>
            </a:r>
            <a:r>
              <a:rPr lang="en-US" sz="1800" dirty="0" err="1">
                <a:effectLst/>
                <a:ea typeface="Times New Roman" panose="02020603050405020304" pitchFamily="18" charset="0"/>
              </a:rPr>
              <a:t>вещества</a:t>
            </a:r>
            <a:r>
              <a:rPr lang="en-US" sz="1800" dirty="0">
                <a:effectLst/>
                <a:ea typeface="Times New Roman" panose="02020603050405020304" pitchFamily="18" charset="0"/>
              </a:rPr>
              <a:t> и </a:t>
            </a:r>
            <a:r>
              <a:rPr lang="en-US" sz="1800" dirty="0" err="1">
                <a:effectLst/>
                <a:ea typeface="Times New Roman" panose="02020603050405020304" pitchFamily="18" charset="0"/>
              </a:rPr>
              <a:t>стекла</a:t>
            </a:r>
            <a:r>
              <a:rPr lang="en-US" sz="1800" dirty="0">
                <a:effectLst/>
                <a:ea typeface="Times New Roman" panose="02020603050405020304" pitchFamily="18" charset="0"/>
              </a:rPr>
              <a:t> и</a:t>
            </a:r>
            <a:r>
              <a:rPr lang="ru-RU" sz="1800" dirty="0">
                <a:effectLst/>
                <a:ea typeface="Times New Roman" panose="02020603050405020304" pitchFamily="18" charset="0"/>
              </a:rPr>
              <a:t> </a:t>
            </a:r>
            <a:r>
              <a:rPr lang="en-US" sz="1800" dirty="0">
                <a:effectLst/>
                <a:ea typeface="Times New Roman" panose="02020603050405020304" pitchFamily="18" charset="0"/>
              </a:rPr>
              <a:t>1/3 </a:t>
            </a:r>
            <a:r>
              <a:rPr lang="en-US" sz="1800" dirty="0" err="1">
                <a:effectLst/>
                <a:ea typeface="Times New Roman" panose="02020603050405020304" pitchFamily="18" charset="0"/>
              </a:rPr>
              <a:t>органических</a:t>
            </a:r>
            <a:r>
              <a:rPr lang="en-US" sz="1800" dirty="0">
                <a:effectLst/>
                <a:ea typeface="Times New Roman" panose="02020603050405020304" pitchFamily="18" charset="0"/>
              </a:rPr>
              <a:t> </a:t>
            </a:r>
            <a:r>
              <a:rPr lang="en-US" sz="1800" dirty="0" err="1">
                <a:effectLst/>
                <a:ea typeface="Times New Roman" panose="02020603050405020304" pitchFamily="18" charset="0"/>
              </a:rPr>
              <a:t>добавок</a:t>
            </a:r>
            <a:r>
              <a:rPr lang="en-US" sz="1800" dirty="0">
                <a:effectLst/>
                <a:ea typeface="Times New Roman" panose="02020603050405020304" pitchFamily="18" charset="0"/>
              </a:rPr>
              <a:t>.</a:t>
            </a:r>
            <a:endParaRPr lang="ru-RU" sz="1800" dirty="0">
              <a:effectLst/>
              <a:ea typeface="Times New Roman" panose="02020603050405020304" pitchFamily="18" charset="0"/>
            </a:endParaRP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6</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188641" y="4885635"/>
            <a:ext cx="3098783" cy="541538"/>
          </a:xfrm>
          <a:prstGeom prst="rect">
            <a:avLst/>
          </a:prstGeom>
        </p:spPr>
        <p:txBody>
          <a:bodyPr vert="horz" lIns="91440" tIns="45720" rIns="91440" bIns="45720" rtlCol="0">
            <a:normAutofit fontScale="925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r>
              <a:rPr lang="ru-RU" dirty="0"/>
              <a:t>Подложки с разными типами паст</a:t>
            </a:r>
          </a:p>
        </p:txBody>
      </p:sp>
      <p:pic>
        <p:nvPicPr>
          <p:cNvPr id="11" name="Рисунок 10">
            <a:extLst>
              <a:ext uri="{FF2B5EF4-FFF2-40B4-BE49-F238E27FC236}">
                <a16:creationId xmlns:a16="http://schemas.microsoft.com/office/drawing/2014/main" id="{46AF81A6-6680-4E6B-A1D9-D81D650D1FD8}"/>
              </a:ext>
            </a:extLst>
          </p:cNvPr>
          <p:cNvPicPr>
            <a:picLocks noChangeAspect="1"/>
          </p:cNvPicPr>
          <p:nvPr/>
        </p:nvPicPr>
        <p:blipFill>
          <a:blip r:embed="rId2"/>
          <a:stretch>
            <a:fillRect/>
          </a:stretch>
        </p:blipFill>
        <p:spPr>
          <a:xfrm>
            <a:off x="5867134" y="1430827"/>
            <a:ext cx="2643015" cy="1692789"/>
          </a:xfrm>
          <a:prstGeom prst="rect">
            <a:avLst/>
          </a:prstGeom>
        </p:spPr>
      </p:pic>
      <p:pic>
        <p:nvPicPr>
          <p:cNvPr id="13" name="Рисунок 12">
            <a:extLst>
              <a:ext uri="{FF2B5EF4-FFF2-40B4-BE49-F238E27FC236}">
                <a16:creationId xmlns:a16="http://schemas.microsoft.com/office/drawing/2014/main" id="{CECC02DA-B70A-43ED-91E6-826426288704}"/>
              </a:ext>
            </a:extLst>
          </p:cNvPr>
          <p:cNvPicPr>
            <a:picLocks noChangeAspect="1"/>
          </p:cNvPicPr>
          <p:nvPr/>
        </p:nvPicPr>
        <p:blipFill>
          <a:blip r:embed="rId3"/>
          <a:stretch>
            <a:fillRect/>
          </a:stretch>
        </p:blipFill>
        <p:spPr>
          <a:xfrm>
            <a:off x="8506613" y="1429347"/>
            <a:ext cx="2675138" cy="1692563"/>
          </a:xfrm>
          <a:prstGeom prst="rect">
            <a:avLst/>
          </a:prstGeom>
        </p:spPr>
      </p:pic>
      <p:pic>
        <p:nvPicPr>
          <p:cNvPr id="15" name="Рисунок 14">
            <a:extLst>
              <a:ext uri="{FF2B5EF4-FFF2-40B4-BE49-F238E27FC236}">
                <a16:creationId xmlns:a16="http://schemas.microsoft.com/office/drawing/2014/main" id="{A10740B5-B9CB-4BF9-9AF0-7F2F7C635758}"/>
              </a:ext>
            </a:extLst>
          </p:cNvPr>
          <p:cNvPicPr>
            <a:picLocks noChangeAspect="1"/>
          </p:cNvPicPr>
          <p:nvPr/>
        </p:nvPicPr>
        <p:blipFill>
          <a:blip r:embed="rId4"/>
          <a:stretch>
            <a:fillRect/>
          </a:stretch>
        </p:blipFill>
        <p:spPr>
          <a:xfrm>
            <a:off x="5867134" y="3123390"/>
            <a:ext cx="2643016" cy="1686497"/>
          </a:xfrm>
          <a:prstGeom prst="rect">
            <a:avLst/>
          </a:prstGeom>
        </p:spPr>
      </p:pic>
      <p:pic>
        <p:nvPicPr>
          <p:cNvPr id="17" name="Рисунок 16">
            <a:extLst>
              <a:ext uri="{FF2B5EF4-FFF2-40B4-BE49-F238E27FC236}">
                <a16:creationId xmlns:a16="http://schemas.microsoft.com/office/drawing/2014/main" id="{DC5AC56E-4C4F-48F2-B988-437907915DE7}"/>
              </a:ext>
            </a:extLst>
          </p:cNvPr>
          <p:cNvPicPr>
            <a:picLocks noChangeAspect="1"/>
          </p:cNvPicPr>
          <p:nvPr/>
        </p:nvPicPr>
        <p:blipFill>
          <a:blip r:embed="rId5"/>
          <a:stretch>
            <a:fillRect/>
          </a:stretch>
        </p:blipFill>
        <p:spPr>
          <a:xfrm>
            <a:off x="8510149" y="3120429"/>
            <a:ext cx="2671602" cy="1692646"/>
          </a:xfrm>
          <a:prstGeom prst="rect">
            <a:avLst/>
          </a:prstGeom>
        </p:spPr>
      </p:pic>
    </p:spTree>
    <p:extLst>
      <p:ext uri="{BB962C8B-B14F-4D97-AF65-F5344CB8AC3E}">
        <p14:creationId xmlns:p14="http://schemas.microsoft.com/office/powerpoint/2010/main" val="265513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8" y="426128"/>
            <a:ext cx="6362008" cy="5974672"/>
          </a:xfrm>
        </p:spPr>
        <p:txBody>
          <a:bodyPr>
            <a:normAutofit fontScale="92500" lnSpcReduction="10000"/>
          </a:bodyPr>
          <a:lstStyle/>
          <a:p>
            <a:pPr marL="0" indent="0">
              <a:buNone/>
            </a:pPr>
            <a:r>
              <a:rPr lang="ru-RU" sz="2600" dirty="0"/>
              <a:t>2. Формирование пленочной структуры</a:t>
            </a:r>
          </a:p>
          <a:p>
            <a:pPr marL="0" indent="0">
              <a:buNone/>
            </a:pPr>
            <a:r>
              <a:rPr lang="ru-RU" sz="1900" b="1" dirty="0">
                <a:ea typeface="Times New Roman" panose="02020603050405020304" pitchFamily="18" charset="0"/>
              </a:rPr>
              <a:t>Нанесение паст</a:t>
            </a:r>
            <a:r>
              <a:rPr lang="en-US" sz="1900" dirty="0">
                <a:ea typeface="Times New Roman" panose="02020603050405020304" pitchFamily="18" charset="0"/>
              </a:rPr>
              <a:t>: </a:t>
            </a:r>
            <a:r>
              <a:rPr lang="ru-RU" sz="1900" dirty="0">
                <a:ea typeface="Times New Roman" panose="02020603050405020304" pitchFamily="18" charset="0"/>
              </a:rPr>
              <a:t>п</a:t>
            </a:r>
            <a:r>
              <a:rPr lang="en-US" sz="1900" dirty="0" err="1">
                <a:effectLst/>
                <a:ea typeface="Times New Roman" panose="02020603050405020304" pitchFamily="18" charset="0"/>
              </a:rPr>
              <a:t>одложку</a:t>
            </a:r>
            <a:r>
              <a:rPr lang="ru-RU" sz="1900" dirty="0">
                <a:effectLst/>
                <a:ea typeface="Times New Roman" panose="02020603050405020304" pitchFamily="18" charset="0"/>
              </a:rPr>
              <a:t> (4) </a:t>
            </a:r>
            <a:r>
              <a:rPr lang="en-US" sz="1900" dirty="0" err="1">
                <a:effectLst/>
                <a:ea typeface="Times New Roman" panose="02020603050405020304" pitchFamily="18" charset="0"/>
              </a:rPr>
              <a:t>устанавливают</a:t>
            </a:r>
            <a:r>
              <a:rPr lang="en-US" sz="1900" dirty="0">
                <a:effectLst/>
                <a:ea typeface="Times New Roman" panose="02020603050405020304" pitchFamily="18" charset="0"/>
              </a:rPr>
              <a:t> </a:t>
            </a:r>
            <a:r>
              <a:rPr lang="en-US" sz="1900" dirty="0" err="1">
                <a:effectLst/>
                <a:ea typeface="Times New Roman" panose="02020603050405020304" pitchFamily="18" charset="0"/>
              </a:rPr>
              <a:t>под</a:t>
            </a:r>
            <a:r>
              <a:rPr lang="en-US" sz="1900" dirty="0">
                <a:effectLst/>
                <a:ea typeface="Times New Roman" panose="02020603050405020304" pitchFamily="18" charset="0"/>
              </a:rPr>
              <a:t> </a:t>
            </a:r>
            <a:r>
              <a:rPr lang="en-US" sz="1900" dirty="0" err="1">
                <a:effectLst/>
                <a:ea typeface="Times New Roman" panose="02020603050405020304" pitchFamily="18" charset="0"/>
              </a:rPr>
              <a:t>сетчатым</a:t>
            </a:r>
            <a:r>
              <a:rPr lang="en-US" sz="1900" dirty="0">
                <a:effectLst/>
                <a:ea typeface="Times New Roman" panose="02020603050405020304" pitchFamily="18" charset="0"/>
              </a:rPr>
              <a:t> </a:t>
            </a:r>
            <a:r>
              <a:rPr lang="en-US" sz="1900" dirty="0" err="1">
                <a:effectLst/>
                <a:ea typeface="Times New Roman" panose="02020603050405020304" pitchFamily="18" charset="0"/>
              </a:rPr>
              <a:t>трафаретом</a:t>
            </a:r>
            <a:r>
              <a:rPr lang="ru-RU" sz="1900" dirty="0">
                <a:effectLst/>
                <a:ea typeface="Times New Roman" panose="02020603050405020304" pitchFamily="18" charset="0"/>
              </a:rPr>
              <a:t> (3)</a:t>
            </a:r>
            <a:r>
              <a:rPr lang="en-US" sz="1900" dirty="0">
                <a:effectLst/>
                <a:ea typeface="Times New Roman" panose="02020603050405020304" pitchFamily="18" charset="0"/>
              </a:rPr>
              <a:t> с </a:t>
            </a:r>
            <a:r>
              <a:rPr lang="en-US" sz="1900" dirty="0" err="1">
                <a:effectLst/>
                <a:ea typeface="Times New Roman" panose="02020603050405020304" pitchFamily="18" charset="0"/>
              </a:rPr>
              <a:t>некоторым</a:t>
            </a:r>
            <a:r>
              <a:rPr lang="en-US" sz="1900" dirty="0">
                <a:effectLst/>
                <a:ea typeface="Times New Roman" panose="02020603050405020304" pitchFamily="18" charset="0"/>
              </a:rPr>
              <a:t> </a:t>
            </a:r>
            <a:r>
              <a:rPr lang="en-US" sz="1900" dirty="0" err="1">
                <a:effectLst/>
                <a:ea typeface="Times New Roman" panose="02020603050405020304" pitchFamily="18" charset="0"/>
              </a:rPr>
              <a:t>зазором</a:t>
            </a:r>
            <a:r>
              <a:rPr lang="en-US" sz="1900" dirty="0">
                <a:effectLst/>
                <a:ea typeface="Times New Roman" panose="02020603050405020304" pitchFamily="18" charset="0"/>
              </a:rPr>
              <a:t>; </a:t>
            </a:r>
            <a:r>
              <a:rPr lang="en-US" sz="1900" dirty="0" err="1">
                <a:effectLst/>
                <a:ea typeface="Times New Roman" panose="02020603050405020304" pitchFamily="18" charset="0"/>
              </a:rPr>
              <a:t>пасту</a:t>
            </a:r>
            <a:r>
              <a:rPr lang="ru-RU" sz="1900" dirty="0">
                <a:effectLst/>
                <a:ea typeface="Times New Roman" panose="02020603050405020304" pitchFamily="18" charset="0"/>
              </a:rPr>
              <a:t> (2)</a:t>
            </a:r>
            <a:r>
              <a:rPr lang="en-US" sz="1900" dirty="0">
                <a:effectLst/>
                <a:ea typeface="Times New Roman" panose="02020603050405020304" pitchFamily="18" charset="0"/>
              </a:rPr>
              <a:t> </a:t>
            </a:r>
            <a:r>
              <a:rPr lang="en-US" sz="1900" dirty="0" err="1">
                <a:effectLst/>
                <a:ea typeface="Times New Roman" panose="02020603050405020304" pitchFamily="18" charset="0"/>
              </a:rPr>
              <a:t>подают</a:t>
            </a:r>
            <a:r>
              <a:rPr lang="en-US" sz="1900" dirty="0">
                <a:effectLst/>
                <a:ea typeface="Times New Roman" panose="02020603050405020304" pitchFamily="18" charset="0"/>
              </a:rPr>
              <a:t> </a:t>
            </a:r>
            <a:r>
              <a:rPr lang="en-US" sz="1900" dirty="0" err="1">
                <a:effectLst/>
                <a:ea typeface="Times New Roman" panose="02020603050405020304" pitchFamily="18" charset="0"/>
              </a:rPr>
              <a:t>поверх</a:t>
            </a:r>
            <a:r>
              <a:rPr lang="en-US" sz="1900" dirty="0">
                <a:effectLst/>
                <a:ea typeface="Times New Roman" panose="02020603050405020304" pitchFamily="18" charset="0"/>
              </a:rPr>
              <a:t> </a:t>
            </a:r>
            <a:r>
              <a:rPr lang="en-US" sz="1900" dirty="0" err="1">
                <a:effectLst/>
                <a:ea typeface="Times New Roman" panose="02020603050405020304" pitchFamily="18" charset="0"/>
              </a:rPr>
              <a:t>трафарета</a:t>
            </a:r>
            <a:r>
              <a:rPr lang="en-US" sz="1900" dirty="0">
                <a:effectLst/>
                <a:ea typeface="Times New Roman" panose="02020603050405020304" pitchFamily="18" charset="0"/>
              </a:rPr>
              <a:t> и </a:t>
            </a:r>
            <a:r>
              <a:rPr lang="en-US" sz="1900" dirty="0" err="1">
                <a:effectLst/>
                <a:ea typeface="Times New Roman" panose="02020603050405020304" pitchFamily="18" charset="0"/>
              </a:rPr>
              <a:t>передвижением</a:t>
            </a:r>
            <a:r>
              <a:rPr lang="en-US" sz="1900" dirty="0">
                <a:effectLst/>
                <a:ea typeface="Times New Roman" panose="02020603050405020304" pitchFamily="18" charset="0"/>
              </a:rPr>
              <a:t> </a:t>
            </a:r>
            <a:r>
              <a:rPr lang="en-US" sz="1900" dirty="0" err="1">
                <a:effectLst/>
                <a:ea typeface="Times New Roman" panose="02020603050405020304" pitchFamily="18" charset="0"/>
              </a:rPr>
              <a:t>ракеля</a:t>
            </a:r>
            <a:r>
              <a:rPr lang="ru-RU" sz="1900" dirty="0">
                <a:effectLst/>
                <a:ea typeface="Times New Roman" panose="02020603050405020304" pitchFamily="18" charset="0"/>
              </a:rPr>
              <a:t> (1)</a:t>
            </a:r>
            <a:r>
              <a:rPr lang="en-US" sz="1900" dirty="0">
                <a:effectLst/>
                <a:ea typeface="Times New Roman" panose="02020603050405020304" pitchFamily="18" charset="0"/>
              </a:rPr>
              <a:t> </a:t>
            </a:r>
            <a:r>
              <a:rPr lang="en-US" sz="1900" dirty="0" err="1">
                <a:effectLst/>
                <a:ea typeface="Times New Roman" panose="02020603050405020304" pitchFamily="18" charset="0"/>
              </a:rPr>
              <a:t>через</a:t>
            </a:r>
            <a:r>
              <a:rPr lang="en-US" sz="1900" dirty="0">
                <a:effectLst/>
                <a:ea typeface="Times New Roman" panose="02020603050405020304" pitchFamily="18" charset="0"/>
              </a:rPr>
              <a:t> </a:t>
            </a:r>
            <a:r>
              <a:rPr lang="en-US" sz="1900" dirty="0" err="1">
                <a:effectLst/>
                <a:ea typeface="Times New Roman" panose="02020603050405020304" pitchFamily="18" charset="0"/>
              </a:rPr>
              <a:t>отверстия</a:t>
            </a:r>
            <a:r>
              <a:rPr lang="en-US" sz="1900" dirty="0">
                <a:effectLst/>
                <a:ea typeface="Times New Roman" panose="02020603050405020304" pitchFamily="18" charset="0"/>
              </a:rPr>
              <a:t> в </a:t>
            </a:r>
            <a:r>
              <a:rPr lang="en-US" sz="1900" dirty="0" err="1">
                <a:effectLst/>
                <a:ea typeface="Times New Roman" panose="02020603050405020304" pitchFamily="18" charset="0"/>
              </a:rPr>
              <a:t>трафарете</a:t>
            </a:r>
            <a:r>
              <a:rPr lang="en-US" sz="1900" dirty="0">
                <a:effectLst/>
                <a:ea typeface="Times New Roman" panose="02020603050405020304" pitchFamily="18" charset="0"/>
              </a:rPr>
              <a:t> </a:t>
            </a:r>
            <a:r>
              <a:rPr lang="en-US" sz="1900" dirty="0" err="1">
                <a:effectLst/>
                <a:ea typeface="Times New Roman" panose="02020603050405020304" pitchFamily="18" charset="0"/>
              </a:rPr>
              <a:t>переносят</a:t>
            </a:r>
            <a:r>
              <a:rPr lang="en-US" sz="1900" dirty="0">
                <a:effectLst/>
                <a:ea typeface="Times New Roman" panose="02020603050405020304" pitchFamily="18" charset="0"/>
              </a:rPr>
              <a:t> </a:t>
            </a:r>
            <a:r>
              <a:rPr lang="en-US" sz="1900" dirty="0" err="1">
                <a:effectLst/>
                <a:ea typeface="Times New Roman" panose="02020603050405020304" pitchFamily="18" charset="0"/>
              </a:rPr>
              <a:t>на</a:t>
            </a:r>
            <a:r>
              <a:rPr lang="en-US" sz="1900" dirty="0">
                <a:effectLst/>
                <a:ea typeface="Times New Roman" panose="02020603050405020304" pitchFamily="18" charset="0"/>
              </a:rPr>
              <a:t> </a:t>
            </a:r>
            <a:r>
              <a:rPr lang="en-US" sz="1900" dirty="0" err="1">
                <a:effectLst/>
                <a:ea typeface="Times New Roman" panose="02020603050405020304" pitchFamily="18" charset="0"/>
              </a:rPr>
              <a:t>подложку</a:t>
            </a:r>
            <a:r>
              <a:rPr lang="en-US" sz="1900" dirty="0">
                <a:effectLst/>
                <a:ea typeface="Times New Roman" panose="02020603050405020304" pitchFamily="18" charset="0"/>
              </a:rPr>
              <a:t> в </a:t>
            </a:r>
            <a:r>
              <a:rPr lang="en-US" sz="1900" dirty="0" err="1">
                <a:effectLst/>
                <a:ea typeface="Times New Roman" panose="02020603050405020304" pitchFamily="18" charset="0"/>
              </a:rPr>
              <a:t>виде</a:t>
            </a:r>
            <a:r>
              <a:rPr lang="en-US" sz="1900" dirty="0">
                <a:effectLst/>
                <a:ea typeface="Times New Roman" panose="02020603050405020304" pitchFamily="18" charset="0"/>
              </a:rPr>
              <a:t> </a:t>
            </a:r>
            <a:r>
              <a:rPr lang="en-US" sz="1900" dirty="0" err="1">
                <a:effectLst/>
                <a:ea typeface="Times New Roman" panose="02020603050405020304" pitchFamily="18" charset="0"/>
              </a:rPr>
              <a:t>столбиков</a:t>
            </a:r>
            <a:r>
              <a:rPr lang="ru-RU" sz="1900" dirty="0">
                <a:effectLst/>
                <a:ea typeface="Times New Roman" panose="02020603050405020304" pitchFamily="18" charset="0"/>
              </a:rPr>
              <a:t> (5)</a:t>
            </a:r>
            <a:r>
              <a:rPr lang="en-US" sz="1900" dirty="0">
                <a:effectLst/>
                <a:ea typeface="Times New Roman" panose="02020603050405020304" pitchFamily="18" charset="0"/>
              </a:rPr>
              <a:t>, </a:t>
            </a:r>
            <a:r>
              <a:rPr lang="en-US" sz="1900" dirty="0" err="1">
                <a:effectLst/>
                <a:ea typeface="Times New Roman" panose="02020603050405020304" pitchFamily="18" charset="0"/>
              </a:rPr>
              <a:t>копирующих</a:t>
            </a:r>
            <a:r>
              <a:rPr lang="en-US" sz="1900" dirty="0">
                <a:effectLst/>
                <a:ea typeface="Times New Roman" panose="02020603050405020304" pitchFamily="18" charset="0"/>
              </a:rPr>
              <a:t> </a:t>
            </a:r>
            <a:r>
              <a:rPr lang="en-US" sz="1900" dirty="0" err="1">
                <a:effectLst/>
                <a:ea typeface="Times New Roman" panose="02020603050405020304" pitchFamily="18" charset="0"/>
              </a:rPr>
              <a:t>отверстия</a:t>
            </a:r>
            <a:r>
              <a:rPr lang="en-US" sz="1900" dirty="0">
                <a:effectLst/>
                <a:ea typeface="Times New Roman" panose="02020603050405020304" pitchFamily="18" charset="0"/>
              </a:rPr>
              <a:t> в </a:t>
            </a:r>
            <a:r>
              <a:rPr lang="en-US" sz="1900" dirty="0" err="1">
                <a:effectLst/>
                <a:ea typeface="Times New Roman" panose="02020603050405020304" pitchFamily="18" charset="0"/>
              </a:rPr>
              <a:t>сетке</a:t>
            </a:r>
            <a:r>
              <a:rPr lang="ru-RU" sz="1900" dirty="0">
                <a:effectLst/>
                <a:ea typeface="Times New Roman" panose="02020603050405020304" pitchFamily="18" charset="0"/>
              </a:rPr>
              <a:t>.</a:t>
            </a:r>
          </a:p>
          <a:p>
            <a:pPr marL="0" indent="0">
              <a:buNone/>
            </a:pPr>
            <a:r>
              <a:rPr lang="en-US" sz="1900" dirty="0" err="1">
                <a:effectLst/>
                <a:ea typeface="Times New Roman" panose="02020603050405020304" pitchFamily="18" charset="0"/>
              </a:rPr>
              <a:t>Сетчатые</a:t>
            </a:r>
            <a:r>
              <a:rPr lang="en-US" sz="1900" dirty="0">
                <a:effectLst/>
                <a:ea typeface="Times New Roman" panose="02020603050405020304" pitchFamily="18" charset="0"/>
              </a:rPr>
              <a:t> </a:t>
            </a:r>
            <a:r>
              <a:rPr lang="en-US" sz="1900" dirty="0" err="1">
                <a:effectLst/>
                <a:ea typeface="Times New Roman" panose="02020603050405020304" pitchFamily="18" charset="0"/>
              </a:rPr>
              <a:t>трафареты</a:t>
            </a:r>
            <a:r>
              <a:rPr lang="en-US" sz="1900" dirty="0">
                <a:effectLst/>
                <a:ea typeface="Times New Roman" panose="02020603050405020304" pitchFamily="18" charset="0"/>
              </a:rPr>
              <a:t> </a:t>
            </a:r>
            <a:r>
              <a:rPr lang="en-US" sz="1900" dirty="0" err="1">
                <a:effectLst/>
                <a:ea typeface="Times New Roman" panose="02020603050405020304" pitchFamily="18" charset="0"/>
              </a:rPr>
              <a:t>изготовляют</a:t>
            </a:r>
            <a:r>
              <a:rPr lang="en-US" sz="1900" dirty="0">
                <a:effectLst/>
                <a:ea typeface="Times New Roman" panose="02020603050405020304" pitchFamily="18" charset="0"/>
              </a:rPr>
              <a:t> </a:t>
            </a:r>
            <a:r>
              <a:rPr lang="en-US" sz="1900" dirty="0" err="1">
                <a:effectLst/>
                <a:ea typeface="Times New Roman" panose="02020603050405020304" pitchFamily="18" charset="0"/>
              </a:rPr>
              <a:t>из</a:t>
            </a:r>
            <a:r>
              <a:rPr lang="en-US" sz="1900" dirty="0">
                <a:effectLst/>
                <a:ea typeface="Times New Roman" panose="02020603050405020304" pitchFamily="18" charset="0"/>
              </a:rPr>
              <a:t> </a:t>
            </a:r>
            <a:r>
              <a:rPr lang="en-US" sz="1900" dirty="0" err="1">
                <a:effectLst/>
                <a:ea typeface="Times New Roman" panose="02020603050405020304" pitchFamily="18" charset="0"/>
              </a:rPr>
              <a:t>капрона</a:t>
            </a:r>
            <a:r>
              <a:rPr lang="en-US" sz="1900" dirty="0">
                <a:effectLst/>
                <a:ea typeface="Times New Roman" panose="02020603050405020304" pitchFamily="18" charset="0"/>
              </a:rPr>
              <a:t>, </a:t>
            </a:r>
            <a:r>
              <a:rPr lang="en-US" sz="1900" dirty="0" err="1">
                <a:effectLst/>
                <a:ea typeface="Times New Roman" panose="02020603050405020304" pitchFamily="18" charset="0"/>
              </a:rPr>
              <a:t>нейлона</a:t>
            </a:r>
            <a:r>
              <a:rPr lang="en-US" sz="1900" dirty="0">
                <a:effectLst/>
                <a:ea typeface="Times New Roman" panose="02020603050405020304" pitchFamily="18" charset="0"/>
              </a:rPr>
              <a:t> </a:t>
            </a:r>
            <a:r>
              <a:rPr lang="en-US" sz="1900" dirty="0" err="1">
                <a:effectLst/>
                <a:ea typeface="Times New Roman" panose="02020603050405020304" pitchFamily="18" charset="0"/>
              </a:rPr>
              <a:t>или</a:t>
            </a:r>
            <a:r>
              <a:rPr lang="en-US" sz="1900" dirty="0">
                <a:effectLst/>
                <a:ea typeface="Times New Roman" panose="02020603050405020304" pitchFamily="18" charset="0"/>
              </a:rPr>
              <a:t> </a:t>
            </a:r>
            <a:r>
              <a:rPr lang="en-US" sz="1900" dirty="0" err="1">
                <a:effectLst/>
                <a:ea typeface="Times New Roman" panose="02020603050405020304" pitchFamily="18" charset="0"/>
              </a:rPr>
              <a:t>нержавеющей</a:t>
            </a:r>
            <a:r>
              <a:rPr lang="en-US" sz="1900" dirty="0">
                <a:effectLst/>
                <a:ea typeface="Times New Roman" panose="02020603050405020304" pitchFamily="18" charset="0"/>
              </a:rPr>
              <a:t> </a:t>
            </a:r>
            <a:r>
              <a:rPr lang="en-US" sz="1900" dirty="0" err="1">
                <a:effectLst/>
                <a:ea typeface="Times New Roman" panose="02020603050405020304" pitchFamily="18" charset="0"/>
              </a:rPr>
              <a:t>стали</a:t>
            </a:r>
            <a:r>
              <a:rPr lang="en-US" sz="1900" dirty="0">
                <a:effectLst/>
                <a:ea typeface="Times New Roman" panose="02020603050405020304" pitchFamily="18" charset="0"/>
              </a:rPr>
              <a:t>.</a:t>
            </a:r>
            <a:endParaRPr lang="ru-RU" sz="1900" dirty="0">
              <a:effectLst/>
              <a:ea typeface="Times New Roman" panose="02020603050405020304" pitchFamily="18" charset="0"/>
            </a:endParaRPr>
          </a:p>
          <a:p>
            <a:pPr marL="0" indent="0">
              <a:spcBef>
                <a:spcPts val="1200"/>
              </a:spcBef>
              <a:spcAft>
                <a:spcPts val="1200"/>
              </a:spcAft>
              <a:buNone/>
            </a:pPr>
            <a:r>
              <a:rPr lang="ru-RU" sz="1900" dirty="0">
                <a:effectLst/>
                <a:ea typeface="Times New Roman" panose="02020603050405020304" pitchFamily="18" charset="0"/>
              </a:rPr>
              <a:t>Качество печати зависит от скорости перемещения и давления ракеля, зазора между трафаретом и платой, натяжения трафарета и свойств пасты. Необходимо строго соблюдать параллельность платы, трафарета и направления движения ракеля.</a:t>
            </a:r>
          </a:p>
          <a:p>
            <a:pPr marL="0" indent="0">
              <a:spcBef>
                <a:spcPts val="1200"/>
              </a:spcBef>
              <a:spcAft>
                <a:spcPts val="1200"/>
              </a:spcAft>
              <a:buNone/>
            </a:pPr>
            <a:r>
              <a:rPr lang="ru-RU" sz="1900" dirty="0">
                <a:ea typeface="Times New Roman" panose="02020603050405020304" pitchFamily="18" charset="0"/>
              </a:rPr>
              <a:t>П</a:t>
            </a:r>
            <a:r>
              <a:rPr lang="en-US" sz="1900" dirty="0" err="1">
                <a:effectLst/>
                <a:ea typeface="Times New Roman" panose="02020603050405020304" pitchFamily="18" charset="0"/>
              </a:rPr>
              <a:t>ри</a:t>
            </a:r>
            <a:r>
              <a:rPr lang="en-US" sz="1900" dirty="0">
                <a:effectLst/>
                <a:ea typeface="Times New Roman" panose="02020603050405020304" pitchFamily="18" charset="0"/>
              </a:rPr>
              <a:t> </a:t>
            </a:r>
            <a:r>
              <a:rPr lang="en-US" sz="1900" dirty="0" err="1">
                <a:effectLst/>
                <a:ea typeface="Times New Roman" panose="02020603050405020304" pitchFamily="18" charset="0"/>
              </a:rPr>
              <a:t>использовании</a:t>
            </a:r>
            <a:r>
              <a:rPr lang="en-US" sz="1900" dirty="0">
                <a:effectLst/>
                <a:ea typeface="Times New Roman" panose="02020603050405020304" pitchFamily="18" charset="0"/>
              </a:rPr>
              <a:t> </a:t>
            </a:r>
            <a:r>
              <a:rPr lang="en-US" sz="1900" dirty="0" err="1">
                <a:effectLst/>
                <a:ea typeface="Times New Roman" panose="02020603050405020304" pitchFamily="18" charset="0"/>
              </a:rPr>
              <a:t>одной</a:t>
            </a:r>
            <a:r>
              <a:rPr lang="en-US" sz="1900" dirty="0">
                <a:effectLst/>
                <a:ea typeface="Times New Roman" panose="02020603050405020304" pitchFamily="18" charset="0"/>
              </a:rPr>
              <a:t> и </a:t>
            </a:r>
            <a:r>
              <a:rPr lang="en-US" sz="1900" dirty="0" err="1">
                <a:effectLst/>
                <a:ea typeface="Times New Roman" panose="02020603050405020304" pitchFamily="18" charset="0"/>
              </a:rPr>
              <a:t>же</a:t>
            </a:r>
            <a:r>
              <a:rPr lang="en-US" sz="1900" dirty="0">
                <a:effectLst/>
                <a:ea typeface="Times New Roman" panose="02020603050405020304" pitchFamily="18" charset="0"/>
              </a:rPr>
              <a:t> </a:t>
            </a:r>
            <a:r>
              <a:rPr lang="en-US" sz="1900" dirty="0" err="1">
                <a:effectLst/>
                <a:ea typeface="Times New Roman" panose="02020603050405020304" pitchFamily="18" charset="0"/>
              </a:rPr>
              <a:t>пасты</a:t>
            </a:r>
            <a:r>
              <a:rPr lang="en-US" sz="1900" dirty="0">
                <a:effectLst/>
                <a:ea typeface="Times New Roman" panose="02020603050405020304" pitchFamily="18" charset="0"/>
              </a:rPr>
              <a:t> </a:t>
            </a:r>
            <a:r>
              <a:rPr lang="en-US" sz="1900" dirty="0" err="1">
                <a:effectLst/>
                <a:ea typeface="Times New Roman" panose="02020603050405020304" pitchFamily="18" charset="0"/>
              </a:rPr>
              <a:t>короткие</a:t>
            </a:r>
            <a:r>
              <a:rPr lang="en-US" sz="1900" dirty="0">
                <a:effectLst/>
                <a:ea typeface="Times New Roman" panose="02020603050405020304" pitchFamily="18" charset="0"/>
              </a:rPr>
              <a:t> </a:t>
            </a:r>
            <a:r>
              <a:rPr lang="en-US" sz="1900" dirty="0" err="1">
                <a:effectLst/>
                <a:ea typeface="Times New Roman" panose="02020603050405020304" pitchFamily="18" charset="0"/>
              </a:rPr>
              <a:t>резисторы</a:t>
            </a:r>
            <a:r>
              <a:rPr lang="en-US" sz="1900" dirty="0">
                <a:effectLst/>
                <a:ea typeface="Times New Roman" panose="02020603050405020304" pitchFamily="18" charset="0"/>
              </a:rPr>
              <a:t> </a:t>
            </a:r>
            <a:r>
              <a:rPr lang="en-US" sz="1900" dirty="0" err="1">
                <a:effectLst/>
                <a:ea typeface="Times New Roman" panose="02020603050405020304" pitchFamily="18" charset="0"/>
              </a:rPr>
              <a:t>имеют</a:t>
            </a:r>
            <a:r>
              <a:rPr lang="en-US" sz="1900" dirty="0">
                <a:effectLst/>
                <a:ea typeface="Times New Roman" panose="02020603050405020304" pitchFamily="18" charset="0"/>
              </a:rPr>
              <a:t> </a:t>
            </a:r>
            <a:r>
              <a:rPr lang="en-US" sz="1900" dirty="0" err="1">
                <a:effectLst/>
                <a:ea typeface="Times New Roman" panose="02020603050405020304" pitchFamily="18" charset="0"/>
              </a:rPr>
              <a:t>большую</a:t>
            </a:r>
            <a:r>
              <a:rPr lang="en-US" sz="1900" dirty="0">
                <a:effectLst/>
                <a:ea typeface="Times New Roman" panose="02020603050405020304" pitchFamily="18" charset="0"/>
              </a:rPr>
              <a:t> </a:t>
            </a:r>
            <a:r>
              <a:rPr lang="en-US" sz="1900" dirty="0" err="1">
                <a:effectLst/>
                <a:ea typeface="Times New Roman" panose="02020603050405020304" pitchFamily="18" charset="0"/>
              </a:rPr>
              <a:t>толщину</a:t>
            </a:r>
            <a:r>
              <a:rPr lang="en-US" sz="1900" dirty="0">
                <a:effectLst/>
                <a:ea typeface="Times New Roman" panose="02020603050405020304" pitchFamily="18" charset="0"/>
              </a:rPr>
              <a:t> </a:t>
            </a:r>
            <a:r>
              <a:rPr lang="en-US" sz="1900" dirty="0" err="1">
                <a:effectLst/>
                <a:ea typeface="Times New Roman" panose="02020603050405020304" pitchFamily="18" charset="0"/>
              </a:rPr>
              <a:t>пленки</a:t>
            </a:r>
            <a:r>
              <a:rPr lang="ru-RU" sz="1900" dirty="0">
                <a:ea typeface="Times New Roman" panose="02020603050405020304" pitchFamily="18" charset="0"/>
              </a:rPr>
              <a:t>, поэтому при составлении топологии нужно располагать все резисторы в одном направлении и избегать длинных узких и коротких широких резисторов.</a:t>
            </a:r>
            <a:endParaRPr lang="ru-RU" sz="1900" dirty="0">
              <a:effectLst/>
              <a:ea typeface="Times New Roman" panose="02020603050405020304" pitchFamily="18" charset="0"/>
            </a:endParaRP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7</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758508" y="3142695"/>
            <a:ext cx="3341788" cy="541538"/>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ctr">
              <a:buFont typeface="Arial" pitchFamily="34" charset="0"/>
              <a:buNone/>
            </a:pPr>
            <a:r>
              <a:rPr lang="ru-RU" sz="1600" b="0" i="0" dirty="0">
                <a:effectLst/>
              </a:rPr>
              <a:t>Схема процесса трафаретной печати бесконтактным способом</a:t>
            </a:r>
            <a:endParaRPr lang="ru-RU" dirty="0"/>
          </a:p>
        </p:txBody>
      </p:sp>
      <p:pic>
        <p:nvPicPr>
          <p:cNvPr id="18" name="Рисунок 17">
            <a:extLst>
              <a:ext uri="{FF2B5EF4-FFF2-40B4-BE49-F238E27FC236}">
                <a16:creationId xmlns:a16="http://schemas.microsoft.com/office/drawing/2014/main" id="{550AEAFA-54FA-474F-8363-C88D9C53A134}"/>
              </a:ext>
            </a:extLst>
          </p:cNvPr>
          <p:cNvPicPr>
            <a:picLocks noChangeAspect="1"/>
          </p:cNvPicPr>
          <p:nvPr/>
        </p:nvPicPr>
        <p:blipFill rotWithShape="1">
          <a:blip r:embed="rId2"/>
          <a:srcRect l="3688" t="7716" r="4596" b="41457"/>
          <a:stretch/>
        </p:blipFill>
        <p:spPr bwMode="auto">
          <a:xfrm>
            <a:off x="7365186" y="4084087"/>
            <a:ext cx="3823636" cy="1276774"/>
          </a:xfrm>
          <a:prstGeom prst="rect">
            <a:avLst/>
          </a:prstGeom>
          <a:ln>
            <a:noFill/>
          </a:ln>
          <a:extLst>
            <a:ext uri="{53640926-AAD7-44D8-BBD7-CCE9431645EC}">
              <a14:shadowObscured xmlns:a14="http://schemas.microsoft.com/office/drawing/2010/main"/>
            </a:ext>
          </a:extLst>
        </p:spPr>
      </p:pic>
      <p:pic>
        <p:nvPicPr>
          <p:cNvPr id="20" name="Рисунок 19">
            <a:extLst>
              <a:ext uri="{FF2B5EF4-FFF2-40B4-BE49-F238E27FC236}">
                <a16:creationId xmlns:a16="http://schemas.microsoft.com/office/drawing/2014/main" id="{07A7405F-4A9C-40DF-9FA8-2BFAC0D2D6FC}"/>
              </a:ext>
            </a:extLst>
          </p:cNvPr>
          <p:cNvPicPr>
            <a:picLocks noChangeAspect="1"/>
          </p:cNvPicPr>
          <p:nvPr/>
        </p:nvPicPr>
        <p:blipFill rotWithShape="1">
          <a:blip r:embed="rId3"/>
          <a:srcRect l="1924" t="10865" r="51256" b="30584"/>
          <a:stretch/>
        </p:blipFill>
        <p:spPr bwMode="auto">
          <a:xfrm>
            <a:off x="7637006" y="963521"/>
            <a:ext cx="3279995" cy="2179174"/>
          </a:xfrm>
          <a:prstGeom prst="rect">
            <a:avLst/>
          </a:prstGeom>
          <a:ln>
            <a:noFill/>
          </a:ln>
          <a:extLst>
            <a:ext uri="{53640926-AAD7-44D8-BBD7-CCE9431645EC}">
              <a14:shadowObscured xmlns:a14="http://schemas.microsoft.com/office/drawing/2010/main"/>
            </a:ext>
          </a:extLst>
        </p:spPr>
      </p:pic>
      <p:sp>
        <p:nvSpPr>
          <p:cNvPr id="21" name="Объект 2">
            <a:extLst>
              <a:ext uri="{FF2B5EF4-FFF2-40B4-BE49-F238E27FC236}">
                <a16:creationId xmlns:a16="http://schemas.microsoft.com/office/drawing/2014/main" id="{6CAA2087-0B4C-46B5-88C8-B1F87D1F5BD2}"/>
              </a:ext>
            </a:extLst>
          </p:cNvPr>
          <p:cNvSpPr txBox="1">
            <a:spLocks/>
          </p:cNvSpPr>
          <p:nvPr/>
        </p:nvSpPr>
        <p:spPr>
          <a:xfrm>
            <a:off x="7758508" y="5360861"/>
            <a:ext cx="3243168" cy="560280"/>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ctr">
              <a:buFont typeface="Arial" pitchFamily="34" charset="0"/>
              <a:buNone/>
            </a:pPr>
            <a:r>
              <a:rPr lang="en-US" sz="1600" dirty="0" err="1">
                <a:effectLst/>
                <a:ea typeface="Times New Roman" panose="02020603050405020304" pitchFamily="18" charset="0"/>
              </a:rPr>
              <a:t>Влияние</a:t>
            </a:r>
            <a:r>
              <a:rPr lang="en-US" sz="1600" dirty="0">
                <a:effectLst/>
                <a:ea typeface="Times New Roman" panose="02020603050405020304" pitchFamily="18" charset="0"/>
              </a:rPr>
              <a:t> </a:t>
            </a:r>
            <a:r>
              <a:rPr lang="en-US" sz="1600" dirty="0" err="1">
                <a:effectLst/>
                <a:ea typeface="Times New Roman" panose="02020603050405020304" pitchFamily="18" charset="0"/>
              </a:rPr>
              <a:t>ширины</a:t>
            </a:r>
            <a:r>
              <a:rPr lang="en-US" sz="1600" dirty="0">
                <a:effectLst/>
                <a:ea typeface="Times New Roman" panose="02020603050405020304" pitchFamily="18" charset="0"/>
              </a:rPr>
              <a:t> и </a:t>
            </a:r>
            <a:r>
              <a:rPr lang="en-US" sz="1600" dirty="0" err="1">
                <a:effectLst/>
                <a:ea typeface="Times New Roman" panose="02020603050405020304" pitchFamily="18" charset="0"/>
              </a:rPr>
              <a:t>длины</a:t>
            </a:r>
            <a:r>
              <a:rPr lang="en-US" sz="1600" dirty="0">
                <a:effectLst/>
                <a:ea typeface="Times New Roman" panose="02020603050405020304" pitchFamily="18" charset="0"/>
              </a:rPr>
              <a:t> </a:t>
            </a:r>
            <a:r>
              <a:rPr lang="en-US" sz="1600" dirty="0" err="1">
                <a:effectLst/>
                <a:ea typeface="Times New Roman" panose="02020603050405020304" pitchFamily="18" charset="0"/>
              </a:rPr>
              <a:t>резистора</a:t>
            </a:r>
            <a:r>
              <a:rPr lang="en-US" sz="1600" dirty="0">
                <a:effectLst/>
                <a:ea typeface="Times New Roman" panose="02020603050405020304" pitchFamily="18" charset="0"/>
              </a:rPr>
              <a:t> </a:t>
            </a:r>
            <a:r>
              <a:rPr lang="en-US" sz="1600" dirty="0" err="1">
                <a:effectLst/>
                <a:ea typeface="Times New Roman" panose="02020603050405020304" pitchFamily="18" charset="0"/>
              </a:rPr>
              <a:t>на</a:t>
            </a:r>
            <a:r>
              <a:rPr lang="en-US" sz="1600" dirty="0">
                <a:effectLst/>
                <a:ea typeface="Times New Roman" panose="02020603050405020304" pitchFamily="18" charset="0"/>
              </a:rPr>
              <a:t> </a:t>
            </a:r>
            <a:r>
              <a:rPr lang="en-US" sz="1600" dirty="0" err="1">
                <a:effectLst/>
                <a:ea typeface="Times New Roman" panose="02020603050405020304" pitchFamily="18" charset="0"/>
              </a:rPr>
              <a:t>толщину</a:t>
            </a:r>
            <a:r>
              <a:rPr lang="en-US" sz="1600" dirty="0">
                <a:effectLst/>
                <a:ea typeface="Times New Roman" panose="02020603050405020304" pitchFamily="18" charset="0"/>
              </a:rPr>
              <a:t> </a:t>
            </a:r>
            <a:r>
              <a:rPr lang="en-US" sz="1600" dirty="0" err="1">
                <a:effectLst/>
                <a:ea typeface="Times New Roman" panose="02020603050405020304" pitchFamily="18" charset="0"/>
              </a:rPr>
              <a:t>отпечатка</a:t>
            </a:r>
            <a:endParaRPr lang="ru-RU" sz="1600" dirty="0"/>
          </a:p>
        </p:txBody>
      </p:sp>
    </p:spTree>
    <p:extLst>
      <p:ext uri="{BB962C8B-B14F-4D97-AF65-F5344CB8AC3E}">
        <p14:creationId xmlns:p14="http://schemas.microsoft.com/office/powerpoint/2010/main" val="42884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7" y="426127"/>
            <a:ext cx="5570878" cy="6224929"/>
          </a:xfrm>
        </p:spPr>
        <p:txBody>
          <a:bodyPr>
            <a:normAutofit lnSpcReduction="10000"/>
          </a:bodyPr>
          <a:lstStyle/>
          <a:p>
            <a:pPr marL="0" indent="0">
              <a:buNone/>
            </a:pPr>
            <a:r>
              <a:rPr lang="ru-RU" sz="2400" dirty="0"/>
              <a:t>2. Формирование пленочной структуры</a:t>
            </a:r>
          </a:p>
          <a:p>
            <a:pPr marL="0" indent="0">
              <a:buNone/>
            </a:pPr>
            <a:r>
              <a:rPr lang="ru-RU" sz="1800" b="1" dirty="0">
                <a:ea typeface="Times New Roman" panose="02020603050405020304" pitchFamily="18" charset="0"/>
              </a:rPr>
              <a:t>Термообработка паст. Сушка. </a:t>
            </a:r>
            <a:r>
              <a:rPr lang="ru-RU" sz="1800" b="1" dirty="0" err="1">
                <a:ea typeface="Times New Roman" panose="02020603050405020304" pitchFamily="18" charset="0"/>
              </a:rPr>
              <a:t>Вжигание</a:t>
            </a:r>
            <a:r>
              <a:rPr lang="ru-RU" sz="1800" b="1" dirty="0">
                <a:ea typeface="Times New Roman" panose="02020603050405020304" pitchFamily="18" charset="0"/>
              </a:rPr>
              <a:t>.</a:t>
            </a:r>
            <a:endParaRPr lang="ru-RU" sz="1800" dirty="0">
              <a:ea typeface="Times New Roman" panose="02020603050405020304" pitchFamily="18" charset="0"/>
            </a:endParaRPr>
          </a:p>
          <a:p>
            <a:pPr marL="0" indent="0">
              <a:buNone/>
            </a:pPr>
            <a:r>
              <a:rPr lang="ru-RU" sz="1800" dirty="0">
                <a:effectLst/>
                <a:ea typeface="Times New Roman" panose="02020603050405020304" pitchFamily="18" charset="0"/>
              </a:rPr>
              <a:t>Сушка нужна для удаления из пасты летучих компонентов</a:t>
            </a:r>
            <a:r>
              <a:rPr lang="en-US" sz="1800" dirty="0">
                <a:ea typeface="Times New Roman" panose="02020603050405020304" pitchFamily="18" charset="0"/>
              </a:rPr>
              <a:t>.</a:t>
            </a:r>
            <a:r>
              <a:rPr lang="ru-RU" sz="1800" dirty="0">
                <a:effectLst/>
                <a:ea typeface="Times New Roman" panose="02020603050405020304" pitchFamily="18" charset="0"/>
              </a:rPr>
              <a:t>Ее проводят при температуре 80 – 150 °С в течение 10 – 15 мин в установках с ИК нагревом. ИК-излучение проникает в глубь слоя пасты на всю его толщину, равномерную сушку без образования корочки на поверхности.</a:t>
            </a:r>
          </a:p>
          <a:p>
            <a:pPr marL="0" indent="0">
              <a:spcBef>
                <a:spcPts val="1200"/>
              </a:spcBef>
              <a:spcAft>
                <a:spcPts val="1200"/>
              </a:spcAft>
              <a:buNone/>
            </a:pPr>
            <a:r>
              <a:rPr lang="en-US" sz="1800" dirty="0" err="1">
                <a:effectLst/>
                <a:ea typeface="Times New Roman" panose="02020603050405020304" pitchFamily="18" charset="0"/>
              </a:rPr>
              <a:t>Вжигание</a:t>
            </a:r>
            <a:r>
              <a:rPr lang="en-US" sz="1800" dirty="0">
                <a:effectLst/>
                <a:ea typeface="Times New Roman" panose="02020603050405020304" pitchFamily="18" charset="0"/>
              </a:rPr>
              <a:t> </a:t>
            </a:r>
            <a:r>
              <a:rPr lang="en-US" sz="1800" dirty="0" err="1">
                <a:effectLst/>
                <a:ea typeface="Times New Roman" panose="02020603050405020304" pitchFamily="18" charset="0"/>
              </a:rPr>
              <a:t>проводят</a:t>
            </a:r>
            <a:r>
              <a:rPr lang="en-US" sz="1800" dirty="0">
                <a:effectLst/>
                <a:ea typeface="Times New Roman" panose="02020603050405020304" pitchFamily="18" charset="0"/>
              </a:rPr>
              <a:t> в </a:t>
            </a:r>
            <a:r>
              <a:rPr lang="en-US" sz="1800" dirty="0" err="1">
                <a:effectLst/>
                <a:ea typeface="Times New Roman" panose="02020603050405020304" pitchFamily="18" charset="0"/>
              </a:rPr>
              <a:t>печах</a:t>
            </a:r>
            <a:r>
              <a:rPr lang="en-US" sz="1800" dirty="0">
                <a:effectLst/>
                <a:ea typeface="Times New Roman" panose="02020603050405020304" pitchFamily="18" charset="0"/>
              </a:rPr>
              <a:t> </a:t>
            </a:r>
            <a:r>
              <a:rPr lang="en-US" sz="1800" dirty="0" err="1">
                <a:effectLst/>
                <a:ea typeface="Times New Roman" panose="02020603050405020304" pitchFamily="18" charset="0"/>
              </a:rPr>
              <a:t>конвейерного</a:t>
            </a:r>
            <a:r>
              <a:rPr lang="en-US" sz="1800" dirty="0">
                <a:effectLst/>
                <a:ea typeface="Times New Roman" panose="02020603050405020304" pitchFamily="18" charset="0"/>
              </a:rPr>
              <a:t> </a:t>
            </a:r>
            <a:r>
              <a:rPr lang="en-US" sz="1800" dirty="0" err="1">
                <a:effectLst/>
                <a:ea typeface="Times New Roman" panose="02020603050405020304" pitchFamily="18" charset="0"/>
              </a:rPr>
              <a:t>типа</a:t>
            </a:r>
            <a:r>
              <a:rPr lang="en-US" sz="1800" dirty="0">
                <a:effectLst/>
                <a:ea typeface="Times New Roman" panose="02020603050405020304" pitchFamily="18" charset="0"/>
              </a:rPr>
              <a:t> </a:t>
            </a:r>
            <a:r>
              <a:rPr lang="en-US" sz="1800" dirty="0" err="1">
                <a:effectLst/>
                <a:ea typeface="Times New Roman" panose="02020603050405020304" pitchFamily="18" charset="0"/>
              </a:rPr>
              <a:t>непрерывного</a:t>
            </a:r>
            <a:r>
              <a:rPr lang="en-US" sz="1800" dirty="0">
                <a:effectLst/>
                <a:ea typeface="Times New Roman" panose="02020603050405020304" pitchFamily="18" charset="0"/>
              </a:rPr>
              <a:t> </a:t>
            </a:r>
            <a:r>
              <a:rPr lang="en-US" sz="1800" dirty="0" err="1">
                <a:effectLst/>
                <a:ea typeface="Times New Roman" panose="02020603050405020304" pitchFamily="18" charset="0"/>
              </a:rPr>
              <a:t>действия</a:t>
            </a:r>
            <a:r>
              <a:rPr lang="en-US" sz="1800" dirty="0">
                <a:effectLst/>
                <a:ea typeface="Times New Roman" panose="02020603050405020304" pitchFamily="18" charset="0"/>
              </a:rPr>
              <a:t> с </a:t>
            </a:r>
            <a:r>
              <a:rPr lang="en-US" sz="1800" dirty="0" err="1">
                <a:effectLst/>
                <a:ea typeface="Times New Roman" panose="02020603050405020304" pitchFamily="18" charset="0"/>
              </a:rPr>
              <a:t>постепенным</a:t>
            </a:r>
            <a:r>
              <a:rPr lang="en-US" sz="1800" dirty="0">
                <a:effectLst/>
                <a:ea typeface="Times New Roman" panose="02020603050405020304" pitchFamily="18" charset="0"/>
              </a:rPr>
              <a:t> </a:t>
            </a:r>
            <a:r>
              <a:rPr lang="en-US" sz="1800" dirty="0" err="1">
                <a:effectLst/>
                <a:ea typeface="Times New Roman" panose="02020603050405020304" pitchFamily="18" charset="0"/>
              </a:rPr>
              <a:t>повышением</a:t>
            </a:r>
            <a:r>
              <a:rPr lang="en-US" sz="1800" dirty="0">
                <a:effectLst/>
                <a:ea typeface="Times New Roman" panose="02020603050405020304" pitchFamily="18" charset="0"/>
              </a:rPr>
              <a:t> </a:t>
            </a:r>
            <a:r>
              <a:rPr lang="en-US" sz="1800" dirty="0" err="1">
                <a:effectLst/>
                <a:ea typeface="Times New Roman" panose="02020603050405020304" pitchFamily="18" charset="0"/>
              </a:rPr>
              <a:t>температуры</a:t>
            </a:r>
            <a:r>
              <a:rPr lang="en-US" sz="1800" dirty="0">
                <a:effectLst/>
                <a:ea typeface="Times New Roman" panose="02020603050405020304" pitchFamily="18" charset="0"/>
              </a:rPr>
              <a:t> </a:t>
            </a:r>
            <a:r>
              <a:rPr lang="en-US" sz="1800" dirty="0" err="1">
                <a:effectLst/>
                <a:ea typeface="Times New Roman" panose="02020603050405020304" pitchFamily="18" charset="0"/>
              </a:rPr>
              <a:t>до</a:t>
            </a:r>
            <a:r>
              <a:rPr lang="en-US" sz="1800" dirty="0">
                <a:effectLst/>
                <a:ea typeface="Times New Roman" panose="02020603050405020304" pitchFamily="18" charset="0"/>
              </a:rPr>
              <a:t> </a:t>
            </a:r>
            <a:r>
              <a:rPr lang="en-US" sz="1800" dirty="0" err="1">
                <a:effectLst/>
                <a:ea typeface="Times New Roman" panose="02020603050405020304" pitchFamily="18" charset="0"/>
              </a:rPr>
              <a:t>максимальной</a:t>
            </a:r>
            <a:r>
              <a:rPr lang="en-US" sz="1800" dirty="0">
                <a:effectLst/>
                <a:ea typeface="Times New Roman" panose="02020603050405020304" pitchFamily="18" charset="0"/>
              </a:rPr>
              <a:t>, </a:t>
            </a:r>
            <a:r>
              <a:rPr lang="en-US" sz="1800" dirty="0" err="1">
                <a:effectLst/>
                <a:ea typeface="Times New Roman" panose="02020603050405020304" pitchFamily="18" charset="0"/>
              </a:rPr>
              <a:t>выдержкой</a:t>
            </a:r>
            <a:r>
              <a:rPr lang="en-US" sz="1800" dirty="0">
                <a:effectLst/>
                <a:ea typeface="Times New Roman" panose="02020603050405020304" pitchFamily="18" charset="0"/>
              </a:rPr>
              <a:t> </a:t>
            </a:r>
            <a:r>
              <a:rPr lang="en-US" sz="1800" dirty="0" err="1">
                <a:effectLst/>
                <a:ea typeface="Times New Roman" panose="02020603050405020304" pitchFamily="18" charset="0"/>
              </a:rPr>
              <a:t>при</a:t>
            </a:r>
            <a:r>
              <a:rPr lang="en-US" sz="1800" dirty="0">
                <a:effectLst/>
                <a:ea typeface="Times New Roman" panose="02020603050405020304" pitchFamily="18" charset="0"/>
              </a:rPr>
              <a:t> </a:t>
            </a:r>
            <a:r>
              <a:rPr lang="en-US" sz="1800" dirty="0" err="1">
                <a:effectLst/>
                <a:ea typeface="Times New Roman" panose="02020603050405020304" pitchFamily="18" charset="0"/>
              </a:rPr>
              <a:t>ней</a:t>
            </a:r>
            <a:r>
              <a:rPr lang="en-US" sz="1800" dirty="0">
                <a:effectLst/>
                <a:ea typeface="Times New Roman" panose="02020603050405020304" pitchFamily="18" charset="0"/>
              </a:rPr>
              <a:t> и </a:t>
            </a:r>
            <a:r>
              <a:rPr lang="en-US" sz="1800" dirty="0" err="1">
                <a:effectLst/>
                <a:ea typeface="Times New Roman" panose="02020603050405020304" pitchFamily="18" charset="0"/>
              </a:rPr>
              <a:t>последующим</a:t>
            </a:r>
            <a:r>
              <a:rPr lang="en-US" sz="1800" dirty="0">
                <a:effectLst/>
                <a:ea typeface="Times New Roman" panose="02020603050405020304" pitchFamily="18" charset="0"/>
              </a:rPr>
              <a:t> </a:t>
            </a:r>
            <a:r>
              <a:rPr lang="en-US" sz="1800" dirty="0" err="1">
                <a:effectLst/>
                <a:ea typeface="Times New Roman" panose="02020603050405020304" pitchFamily="18" charset="0"/>
              </a:rPr>
              <a:t>охлаждением</a:t>
            </a:r>
            <a:r>
              <a:rPr lang="en-US" sz="1800" dirty="0">
                <a:effectLst/>
                <a:ea typeface="Times New Roman" panose="02020603050405020304" pitchFamily="18" charset="0"/>
              </a:rPr>
              <a:t>.</a:t>
            </a:r>
          </a:p>
          <a:p>
            <a:pPr marL="0" indent="0">
              <a:spcBef>
                <a:spcPts val="1200"/>
              </a:spcBef>
              <a:spcAft>
                <a:spcPts val="1200"/>
              </a:spcAft>
              <a:buNone/>
            </a:pPr>
            <a:r>
              <a:rPr lang="ru-RU" sz="1800" dirty="0">
                <a:effectLst/>
                <a:ea typeface="Times New Roman" panose="02020603050405020304" pitchFamily="18" charset="0"/>
              </a:rPr>
              <a:t>Вначале происходит выгорание органической связки (300 – 400 °С). Во второй</a:t>
            </a:r>
            <a:r>
              <a:rPr lang="en-US" sz="1800" dirty="0">
                <a:effectLst/>
                <a:ea typeface="Times New Roman" panose="02020603050405020304" pitchFamily="18" charset="0"/>
              </a:rPr>
              <a:t> </a:t>
            </a:r>
            <a:r>
              <a:rPr lang="ru-RU" sz="1800" dirty="0">
                <a:effectLst/>
                <a:ea typeface="Times New Roman" panose="02020603050405020304" pitchFamily="18" charset="0"/>
              </a:rPr>
              <a:t>температурной зоне конвейерной печи происходит сплавление частиц основных материалов между собой с образованием проводящих мостиков и спекание их со стеклом и платой при температуре 500 – 1000 °С. </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8</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758508" y="3142695"/>
            <a:ext cx="3341788" cy="541538"/>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r>
              <a:rPr lang="ru-RU" sz="1600" b="0" i="0" dirty="0">
                <a:effectLst/>
              </a:rPr>
              <a:t>Схема процесса трафаретной печати бесконтактным способом</a:t>
            </a:r>
            <a:endParaRPr lang="ru-RU" dirty="0"/>
          </a:p>
        </p:txBody>
      </p:sp>
      <p:sp>
        <p:nvSpPr>
          <p:cNvPr id="21" name="Объект 2">
            <a:extLst>
              <a:ext uri="{FF2B5EF4-FFF2-40B4-BE49-F238E27FC236}">
                <a16:creationId xmlns:a16="http://schemas.microsoft.com/office/drawing/2014/main" id="{6CAA2087-0B4C-46B5-88C8-B1F87D1F5BD2}"/>
              </a:ext>
            </a:extLst>
          </p:cNvPr>
          <p:cNvSpPr txBox="1">
            <a:spLocks/>
          </p:cNvSpPr>
          <p:nvPr/>
        </p:nvSpPr>
        <p:spPr>
          <a:xfrm>
            <a:off x="7018620" y="4494999"/>
            <a:ext cx="3685273" cy="541145"/>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ctr">
              <a:buFont typeface="Arial" pitchFamily="34" charset="0"/>
              <a:buNone/>
            </a:pPr>
            <a:r>
              <a:rPr lang="ru-RU" sz="1600" dirty="0" err="1">
                <a:effectLst/>
                <a:ea typeface="Times New Roman" panose="02020603050405020304" pitchFamily="18" charset="0"/>
              </a:rPr>
              <a:t>Промышленая</a:t>
            </a:r>
            <a:r>
              <a:rPr lang="ru-RU" sz="1600" dirty="0">
                <a:effectLst/>
                <a:ea typeface="Times New Roman" panose="02020603050405020304" pitchFamily="18" charset="0"/>
              </a:rPr>
              <a:t> конвейерная печь</a:t>
            </a:r>
            <a:r>
              <a:rPr lang="en-US" sz="1600" dirty="0">
                <a:effectLst/>
                <a:ea typeface="Times New Roman" panose="02020603050405020304" pitchFamily="18" charset="0"/>
              </a:rPr>
              <a:t> </a:t>
            </a:r>
            <a:r>
              <a:rPr lang="en-US" sz="1400" dirty="0"/>
              <a:t>HSK6908-1811Z</a:t>
            </a:r>
            <a:endParaRPr lang="ru-RU" sz="1600" dirty="0"/>
          </a:p>
        </p:txBody>
      </p:sp>
      <p:pic>
        <p:nvPicPr>
          <p:cNvPr id="27" name="Рисунок 26">
            <a:extLst>
              <a:ext uri="{FF2B5EF4-FFF2-40B4-BE49-F238E27FC236}">
                <a16:creationId xmlns:a16="http://schemas.microsoft.com/office/drawing/2014/main" id="{4878C1C8-9890-4E22-ADE8-A64C7D16C35D}"/>
              </a:ext>
            </a:extLst>
          </p:cNvPr>
          <p:cNvPicPr>
            <a:picLocks noChangeAspect="1"/>
          </p:cNvPicPr>
          <p:nvPr/>
        </p:nvPicPr>
        <p:blipFill>
          <a:blip r:embed="rId2"/>
          <a:stretch>
            <a:fillRect/>
          </a:stretch>
        </p:blipFill>
        <p:spPr>
          <a:xfrm>
            <a:off x="6574055" y="1294920"/>
            <a:ext cx="4574405" cy="3200079"/>
          </a:xfrm>
          <a:prstGeom prst="rect">
            <a:avLst/>
          </a:prstGeom>
        </p:spPr>
      </p:pic>
    </p:spTree>
    <p:extLst>
      <p:ext uri="{BB962C8B-B14F-4D97-AF65-F5344CB8AC3E}">
        <p14:creationId xmlns:p14="http://schemas.microsoft.com/office/powerpoint/2010/main" val="3898719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6" y="426127"/>
            <a:ext cx="4291937" cy="6224929"/>
          </a:xfrm>
        </p:spPr>
        <p:txBody>
          <a:bodyPr>
            <a:normAutofit/>
          </a:bodyPr>
          <a:lstStyle/>
          <a:p>
            <a:pPr marL="0" indent="0">
              <a:buNone/>
            </a:pPr>
            <a:r>
              <a:rPr lang="ru-RU" sz="2400" dirty="0"/>
              <a:t>3. Сборка. Армирование</a:t>
            </a:r>
          </a:p>
          <a:p>
            <a:pPr marL="0" indent="0">
              <a:buNone/>
            </a:pPr>
            <a:r>
              <a:rPr lang="ru-RU" sz="1800" dirty="0">
                <a:effectLst/>
                <a:ea typeface="Times New Roman" panose="02020603050405020304" pitchFamily="18" charset="0"/>
              </a:rPr>
              <a:t>После нанесения и </a:t>
            </a:r>
            <a:r>
              <a:rPr lang="ru-RU" sz="1800" dirty="0" err="1">
                <a:effectLst/>
                <a:ea typeface="Times New Roman" panose="02020603050405020304" pitchFamily="18" charset="0"/>
              </a:rPr>
              <a:t>вжигания</a:t>
            </a:r>
            <a:r>
              <a:rPr lang="ru-RU" sz="1800" dirty="0">
                <a:effectLst/>
                <a:ea typeface="Times New Roman" panose="02020603050405020304" pitchFamily="18" charset="0"/>
              </a:rPr>
              <a:t> всех слоев пассивной части схемы производят подгонку пленочных элементов, монтаж навесных компонентов, армирование (установку выводов) и герметизацию.</a:t>
            </a:r>
          </a:p>
          <a:p>
            <a:pPr marL="0" indent="0">
              <a:buNone/>
            </a:pPr>
            <a:r>
              <a:rPr lang="ru-RU" sz="1800" dirty="0">
                <a:effectLst/>
                <a:ea typeface="Times New Roman" panose="02020603050405020304" pitchFamily="18" charset="0"/>
              </a:rPr>
              <a:t>Выводы и контактные переходы в виде проволочек устанавливают перед подгонкой, а рамочные выводы, соединенные между собой на общей рамке – на заключительном этапе сборки перед</a:t>
            </a:r>
            <a:r>
              <a:rPr lang="ru-RU" sz="1800" dirty="0">
                <a:effectLst/>
              </a:rPr>
              <a:t> </a:t>
            </a:r>
            <a:r>
              <a:rPr lang="en-US" sz="1800" dirty="0" err="1">
                <a:effectLst/>
                <a:ea typeface="Times New Roman" panose="02020603050405020304" pitchFamily="18" charset="0"/>
              </a:rPr>
              <a:t>герметизацией</a:t>
            </a:r>
            <a:r>
              <a:rPr lang="en-US" sz="1800" dirty="0">
                <a:ea typeface="Times New Roman" panose="02020603050405020304" pitchFamily="18" charset="0"/>
              </a:rPr>
              <a:t>.</a:t>
            </a:r>
            <a:endParaRPr lang="en-US" sz="1800" dirty="0">
              <a:effectLst/>
              <a:ea typeface="Times New Roman" panose="02020603050405020304" pitchFamily="18" charset="0"/>
            </a:endParaRP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9</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190361" y="2495818"/>
            <a:ext cx="3341788" cy="5415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endParaRPr lang="ru-RU" sz="1800" dirty="0"/>
          </a:p>
        </p:txBody>
      </p:sp>
      <p:sp>
        <p:nvSpPr>
          <p:cNvPr id="21" name="Объект 2">
            <a:extLst>
              <a:ext uri="{FF2B5EF4-FFF2-40B4-BE49-F238E27FC236}">
                <a16:creationId xmlns:a16="http://schemas.microsoft.com/office/drawing/2014/main" id="{6CAA2087-0B4C-46B5-88C8-B1F87D1F5BD2}"/>
              </a:ext>
            </a:extLst>
          </p:cNvPr>
          <p:cNvSpPr txBox="1">
            <a:spLocks/>
          </p:cNvSpPr>
          <p:nvPr/>
        </p:nvSpPr>
        <p:spPr>
          <a:xfrm>
            <a:off x="7018620" y="4494999"/>
            <a:ext cx="3685273" cy="541145"/>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ctr">
              <a:buFont typeface="Arial" pitchFamily="34" charset="0"/>
              <a:buNone/>
            </a:pPr>
            <a:endParaRPr lang="ru-RU" sz="1600" dirty="0"/>
          </a:p>
        </p:txBody>
      </p:sp>
      <p:pic>
        <p:nvPicPr>
          <p:cNvPr id="7" name="Рисунок 6">
            <a:extLst>
              <a:ext uri="{FF2B5EF4-FFF2-40B4-BE49-F238E27FC236}">
                <a16:creationId xmlns:a16="http://schemas.microsoft.com/office/drawing/2014/main" id="{7C85ED21-A464-4F05-B137-76F54E93F3C8}"/>
              </a:ext>
            </a:extLst>
          </p:cNvPr>
          <p:cNvPicPr>
            <a:picLocks noChangeAspect="1"/>
          </p:cNvPicPr>
          <p:nvPr/>
        </p:nvPicPr>
        <p:blipFill rotWithShape="1">
          <a:blip r:embed="rId2"/>
          <a:srcRect t="12342" b="15614"/>
          <a:stretch/>
        </p:blipFill>
        <p:spPr bwMode="auto">
          <a:xfrm>
            <a:off x="5295113" y="625631"/>
            <a:ext cx="5992481" cy="2411726"/>
          </a:xfrm>
          <a:prstGeom prst="rect">
            <a:avLst/>
          </a:prstGeom>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85E10A83-BA9C-42F0-AB30-AF27A0084F4C}"/>
              </a:ext>
            </a:extLst>
          </p:cNvPr>
          <p:cNvSpPr txBox="1"/>
          <p:nvPr/>
        </p:nvSpPr>
        <p:spPr>
          <a:xfrm>
            <a:off x="6139051" y="3037356"/>
            <a:ext cx="4304604" cy="2331023"/>
          </a:xfrm>
          <a:prstGeom prst="rect">
            <a:avLst/>
          </a:prstGeom>
          <a:noFill/>
        </p:spPr>
        <p:txBody>
          <a:bodyPr wrap="square">
            <a:spAutoFit/>
          </a:bodyPr>
          <a:lstStyle/>
          <a:p>
            <a:pPr indent="450215">
              <a:lnSpc>
                <a:spcPct val="115000"/>
              </a:lnSpc>
            </a:pPr>
            <a:r>
              <a:rPr lang="ru-RU" sz="1600" dirty="0">
                <a:solidFill>
                  <a:schemeClr val="tx1">
                    <a:lumMod val="65000"/>
                    <a:lumOff val="35000"/>
                  </a:schemeClr>
                </a:solidFill>
                <a:effectLst/>
                <a:ea typeface="Times New Roman" panose="02020603050405020304" pitchFamily="18" charset="0"/>
              </a:rPr>
              <a:t>Армирование плат выводами и контактными переходами</a:t>
            </a:r>
          </a:p>
          <a:p>
            <a:pPr indent="450215" algn="l">
              <a:lnSpc>
                <a:spcPct val="115000"/>
              </a:lnSpc>
            </a:pPr>
            <a:r>
              <a:rPr lang="ru-RU" sz="1600" dirty="0">
                <a:solidFill>
                  <a:schemeClr val="tx1">
                    <a:lumMod val="65000"/>
                    <a:lumOff val="35000"/>
                  </a:schemeClr>
                </a:solidFill>
                <a:effectLst/>
                <a:ea typeface="Times New Roman" panose="02020603050405020304" pitchFamily="18" charset="0"/>
              </a:rPr>
              <a:t>а) – установка вывода;</a:t>
            </a:r>
          </a:p>
          <a:p>
            <a:pPr indent="450215" algn="l">
              <a:lnSpc>
                <a:spcPct val="115000"/>
              </a:lnSpc>
            </a:pPr>
            <a:r>
              <a:rPr lang="ru-RU" sz="1600" dirty="0">
                <a:solidFill>
                  <a:schemeClr val="tx1">
                    <a:lumMod val="65000"/>
                    <a:lumOff val="35000"/>
                  </a:schemeClr>
                </a:solidFill>
                <a:effectLst/>
                <a:ea typeface="Times New Roman" panose="02020603050405020304" pitchFamily="18" charset="0"/>
              </a:rPr>
              <a:t>б) – расклепывание;</a:t>
            </a:r>
          </a:p>
          <a:p>
            <a:pPr indent="450215" algn="l">
              <a:lnSpc>
                <a:spcPct val="115000"/>
              </a:lnSpc>
            </a:pPr>
            <a:r>
              <a:rPr lang="ru-RU" sz="1600" dirty="0">
                <a:solidFill>
                  <a:schemeClr val="tx1">
                    <a:lumMod val="65000"/>
                    <a:lumOff val="35000"/>
                  </a:schemeClr>
                </a:solidFill>
                <a:effectLst/>
                <a:ea typeface="Times New Roman" panose="02020603050405020304" pitchFamily="18" charset="0"/>
              </a:rPr>
              <a:t>в) – обрезание вывода для образования контактного перехода;</a:t>
            </a:r>
          </a:p>
          <a:p>
            <a:pPr indent="450215" algn="l">
              <a:lnSpc>
                <a:spcPct val="115000"/>
              </a:lnSpc>
            </a:pPr>
            <a:r>
              <a:rPr lang="ru-RU" sz="1600" dirty="0">
                <a:solidFill>
                  <a:schemeClr val="tx1">
                    <a:lumMod val="65000"/>
                    <a:lumOff val="35000"/>
                  </a:schemeClr>
                </a:solidFill>
                <a:effectLst/>
                <a:ea typeface="Times New Roman" panose="02020603050405020304" pitchFamily="18" charset="0"/>
              </a:rPr>
              <a:t>г) – вывод и контактный переход после облуживания</a:t>
            </a:r>
          </a:p>
        </p:txBody>
      </p:sp>
    </p:spTree>
    <p:extLst>
      <p:ext uri="{BB962C8B-B14F-4D97-AF65-F5344CB8AC3E}">
        <p14:creationId xmlns:p14="http://schemas.microsoft.com/office/powerpoint/2010/main" val="244955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6" y="426127"/>
            <a:ext cx="5690586" cy="6224929"/>
          </a:xfrm>
        </p:spPr>
        <p:txBody>
          <a:bodyPr>
            <a:normAutofit fontScale="85000" lnSpcReduction="20000"/>
          </a:bodyPr>
          <a:lstStyle/>
          <a:p>
            <a:pPr marL="0" indent="0">
              <a:buNone/>
            </a:pPr>
            <a:r>
              <a:rPr lang="ru-RU" sz="2800" dirty="0"/>
              <a:t>3. Сборка. Подгонка</a:t>
            </a:r>
          </a:p>
          <a:p>
            <a:pPr marL="0" indent="0">
              <a:buNone/>
            </a:pPr>
            <a:r>
              <a:rPr lang="ru-RU" sz="2300" dirty="0">
                <a:effectLst/>
                <a:ea typeface="Times New Roman" panose="02020603050405020304" pitchFamily="18" charset="0"/>
              </a:rPr>
              <a:t>В условиях массового производства отклонение от номиналов сопротивлений резисторов может достигать 50%, поэтому </a:t>
            </a:r>
            <a:r>
              <a:rPr lang="ru-RU" sz="2300" dirty="0">
                <a:ea typeface="Times New Roman" panose="02020603050405020304" pitchFamily="18" charset="0"/>
              </a:rPr>
              <a:t>нужна </a:t>
            </a:r>
            <a:r>
              <a:rPr lang="ru-RU" sz="2300" dirty="0">
                <a:effectLst/>
                <a:ea typeface="Times New Roman" panose="02020603050405020304" pitchFamily="18" charset="0"/>
              </a:rPr>
              <a:t>подгонка. Она производится изменением конфигурации элементов или отжигом.</a:t>
            </a:r>
          </a:p>
          <a:p>
            <a:pPr marL="0" indent="0">
              <a:buNone/>
            </a:pPr>
            <a:r>
              <a:rPr lang="ru-RU" sz="2300" b="0" i="0" dirty="0">
                <a:effectLst/>
              </a:rPr>
              <a:t>Точность изготовления резисторов с подгонкой в условиях массового производства около 2%.</a:t>
            </a:r>
          </a:p>
          <a:p>
            <a:pPr marL="0" indent="0">
              <a:buNone/>
            </a:pPr>
            <a:r>
              <a:rPr lang="ru-RU" sz="2300" dirty="0">
                <a:effectLst/>
                <a:ea typeface="Times New Roman" panose="02020603050405020304" pitchFamily="18" charset="0"/>
              </a:rPr>
              <a:t>При лазерной подгонке сопротивление резистора только увеличивается за счет уменьшения его ширины, Отжиг нагревом до температуры 400 – 500°С позволяет изменить сопротивление в обе стороны, поскольку при этом меняются свойства резистивных пленок.</a:t>
            </a:r>
          </a:p>
          <a:p>
            <a:pPr marL="0" indent="0">
              <a:buNone/>
            </a:pPr>
            <a:r>
              <a:rPr lang="ru-RU" sz="2300" b="0" i="0" dirty="0">
                <a:effectLst/>
              </a:rPr>
              <a:t>Для толстопленочных конденсаторов</a:t>
            </a:r>
            <a:br>
              <a:rPr lang="ru-RU" sz="2300" dirty="0"/>
            </a:br>
            <a:r>
              <a:rPr lang="ru-RU" sz="2300" b="0" i="0" dirty="0">
                <a:effectLst/>
              </a:rPr>
              <a:t>используют воздушно-абразивную подгонку удалением части верхней обкладки абразивом.</a:t>
            </a:r>
            <a:br>
              <a:rPr lang="ru-RU" sz="2300" dirty="0"/>
            </a:br>
            <a:endParaRPr lang="ru-RU" sz="2300" b="0" i="0" dirty="0">
              <a:effectLst/>
            </a:endParaRP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10</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190361" y="2495818"/>
            <a:ext cx="3341788" cy="5415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endParaRPr lang="ru-RU" sz="1800" dirty="0"/>
          </a:p>
        </p:txBody>
      </p:sp>
      <p:sp>
        <p:nvSpPr>
          <p:cNvPr id="11" name="TextBox 10">
            <a:extLst>
              <a:ext uri="{FF2B5EF4-FFF2-40B4-BE49-F238E27FC236}">
                <a16:creationId xmlns:a16="http://schemas.microsoft.com/office/drawing/2014/main" id="{85E10A83-BA9C-42F0-AB30-AF27A0084F4C}"/>
              </a:ext>
            </a:extLst>
          </p:cNvPr>
          <p:cNvSpPr txBox="1"/>
          <p:nvPr/>
        </p:nvSpPr>
        <p:spPr>
          <a:xfrm>
            <a:off x="6693762" y="2993046"/>
            <a:ext cx="4304604" cy="1481559"/>
          </a:xfrm>
          <a:prstGeom prst="rect">
            <a:avLst/>
          </a:prstGeom>
          <a:noFill/>
        </p:spPr>
        <p:txBody>
          <a:bodyPr wrap="square">
            <a:spAutoFit/>
          </a:bodyPr>
          <a:lstStyle/>
          <a:p>
            <a:pPr indent="450215" algn="just">
              <a:lnSpc>
                <a:spcPct val="115000"/>
              </a:lnSpc>
            </a:pPr>
            <a:r>
              <a:rPr lang="ru-RU" sz="1600" dirty="0">
                <a:solidFill>
                  <a:schemeClr val="tx1">
                    <a:lumMod val="65000"/>
                    <a:lumOff val="35000"/>
                  </a:schemeClr>
                </a:solidFill>
                <a:effectLst/>
                <a:ea typeface="Times New Roman" panose="02020603050405020304" pitchFamily="18" charset="0"/>
              </a:rPr>
              <a:t>Толстопленочный резистор после лазерной подгонки:</a:t>
            </a:r>
          </a:p>
          <a:p>
            <a:pPr indent="450215" algn="just">
              <a:lnSpc>
                <a:spcPct val="115000"/>
              </a:lnSpc>
            </a:pPr>
            <a:r>
              <a:rPr lang="ru-RU" sz="1600" dirty="0">
                <a:solidFill>
                  <a:schemeClr val="tx1">
                    <a:lumMod val="65000"/>
                    <a:lumOff val="35000"/>
                  </a:schemeClr>
                </a:solidFill>
                <a:ea typeface="Times New Roman" panose="02020603050405020304" pitchFamily="18" charset="0"/>
              </a:rPr>
              <a:t>а</a:t>
            </a:r>
            <a:r>
              <a:rPr lang="ru-RU" sz="1600" dirty="0">
                <a:solidFill>
                  <a:schemeClr val="tx1">
                    <a:lumMod val="65000"/>
                    <a:lumOff val="35000"/>
                  </a:schemeClr>
                </a:solidFill>
                <a:effectLst/>
                <a:ea typeface="Times New Roman" panose="02020603050405020304" pitchFamily="18" charset="0"/>
              </a:rPr>
              <a:t>) – с участками грубой и точной подгонки;</a:t>
            </a:r>
          </a:p>
          <a:p>
            <a:pPr indent="450215" algn="just">
              <a:lnSpc>
                <a:spcPct val="115000"/>
              </a:lnSpc>
            </a:pPr>
            <a:r>
              <a:rPr lang="ru-RU" sz="1600" dirty="0">
                <a:solidFill>
                  <a:schemeClr val="tx1">
                    <a:lumMod val="65000"/>
                    <a:lumOff val="35000"/>
                  </a:schemeClr>
                </a:solidFill>
                <a:effectLst/>
                <a:ea typeface="Times New Roman" panose="02020603050405020304" pitchFamily="18" charset="0"/>
              </a:rPr>
              <a:t>б) – с подгонкой под углом.</a:t>
            </a:r>
          </a:p>
        </p:txBody>
      </p:sp>
      <p:pic>
        <p:nvPicPr>
          <p:cNvPr id="9" name="Рисунок 8">
            <a:extLst>
              <a:ext uri="{FF2B5EF4-FFF2-40B4-BE49-F238E27FC236}">
                <a16:creationId xmlns:a16="http://schemas.microsoft.com/office/drawing/2014/main" id="{3B447265-BC4A-4D18-ACB3-8DE55C67441C}"/>
              </a:ext>
            </a:extLst>
          </p:cNvPr>
          <p:cNvPicPr>
            <a:picLocks noChangeAspect="1"/>
          </p:cNvPicPr>
          <p:nvPr/>
        </p:nvPicPr>
        <p:blipFill rotWithShape="1">
          <a:blip r:embed="rId2"/>
          <a:srcRect l="2992" t="3017" r="1675" b="40772"/>
          <a:stretch/>
        </p:blipFill>
        <p:spPr>
          <a:xfrm>
            <a:off x="6825435" y="1025230"/>
            <a:ext cx="4304604" cy="1896125"/>
          </a:xfrm>
          <a:prstGeom prst="rect">
            <a:avLst/>
          </a:prstGeom>
        </p:spPr>
      </p:pic>
    </p:spTree>
    <p:extLst>
      <p:ext uri="{BB962C8B-B14F-4D97-AF65-F5344CB8AC3E}">
        <p14:creationId xmlns:p14="http://schemas.microsoft.com/office/powerpoint/2010/main" val="1828920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003176" y="426127"/>
            <a:ext cx="9863745" cy="1248669"/>
          </a:xfrm>
        </p:spPr>
        <p:txBody>
          <a:bodyPr>
            <a:normAutofit/>
          </a:bodyPr>
          <a:lstStyle/>
          <a:p>
            <a:pPr marL="0" indent="0">
              <a:buNone/>
            </a:pPr>
            <a:r>
              <a:rPr lang="ru-RU" sz="2600" dirty="0"/>
              <a:t>Структурная схема технологического процесса изготовления толстопленочных ГИС</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11</a:t>
            </a:fld>
            <a:endParaRPr lang="ru-RU"/>
          </a:p>
        </p:txBody>
      </p:sp>
      <p:sp>
        <p:nvSpPr>
          <p:cNvPr id="6" name="Объект 2">
            <a:extLst>
              <a:ext uri="{FF2B5EF4-FFF2-40B4-BE49-F238E27FC236}">
                <a16:creationId xmlns:a16="http://schemas.microsoft.com/office/drawing/2014/main" id="{8E9F02DA-C7B5-4090-A873-48925F08241B}"/>
              </a:ext>
            </a:extLst>
          </p:cNvPr>
          <p:cNvSpPr txBox="1">
            <a:spLocks/>
          </p:cNvSpPr>
          <p:nvPr/>
        </p:nvSpPr>
        <p:spPr>
          <a:xfrm>
            <a:off x="7641788" y="3158231"/>
            <a:ext cx="3341788" cy="5415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Font typeface="Arial" pitchFamily="34" charset="0"/>
              <a:buNone/>
            </a:pPr>
            <a:endParaRPr lang="ru-RU" dirty="0"/>
          </a:p>
        </p:txBody>
      </p:sp>
      <p:sp>
        <p:nvSpPr>
          <p:cNvPr id="21" name="Объект 2">
            <a:extLst>
              <a:ext uri="{FF2B5EF4-FFF2-40B4-BE49-F238E27FC236}">
                <a16:creationId xmlns:a16="http://schemas.microsoft.com/office/drawing/2014/main" id="{6CAA2087-0B4C-46B5-88C8-B1F87D1F5BD2}"/>
              </a:ext>
            </a:extLst>
          </p:cNvPr>
          <p:cNvSpPr txBox="1">
            <a:spLocks/>
          </p:cNvSpPr>
          <p:nvPr/>
        </p:nvSpPr>
        <p:spPr>
          <a:xfrm>
            <a:off x="7018620" y="4494999"/>
            <a:ext cx="3685273" cy="541145"/>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lgn="ctr">
              <a:buFont typeface="Arial" pitchFamily="34" charset="0"/>
              <a:buNone/>
            </a:pPr>
            <a:endParaRPr lang="ru-RU" sz="1600" dirty="0"/>
          </a:p>
        </p:txBody>
      </p:sp>
      <p:pic>
        <p:nvPicPr>
          <p:cNvPr id="28" name="Рисунок 27">
            <a:extLst>
              <a:ext uri="{FF2B5EF4-FFF2-40B4-BE49-F238E27FC236}">
                <a16:creationId xmlns:a16="http://schemas.microsoft.com/office/drawing/2014/main" id="{78B16F96-ED04-49E7-8F14-C4024485CE77}"/>
              </a:ext>
            </a:extLst>
          </p:cNvPr>
          <p:cNvPicPr/>
          <p:nvPr/>
        </p:nvPicPr>
        <p:blipFill rotWithShape="1">
          <a:blip r:embed="rId2"/>
          <a:srcRect b="6195"/>
          <a:stretch/>
        </p:blipFill>
        <p:spPr>
          <a:xfrm>
            <a:off x="3234088" y="1260909"/>
            <a:ext cx="5486398" cy="5505016"/>
          </a:xfrm>
          <a:prstGeom prst="rect">
            <a:avLst/>
          </a:prstGeom>
        </p:spPr>
      </p:pic>
    </p:spTree>
    <p:extLst>
      <p:ext uri="{BB962C8B-B14F-4D97-AF65-F5344CB8AC3E}">
        <p14:creationId xmlns:p14="http://schemas.microsoft.com/office/powerpoint/2010/main" val="245636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85630A98-85C5-4AC1-9C08-24F69CD41CB8}"/>
              </a:ext>
            </a:extLst>
          </p:cNvPr>
          <p:cNvSpPr>
            <a:spLocks noGrp="1"/>
          </p:cNvSpPr>
          <p:nvPr>
            <p:ph idx="1"/>
          </p:nvPr>
        </p:nvSpPr>
        <p:spPr>
          <a:xfrm>
            <a:off x="1208606" y="426128"/>
            <a:ext cx="8595360" cy="5974672"/>
          </a:xfrm>
        </p:spPr>
        <p:txBody>
          <a:bodyPr>
            <a:normAutofit/>
          </a:bodyPr>
          <a:lstStyle/>
          <a:p>
            <a:pPr marL="0" indent="0">
              <a:buNone/>
            </a:pPr>
            <a:r>
              <a:rPr lang="ru-RU" dirty="0"/>
              <a:t>Список литературы</a:t>
            </a:r>
          </a:p>
          <a:p>
            <a:pPr marL="0" indent="0">
              <a:buNone/>
            </a:pPr>
            <a:r>
              <a:rPr lang="ru-RU" dirty="0"/>
              <a:t>1. Конструирование и технология микросхем. </a:t>
            </a:r>
            <a:r>
              <a:rPr lang="ru-RU" dirty="0" err="1"/>
              <a:t>Коледов</a:t>
            </a:r>
            <a:r>
              <a:rPr lang="ru-RU" dirty="0"/>
              <a:t> Л.А., Волков В.А., Докучаев Н.И. и др.</a:t>
            </a:r>
            <a:r>
              <a:rPr lang="en-US" dirty="0"/>
              <a:t>; </a:t>
            </a:r>
            <a:r>
              <a:rPr lang="ru-RU" dirty="0"/>
              <a:t>Под ред. Л.А. </a:t>
            </a:r>
            <a:r>
              <a:rPr lang="ru-RU" dirty="0" err="1"/>
              <a:t>Коледова</a:t>
            </a:r>
            <a:r>
              <a:rPr lang="ru-RU" dirty="0"/>
              <a:t>. – М.: </a:t>
            </a:r>
            <a:r>
              <a:rPr lang="ru-RU" dirty="0" err="1"/>
              <a:t>Высш</a:t>
            </a:r>
            <a:r>
              <a:rPr lang="ru-RU" dirty="0"/>
              <a:t>. </a:t>
            </a:r>
            <a:r>
              <a:rPr lang="ru-RU" dirty="0" err="1"/>
              <a:t>шк</a:t>
            </a:r>
            <a:r>
              <a:rPr lang="ru-RU" dirty="0"/>
              <a:t>., 1984. 231 с., ил.</a:t>
            </a:r>
          </a:p>
          <a:p>
            <a:pPr marL="0" indent="0">
              <a:buNone/>
            </a:pPr>
            <a:r>
              <a:rPr lang="ru-RU" dirty="0"/>
              <a:t>2. Технология тонких пленок (справочник). Под ед. Л. </a:t>
            </a:r>
            <a:r>
              <a:rPr lang="ru-RU" dirty="0" err="1"/>
              <a:t>Майссела</a:t>
            </a:r>
            <a:r>
              <a:rPr lang="ru-RU" dirty="0"/>
              <a:t>, Р. </a:t>
            </a:r>
            <a:r>
              <a:rPr lang="ru-RU" dirty="0" err="1"/>
              <a:t>Глэнга</a:t>
            </a:r>
            <a:r>
              <a:rPr lang="ru-RU" dirty="0"/>
              <a:t>. Нью-Йорк. 1970. Пер. с англ. Под ред. М. И. </a:t>
            </a:r>
            <a:r>
              <a:rPr lang="ru-RU" dirty="0" err="1"/>
              <a:t>Елинсона</a:t>
            </a:r>
            <a:r>
              <a:rPr lang="ru-RU" dirty="0"/>
              <a:t>, Г. Г. </a:t>
            </a:r>
            <a:r>
              <a:rPr lang="ru-RU" dirty="0" err="1"/>
              <a:t>Смолко</a:t>
            </a:r>
            <a:r>
              <a:rPr lang="ru-RU" dirty="0"/>
              <a:t>, М., «Сов. радио», 1977, 664 с.</a:t>
            </a:r>
          </a:p>
        </p:txBody>
      </p:sp>
      <p:sp>
        <p:nvSpPr>
          <p:cNvPr id="4" name="Номер слайда 3">
            <a:extLst>
              <a:ext uri="{FF2B5EF4-FFF2-40B4-BE49-F238E27FC236}">
                <a16:creationId xmlns:a16="http://schemas.microsoft.com/office/drawing/2014/main" id="{DDBFB7AF-0F0E-4346-B556-07ADA0C95CF7}"/>
              </a:ext>
            </a:extLst>
          </p:cNvPr>
          <p:cNvSpPr>
            <a:spLocks noGrp="1"/>
          </p:cNvSpPr>
          <p:nvPr>
            <p:ph type="sldNum" sz="quarter" idx="12"/>
          </p:nvPr>
        </p:nvSpPr>
        <p:spPr/>
        <p:txBody>
          <a:bodyPr>
            <a:normAutofit lnSpcReduction="10000"/>
          </a:bodyPr>
          <a:lstStyle/>
          <a:p>
            <a:fld id="{DB84FAFC-C53C-4EBF-83F0-2A5A236E3751}" type="slidenum">
              <a:rPr lang="ru-RU" smtClean="0"/>
              <a:t>12</a:t>
            </a:fld>
            <a:endParaRPr lang="ru-RU"/>
          </a:p>
        </p:txBody>
      </p:sp>
    </p:spTree>
    <p:extLst>
      <p:ext uri="{BB962C8B-B14F-4D97-AF65-F5344CB8AC3E}">
        <p14:creationId xmlns:p14="http://schemas.microsoft.com/office/powerpoint/2010/main" val="2831900456"/>
      </p:ext>
    </p:extLst>
  </p:cSld>
  <p:clrMapOvr>
    <a:masterClrMapping/>
  </p:clrMapOvr>
</p:sld>
</file>

<file path=ppt/theme/theme1.xml><?xml version="1.0" encoding="utf-8"?>
<a:theme xmlns:a="http://schemas.openxmlformats.org/drawingml/2006/main" name="Вид">
  <a:themeElements>
    <a:clrScheme name="Вид">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Вид">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Вид">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Вид</Template>
  <TotalTime>1197</TotalTime>
  <Words>1119</Words>
  <Application>Microsoft Office PowerPoint</Application>
  <PresentationFormat>Широкоэкранный</PresentationFormat>
  <Paragraphs>80</Paragraphs>
  <Slides>12</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12</vt:i4>
      </vt:variant>
    </vt:vector>
  </HeadingPairs>
  <TitlesOfParts>
    <vt:vector size="19" baseType="lpstr">
      <vt:lpstr>Arial</vt:lpstr>
      <vt:lpstr>Calibri</vt:lpstr>
      <vt:lpstr>Century Schoolbook</vt:lpstr>
      <vt:lpstr>Century Schoolbook (Основной текст)</vt:lpstr>
      <vt:lpstr>Times New Roman</vt:lpstr>
      <vt:lpstr>Wingdings 2</vt:lpstr>
      <vt:lpstr>Вид</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Савелий Вепринцев</dc:creator>
  <cp:lastModifiedBy>Дмитрий Субботин</cp:lastModifiedBy>
  <cp:revision>153</cp:revision>
  <dcterms:created xsi:type="dcterms:W3CDTF">2025-09-20T11:42:41Z</dcterms:created>
  <dcterms:modified xsi:type="dcterms:W3CDTF">2026-10-13T19:45:38Z</dcterms:modified>
</cp:coreProperties>
</file>