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sldIdLst>
    <p:sldId id="436" r:id="rId2"/>
    <p:sldId id="435" r:id="rId3"/>
    <p:sldId id="437" r:id="rId4"/>
    <p:sldId id="438" r:id="rId5"/>
    <p:sldId id="439" r:id="rId6"/>
    <p:sldId id="440" r:id="rId7"/>
    <p:sldId id="441" r:id="rId8"/>
    <p:sldId id="442" r:id="rId9"/>
    <p:sldId id="443" r:id="rId10"/>
    <p:sldId id="446" r:id="rId11"/>
    <p:sldId id="445" r:id="rId12"/>
    <p:sldId id="444" r:id="rId13"/>
    <p:sldId id="451" r:id="rId14"/>
    <p:sldId id="450" r:id="rId15"/>
    <p:sldId id="449" r:id="rId16"/>
    <p:sldId id="456" r:id="rId17"/>
    <p:sldId id="455" r:id="rId18"/>
    <p:sldId id="454" r:id="rId19"/>
    <p:sldId id="453" r:id="rId20"/>
    <p:sldId id="452" r:id="rId21"/>
    <p:sldId id="448" r:id="rId22"/>
    <p:sldId id="459" r:id="rId23"/>
    <p:sldId id="463" r:id="rId24"/>
    <p:sldId id="462" r:id="rId25"/>
    <p:sldId id="461" r:id="rId26"/>
    <p:sldId id="460" r:id="rId27"/>
    <p:sldId id="458" r:id="rId28"/>
    <p:sldId id="457" r:id="rId29"/>
    <p:sldId id="468" r:id="rId30"/>
    <p:sldId id="465" r:id="rId31"/>
    <p:sldId id="467" r:id="rId32"/>
    <p:sldId id="466" r:id="rId33"/>
  </p:sldIdLst>
  <p:sldSz cx="12192000" cy="6858000"/>
  <p:notesSz cx="6797675" cy="9926638"/>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66" d="100"/>
          <a:sy n="66" d="100"/>
        </p:scale>
        <p:origin x="576" y="7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p:cNvSpPr>
            <a:spLocks noGrp="1"/>
          </p:cNvSpPr>
          <p:nvPr>
            <p:ph type="dt" sz="half" idx="10"/>
          </p:nvPr>
        </p:nvSpPr>
        <p:spPr/>
        <p:txBody>
          <a:bodyPr/>
          <a:lstStyle/>
          <a:p>
            <a:fld id="{1C5E73EE-4368-447C-9366-BCD491A3307C}" type="datetimeFigureOut">
              <a:rPr lang="ru-RU" smtClean="0"/>
              <a:t>24.06.2026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88BA643E-3F5E-40B0-8B70-0C32BA587BDE}" type="slidenum">
              <a:rPr lang="ru-RU" smtClean="0"/>
              <a:t>‹#›</a:t>
            </a:fld>
            <a:endParaRPr lang="ru-RU"/>
          </a:p>
        </p:txBody>
      </p:sp>
    </p:spTree>
    <p:extLst>
      <p:ext uri="{BB962C8B-B14F-4D97-AF65-F5344CB8AC3E}">
        <p14:creationId xmlns:p14="http://schemas.microsoft.com/office/powerpoint/2010/main" val="4122828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1C5E73EE-4368-447C-9366-BCD491A3307C}" type="datetimeFigureOut">
              <a:rPr lang="ru-RU" smtClean="0"/>
              <a:t>24.06.2026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88BA643E-3F5E-40B0-8B70-0C32BA587BDE}" type="slidenum">
              <a:rPr lang="ru-RU" smtClean="0"/>
              <a:t>‹#›</a:t>
            </a:fld>
            <a:endParaRPr lang="ru-RU"/>
          </a:p>
        </p:txBody>
      </p:sp>
    </p:spTree>
    <p:extLst>
      <p:ext uri="{BB962C8B-B14F-4D97-AF65-F5344CB8AC3E}">
        <p14:creationId xmlns:p14="http://schemas.microsoft.com/office/powerpoint/2010/main" val="33168477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1C5E73EE-4368-447C-9366-BCD491A3307C}" type="datetimeFigureOut">
              <a:rPr lang="ru-RU" smtClean="0"/>
              <a:t>24.06.2026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88BA643E-3F5E-40B0-8B70-0C32BA587BDE}" type="slidenum">
              <a:rPr lang="ru-RU" smtClean="0"/>
              <a:t>‹#›</a:t>
            </a:fld>
            <a:endParaRPr lang="ru-RU"/>
          </a:p>
        </p:txBody>
      </p:sp>
    </p:spTree>
    <p:extLst>
      <p:ext uri="{BB962C8B-B14F-4D97-AF65-F5344CB8AC3E}">
        <p14:creationId xmlns:p14="http://schemas.microsoft.com/office/powerpoint/2010/main" val="3928634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1C5E73EE-4368-447C-9366-BCD491A3307C}" type="datetimeFigureOut">
              <a:rPr lang="ru-RU" smtClean="0"/>
              <a:t>24.06.2026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88BA643E-3F5E-40B0-8B70-0C32BA587BDE}" type="slidenum">
              <a:rPr lang="ru-RU" smtClean="0"/>
              <a:t>‹#›</a:t>
            </a:fld>
            <a:endParaRPr lang="ru-RU"/>
          </a:p>
        </p:txBody>
      </p:sp>
    </p:spTree>
    <p:extLst>
      <p:ext uri="{BB962C8B-B14F-4D97-AF65-F5344CB8AC3E}">
        <p14:creationId xmlns:p14="http://schemas.microsoft.com/office/powerpoint/2010/main" val="2048097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1C5E73EE-4368-447C-9366-BCD491A3307C}" type="datetimeFigureOut">
              <a:rPr lang="ru-RU" smtClean="0"/>
              <a:t>24.06.2026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88BA643E-3F5E-40B0-8B70-0C32BA587BDE}" type="slidenum">
              <a:rPr lang="ru-RU" smtClean="0"/>
              <a:t>‹#›</a:t>
            </a:fld>
            <a:endParaRPr lang="ru-RU"/>
          </a:p>
        </p:txBody>
      </p:sp>
    </p:spTree>
    <p:extLst>
      <p:ext uri="{BB962C8B-B14F-4D97-AF65-F5344CB8AC3E}">
        <p14:creationId xmlns:p14="http://schemas.microsoft.com/office/powerpoint/2010/main" val="622879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1C5E73EE-4368-447C-9366-BCD491A3307C}" type="datetimeFigureOut">
              <a:rPr lang="ru-RU" smtClean="0"/>
              <a:t>24.06.2026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88BA643E-3F5E-40B0-8B70-0C32BA587BDE}" type="slidenum">
              <a:rPr lang="ru-RU" smtClean="0"/>
              <a:t>‹#›</a:t>
            </a:fld>
            <a:endParaRPr lang="ru-RU"/>
          </a:p>
        </p:txBody>
      </p:sp>
    </p:spTree>
    <p:extLst>
      <p:ext uri="{BB962C8B-B14F-4D97-AF65-F5344CB8AC3E}">
        <p14:creationId xmlns:p14="http://schemas.microsoft.com/office/powerpoint/2010/main" val="2386368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1C5E73EE-4368-447C-9366-BCD491A3307C}" type="datetimeFigureOut">
              <a:rPr lang="ru-RU" smtClean="0"/>
              <a:t>24.06.2026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88BA643E-3F5E-40B0-8B70-0C32BA587BDE}" type="slidenum">
              <a:rPr lang="ru-RU" smtClean="0"/>
              <a:t>‹#›</a:t>
            </a:fld>
            <a:endParaRPr lang="ru-RU"/>
          </a:p>
        </p:txBody>
      </p:sp>
    </p:spTree>
    <p:extLst>
      <p:ext uri="{BB962C8B-B14F-4D97-AF65-F5344CB8AC3E}">
        <p14:creationId xmlns:p14="http://schemas.microsoft.com/office/powerpoint/2010/main" val="9865415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1C5E73EE-4368-447C-9366-BCD491A3307C}" type="datetimeFigureOut">
              <a:rPr lang="ru-RU" smtClean="0"/>
              <a:t>24.06.2026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88BA643E-3F5E-40B0-8B70-0C32BA587BDE}" type="slidenum">
              <a:rPr lang="ru-RU" smtClean="0"/>
              <a:t>‹#›</a:t>
            </a:fld>
            <a:endParaRPr lang="ru-RU"/>
          </a:p>
        </p:txBody>
      </p:sp>
    </p:spTree>
    <p:extLst>
      <p:ext uri="{BB962C8B-B14F-4D97-AF65-F5344CB8AC3E}">
        <p14:creationId xmlns:p14="http://schemas.microsoft.com/office/powerpoint/2010/main" val="2285580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1C5E73EE-4368-447C-9366-BCD491A3307C}" type="datetimeFigureOut">
              <a:rPr lang="ru-RU" smtClean="0"/>
              <a:t>24.06.2026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88BA643E-3F5E-40B0-8B70-0C32BA587BDE}" type="slidenum">
              <a:rPr lang="ru-RU" smtClean="0"/>
              <a:t>‹#›</a:t>
            </a:fld>
            <a:endParaRPr lang="ru-RU"/>
          </a:p>
        </p:txBody>
      </p:sp>
    </p:spTree>
    <p:extLst>
      <p:ext uri="{BB962C8B-B14F-4D97-AF65-F5344CB8AC3E}">
        <p14:creationId xmlns:p14="http://schemas.microsoft.com/office/powerpoint/2010/main" val="4223979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1C5E73EE-4368-447C-9366-BCD491A3307C}" type="datetimeFigureOut">
              <a:rPr lang="ru-RU" smtClean="0"/>
              <a:t>24.06.2026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88BA643E-3F5E-40B0-8B70-0C32BA587BDE}" type="slidenum">
              <a:rPr lang="ru-RU" smtClean="0"/>
              <a:t>‹#›</a:t>
            </a:fld>
            <a:endParaRPr lang="ru-RU"/>
          </a:p>
        </p:txBody>
      </p:sp>
    </p:spTree>
    <p:extLst>
      <p:ext uri="{BB962C8B-B14F-4D97-AF65-F5344CB8AC3E}">
        <p14:creationId xmlns:p14="http://schemas.microsoft.com/office/powerpoint/2010/main" val="34464392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1C5E73EE-4368-447C-9366-BCD491A3307C}" type="datetimeFigureOut">
              <a:rPr lang="ru-RU" smtClean="0"/>
              <a:t>24.06.2026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88BA643E-3F5E-40B0-8B70-0C32BA587BDE}" type="slidenum">
              <a:rPr lang="ru-RU" smtClean="0"/>
              <a:t>‹#›</a:t>
            </a:fld>
            <a:endParaRPr lang="ru-RU"/>
          </a:p>
        </p:txBody>
      </p:sp>
    </p:spTree>
    <p:extLst>
      <p:ext uri="{BB962C8B-B14F-4D97-AF65-F5344CB8AC3E}">
        <p14:creationId xmlns:p14="http://schemas.microsoft.com/office/powerpoint/2010/main" val="18979402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5E73EE-4368-447C-9366-BCD491A3307C}" type="datetimeFigureOut">
              <a:rPr lang="ru-RU" smtClean="0"/>
              <a:t>24.06.2026</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BA643E-3F5E-40B0-8B70-0C32BA587BDE}" type="slidenum">
              <a:rPr lang="ru-RU" smtClean="0"/>
              <a:t>‹#›</a:t>
            </a:fld>
            <a:endParaRPr lang="ru-RU"/>
          </a:p>
        </p:txBody>
      </p:sp>
    </p:spTree>
    <p:extLst>
      <p:ext uri="{BB962C8B-B14F-4D97-AF65-F5344CB8AC3E}">
        <p14:creationId xmlns:p14="http://schemas.microsoft.com/office/powerpoint/2010/main" val="432485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28.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938528" y="1412687"/>
            <a:ext cx="7924800" cy="1723933"/>
          </a:xfrm>
          <a:prstGeom prst="rect">
            <a:avLst/>
          </a:prstGeom>
        </p:spPr>
        <p:txBody>
          <a:bodyPr wrap="square">
            <a:spAutoFit/>
          </a:bodyPr>
          <a:lstStyle/>
          <a:p>
            <a:pPr algn="ctr"/>
            <a:r>
              <a:rPr lang="ru-RU" sz="2400" b="1" dirty="0" smtClean="0">
                <a:latin typeface="Times New Roman" panose="02020603050405020304" pitchFamily="18" charset="0"/>
                <a:cs typeface="Times New Roman" panose="02020603050405020304" pitchFamily="18" charset="0"/>
              </a:rPr>
              <a:t>Лекция 3. </a:t>
            </a:r>
            <a:endParaRPr lang="en-US" sz="2400" b="1" dirty="0" smtClean="0">
              <a:latin typeface="Times New Roman" panose="02020603050405020304" pitchFamily="18" charset="0"/>
              <a:cs typeface="Times New Roman" panose="02020603050405020304" pitchFamily="18" charset="0"/>
            </a:endParaRPr>
          </a:p>
          <a:p>
            <a:pPr algn="ctr"/>
            <a:endParaRPr lang="en-US" sz="2400" b="1" dirty="0" smtClean="0">
              <a:latin typeface="Times New Roman" panose="02020603050405020304" pitchFamily="18" charset="0"/>
              <a:cs typeface="Times New Roman" panose="02020603050405020304" pitchFamily="18" charset="0"/>
            </a:endParaRPr>
          </a:p>
          <a:p>
            <a:pPr algn="ctr">
              <a:lnSpc>
                <a:spcPct val="107000"/>
              </a:lnSpc>
              <a:spcAft>
                <a:spcPts val="800"/>
              </a:spcAft>
            </a:pPr>
            <a:r>
              <a:rPr lang="ru-RU" sz="2400" dirty="0" smtClean="0">
                <a:latin typeface="Times New Roman" panose="02020603050405020304" pitchFamily="18" charset="0"/>
                <a:ea typeface="Calibri" panose="020F0502020204030204" pitchFamily="34" charset="0"/>
                <a:cs typeface="Calibri" panose="020F0502020204030204" pitchFamily="34" charset="0"/>
              </a:rPr>
              <a:t>Устройства приема и преобразования сигналов РЛ6-81</a:t>
            </a:r>
          </a:p>
          <a:p>
            <a:pPr algn="ctr">
              <a:lnSpc>
                <a:spcPct val="107000"/>
              </a:lnSpc>
              <a:spcAft>
                <a:spcPts val="800"/>
              </a:spcAft>
            </a:pPr>
            <a:r>
              <a:rPr lang="ru-RU" sz="2400" b="1" dirty="0" smtClean="0">
                <a:latin typeface="Times New Roman" panose="02020603050405020304" pitchFamily="18" charset="0"/>
                <a:ea typeface="Calibri" panose="020F0502020204030204" pitchFamily="34" charset="0"/>
                <a:cs typeface="Calibri" panose="020F0502020204030204" pitchFamily="34" charset="0"/>
              </a:rPr>
              <a:t>Входные цепи радиоприемника</a:t>
            </a:r>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354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659028" y="851755"/>
            <a:ext cx="11170508" cy="1938992"/>
          </a:xfrm>
          <a:prstGeom prst="rect">
            <a:avLst/>
          </a:prstGeom>
        </p:spPr>
        <p:txBody>
          <a:bodyPr wrap="square">
            <a:spAutoFit/>
          </a:bodyPr>
          <a:lstStyle/>
          <a:p>
            <a:pPr algn="ctr"/>
            <a:r>
              <a:rPr lang="ru-RU" sz="2000" dirty="0">
                <a:latin typeface="Times New Roman" panose="02020603050405020304" pitchFamily="18" charset="0"/>
                <a:cs typeface="Times New Roman" panose="02020603050405020304" pitchFamily="18" charset="0"/>
              </a:rPr>
              <a:t>Литература</a:t>
            </a:r>
          </a:p>
          <a:p>
            <a:endParaRPr lang="ru-RU" sz="2000" dirty="0">
              <a:latin typeface="Times New Roman" panose="02020603050405020304" pitchFamily="18" charset="0"/>
              <a:cs typeface="Times New Roman" panose="02020603050405020304" pitchFamily="18" charset="0"/>
            </a:endParaRPr>
          </a:p>
          <a:p>
            <a:pPr marL="457200" indent="-457200">
              <a:buAutoNum type="arabicPeriod"/>
            </a:pPr>
            <a:r>
              <a:rPr lang="ru-RU" sz="2000" dirty="0" smtClean="0">
                <a:latin typeface="Times New Roman" panose="02020603050405020304" pitchFamily="18" charset="0"/>
                <a:cs typeface="Times New Roman" panose="02020603050405020304" pitchFamily="18" charset="0"/>
              </a:rPr>
              <a:t>Розанов Б.А. Приемники радиосистем. Конспект лекций</a:t>
            </a:r>
            <a:endParaRPr lang="ru-RU" sz="2000" dirty="0">
              <a:latin typeface="Times New Roman" panose="02020603050405020304" pitchFamily="18" charset="0"/>
              <a:cs typeface="Times New Roman" panose="02020603050405020304" pitchFamily="18" charset="0"/>
            </a:endParaRPr>
          </a:p>
          <a:p>
            <a:pPr marL="457200" indent="-457200">
              <a:buAutoNum type="arabicPeriod"/>
            </a:pPr>
            <a:r>
              <a:rPr lang="ru-RU" sz="2000" dirty="0">
                <a:latin typeface="Times New Roman" panose="02020603050405020304" pitchFamily="18" charset="0"/>
                <a:cs typeface="Times New Roman" panose="02020603050405020304" pitchFamily="18" charset="0"/>
              </a:rPr>
              <a:t>Фомин Н.Н., Буга Н.Н., Головин О.В. и др. Радиоприемные устройства. Под ред. </a:t>
            </a:r>
            <a:r>
              <a:rPr lang="ru-RU" sz="2000" dirty="0" err="1" smtClean="0">
                <a:latin typeface="Times New Roman" panose="02020603050405020304" pitchFamily="18" charset="0"/>
                <a:cs typeface="Times New Roman" panose="02020603050405020304" pitchFamily="18" charset="0"/>
              </a:rPr>
              <a:t>Н.Н.Фомина</a:t>
            </a:r>
            <a:endParaRPr lang="ru-RU" sz="2000" dirty="0" smtClean="0">
              <a:latin typeface="Times New Roman" panose="02020603050405020304" pitchFamily="18" charset="0"/>
              <a:cs typeface="Times New Roman" panose="02020603050405020304" pitchFamily="18" charset="0"/>
            </a:endParaRPr>
          </a:p>
          <a:p>
            <a:pPr marL="457200" indent="-457200">
              <a:buAutoNum type="arabicPeriod"/>
            </a:pPr>
            <a:r>
              <a:rPr lang="ru-RU" sz="2000" dirty="0">
                <a:latin typeface="Times New Roman" panose="02020603050405020304" pitchFamily="18" charset="0"/>
                <a:cs typeface="Times New Roman" panose="02020603050405020304" pitchFamily="18" charset="0"/>
              </a:rPr>
              <a:t>Радиоприемные устройства под ред. Л.Г. </a:t>
            </a:r>
            <a:r>
              <a:rPr lang="ru-RU" sz="2000" dirty="0" err="1">
                <a:latin typeface="Times New Roman" panose="02020603050405020304" pitchFamily="18" charset="0"/>
                <a:cs typeface="Times New Roman" panose="02020603050405020304" pitchFamily="18" charset="0"/>
              </a:rPr>
              <a:t>Барулина</a:t>
            </a:r>
            <a:r>
              <a:rPr lang="ru-RU" sz="2000" dirty="0">
                <a:latin typeface="Times New Roman" panose="02020603050405020304" pitchFamily="18" charset="0"/>
                <a:cs typeface="Times New Roman" panose="02020603050405020304" pitchFamily="18" charset="0"/>
              </a:rPr>
              <a:t>, </a:t>
            </a:r>
            <a:r>
              <a:rPr lang="ru-RU" sz="2000" dirty="0" smtClean="0">
                <a:latin typeface="Times New Roman" panose="02020603050405020304" pitchFamily="18" charset="0"/>
                <a:cs typeface="Times New Roman" panose="02020603050405020304" pitchFamily="18" charset="0"/>
              </a:rPr>
              <a:t>1984</a:t>
            </a:r>
          </a:p>
          <a:p>
            <a:pPr marL="457200" indent="-457200">
              <a:buAutoNum type="arabicPeriod"/>
            </a:pPr>
            <a:r>
              <a:rPr lang="ru-RU" sz="2000" dirty="0">
                <a:latin typeface="Times New Roman" panose="02020603050405020304" pitchFamily="18" charset="0"/>
                <a:cs typeface="Times New Roman" panose="02020603050405020304" pitchFamily="18" charset="0"/>
              </a:rPr>
              <a:t>Пушкарев В.П</a:t>
            </a:r>
            <a:r>
              <a:rPr lang="ru-RU" sz="2000" dirty="0" smtClean="0">
                <a:latin typeface="Times New Roman" panose="02020603050405020304" pitchFamily="18" charset="0"/>
                <a:cs typeface="Times New Roman" panose="02020603050405020304" pitchFamily="18" charset="0"/>
              </a:rPr>
              <a:t>. Устройства </a:t>
            </a:r>
            <a:r>
              <a:rPr lang="ru-RU" sz="2000" dirty="0">
                <a:latin typeface="Times New Roman" panose="02020603050405020304" pitchFamily="18" charset="0"/>
                <a:cs typeface="Times New Roman" panose="02020603050405020304" pitchFamily="18" charset="0"/>
              </a:rPr>
              <a:t>приема и обработки </a:t>
            </a:r>
            <a:r>
              <a:rPr lang="ru-RU" sz="2000" dirty="0" smtClean="0">
                <a:latin typeface="Times New Roman" panose="02020603050405020304" pitchFamily="18" charset="0"/>
                <a:cs typeface="Times New Roman" panose="02020603050405020304" pitchFamily="18" charset="0"/>
              </a:rPr>
              <a:t>сигналов, 2012</a:t>
            </a:r>
            <a:endParaRPr lang="ru-RU"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037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1660735" y="533011"/>
            <a:ext cx="7924800" cy="5840125"/>
          </a:xfrm>
          <a:prstGeom prst="rect">
            <a:avLst/>
          </a:prstGeom>
        </p:spPr>
        <p:txBody>
          <a:bodyPr wrap="square">
            <a:spAutoFit/>
          </a:bodyPr>
          <a:lstStyle/>
          <a:p>
            <a:pPr>
              <a:lnSpc>
                <a:spcPct val="107000"/>
              </a:lnSpc>
              <a:spcAft>
                <a:spcPts val="800"/>
              </a:spcAft>
            </a:pPr>
            <a:r>
              <a:rPr lang="ru-RU" b="1" dirty="0">
                <a:latin typeface="Times New Roman" panose="02020603050405020304" pitchFamily="18" charset="0"/>
                <a:ea typeface="Calibri" panose="020F0502020204030204" pitchFamily="34" charset="0"/>
                <a:cs typeface="Calibri" panose="020F0502020204030204" pitchFamily="34" charset="0"/>
              </a:rPr>
              <a:t>3.1. Назначение, структура и классификация входных цепей</a:t>
            </a:r>
            <a:endParaRPr lang="ru-RU" dirty="0">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800"/>
              </a:spcAft>
            </a:pPr>
            <a:r>
              <a:rPr lang="ru-RU" i="1" dirty="0">
                <a:latin typeface="Times New Roman" panose="02020603050405020304" pitchFamily="18" charset="0"/>
                <a:ea typeface="Calibri" panose="020F0502020204030204" pitchFamily="34" charset="0"/>
                <a:cs typeface="Calibri" panose="020F0502020204030204" pitchFamily="34" charset="0"/>
              </a:rPr>
              <a:t>Входная цепь </a:t>
            </a:r>
            <a:r>
              <a:rPr lang="ru-RU" dirty="0">
                <a:latin typeface="Times New Roman" panose="02020603050405020304" pitchFamily="18" charset="0"/>
                <a:ea typeface="Calibri" panose="020F0502020204030204" pitchFamily="34" charset="0"/>
                <a:cs typeface="Calibri" panose="020F0502020204030204" pitchFamily="34" charset="0"/>
              </a:rPr>
              <a:t>предназначена для селективной передачи сигнала из антенны на вход первого каскада приемника с наименьшими потерями и искажениями.</a:t>
            </a:r>
          </a:p>
          <a:p>
            <a:pPr algn="just">
              <a:lnSpc>
                <a:spcPct val="107000"/>
              </a:lnSpc>
              <a:spcAft>
                <a:spcPts val="800"/>
              </a:spcAft>
            </a:pPr>
            <a:r>
              <a:rPr lang="ru-RU" dirty="0">
                <a:latin typeface="Times New Roman" panose="02020603050405020304" pitchFamily="18" charset="0"/>
                <a:ea typeface="Calibri" panose="020F0502020204030204" pitchFamily="34" charset="0"/>
                <a:cs typeface="Calibri" panose="020F0502020204030204" pitchFamily="34" charset="0"/>
              </a:rPr>
              <a:t/>
            </a:r>
            <a:br>
              <a:rPr lang="ru-RU" dirty="0">
                <a:latin typeface="Times New Roman" panose="02020603050405020304" pitchFamily="18" charset="0"/>
                <a:ea typeface="Calibri" panose="020F0502020204030204" pitchFamily="34" charset="0"/>
                <a:cs typeface="Calibri" panose="020F0502020204030204" pitchFamily="34" charset="0"/>
              </a:rPr>
            </a:br>
            <a:r>
              <a:rPr lang="ru-RU" dirty="0">
                <a:latin typeface="Times New Roman" panose="02020603050405020304" pitchFamily="18" charset="0"/>
                <a:ea typeface="Calibri" panose="020F0502020204030204" pitchFamily="34" charset="0"/>
                <a:cs typeface="Calibri" panose="020F0502020204030204" pitchFamily="34" charset="0"/>
              </a:rPr>
              <a:t>Входные цепи должны обеспечивать:</a:t>
            </a:r>
          </a:p>
          <a:p>
            <a:pPr algn="just">
              <a:lnSpc>
                <a:spcPct val="107000"/>
              </a:lnSpc>
              <a:spcAft>
                <a:spcPts val="800"/>
              </a:spcAft>
            </a:pPr>
            <a:r>
              <a:rPr lang="ru-RU" dirty="0">
                <a:latin typeface="Times New Roman" panose="02020603050405020304" pitchFamily="18" charset="0"/>
                <a:ea typeface="Calibri" panose="020F0502020204030204" pitchFamily="34" charset="0"/>
                <a:cs typeface="Calibri" panose="020F0502020204030204" pitchFamily="34" charset="0"/>
              </a:rPr>
              <a:t>1.Селективность при действии сильных помех, вызывающих перекрестную модуляцию и другие нелинейные явления;</a:t>
            </a:r>
          </a:p>
          <a:p>
            <a:pPr algn="just">
              <a:lnSpc>
                <a:spcPct val="107000"/>
              </a:lnSpc>
              <a:spcAft>
                <a:spcPts val="800"/>
              </a:spcAft>
            </a:pPr>
            <a:r>
              <a:rPr lang="ru-RU" dirty="0">
                <a:latin typeface="Times New Roman" panose="02020603050405020304" pitchFamily="18" charset="0"/>
                <a:ea typeface="Calibri" panose="020F0502020204030204" pitchFamily="34" charset="0"/>
                <a:cs typeface="Calibri" panose="020F0502020204030204" pitchFamily="34" charset="0"/>
              </a:rPr>
              <a:t>2.Селективность по побочным каналам приема;</a:t>
            </a:r>
          </a:p>
          <a:p>
            <a:pPr algn="just">
              <a:lnSpc>
                <a:spcPct val="107000"/>
              </a:lnSpc>
              <a:spcAft>
                <a:spcPts val="800"/>
              </a:spcAft>
            </a:pPr>
            <a:r>
              <a:rPr lang="ru-RU" dirty="0">
                <a:latin typeface="Times New Roman" panose="02020603050405020304" pitchFamily="18" charset="0"/>
                <a:ea typeface="Calibri" panose="020F0502020204030204" pitchFamily="34" charset="0"/>
                <a:cs typeface="Calibri" panose="020F0502020204030204" pitchFamily="34" charset="0"/>
              </a:rPr>
              <a:t>3.Полосу пропускания, достаточную для неискаженного приема сигнала;</a:t>
            </a:r>
          </a:p>
          <a:p>
            <a:pPr algn="just">
              <a:lnSpc>
                <a:spcPct val="107000"/>
              </a:lnSpc>
              <a:spcAft>
                <a:spcPts val="800"/>
              </a:spcAft>
            </a:pPr>
            <a:r>
              <a:rPr lang="ru-RU" dirty="0">
                <a:latin typeface="Times New Roman" panose="02020603050405020304" pitchFamily="18" charset="0"/>
                <a:ea typeface="Calibri" panose="020F0502020204030204" pitchFamily="34" charset="0"/>
                <a:cs typeface="Calibri" panose="020F0502020204030204" pitchFamily="34" charset="0"/>
              </a:rPr>
              <a:t>4.Минимально возможную величину собственных шумов;</a:t>
            </a:r>
          </a:p>
          <a:p>
            <a:pPr algn="just">
              <a:lnSpc>
                <a:spcPct val="107000"/>
              </a:lnSpc>
              <a:spcAft>
                <a:spcPts val="800"/>
              </a:spcAft>
            </a:pPr>
            <a:r>
              <a:rPr lang="ru-RU" dirty="0">
                <a:latin typeface="Times New Roman" panose="02020603050405020304" pitchFamily="18" charset="0"/>
                <a:ea typeface="Calibri" panose="020F0502020204030204" pitchFamily="34" charset="0"/>
                <a:cs typeface="Calibri" panose="020F0502020204030204" pitchFamily="34" charset="0"/>
              </a:rPr>
              <a:t>5.Максимально возможный коэффициент передачи;</a:t>
            </a:r>
          </a:p>
          <a:p>
            <a:pPr algn="just">
              <a:lnSpc>
                <a:spcPct val="107000"/>
              </a:lnSpc>
              <a:spcAft>
                <a:spcPts val="800"/>
              </a:spcAft>
            </a:pPr>
            <a:r>
              <a:rPr lang="ru-RU" dirty="0">
                <a:latin typeface="Times New Roman" panose="02020603050405020304" pitchFamily="18" charset="0"/>
                <a:ea typeface="Calibri" panose="020F0502020204030204" pitchFamily="34" charset="0"/>
                <a:cs typeface="Calibri" panose="020F0502020204030204" pitchFamily="34" charset="0"/>
              </a:rPr>
              <a:t>6.Слабое влияние изменения параметров антенны на стабильность показателей качества приемника;</a:t>
            </a:r>
          </a:p>
          <a:p>
            <a:pPr algn="just">
              <a:lnSpc>
                <a:spcPct val="107000"/>
              </a:lnSpc>
              <a:spcAft>
                <a:spcPts val="800"/>
              </a:spcAft>
            </a:pPr>
            <a:r>
              <a:rPr lang="ru-RU" dirty="0">
                <a:latin typeface="Times New Roman" panose="02020603050405020304" pitchFamily="18" charset="0"/>
                <a:ea typeface="Calibri" panose="020F0502020204030204" pitchFamily="34" charset="0"/>
                <a:cs typeface="Calibri" panose="020F0502020204030204" pitchFamily="34" charset="0"/>
              </a:rPr>
              <a:t>7.Простоту осуществления перестройки в заданном диапазоне частот в сочетании с надежностью конструкции, малыми габаритами и весом;</a:t>
            </a:r>
          </a:p>
          <a:p>
            <a:pPr algn="just">
              <a:lnSpc>
                <a:spcPct val="107000"/>
              </a:lnSpc>
              <a:spcAft>
                <a:spcPts val="800"/>
              </a:spcAft>
            </a:pPr>
            <a:r>
              <a:rPr lang="ru-RU" dirty="0">
                <a:latin typeface="Times New Roman" panose="02020603050405020304" pitchFamily="18" charset="0"/>
                <a:ea typeface="Calibri" panose="020F0502020204030204" pitchFamily="34" charset="0"/>
                <a:cs typeface="Calibri" panose="020F0502020204030204" pitchFamily="34" charset="0"/>
              </a:rPr>
              <a:t>8.Необходимое постоянство характеристик в диапазоне частот.</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066878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1138178" y="540037"/>
            <a:ext cx="10205012" cy="685059"/>
          </a:xfrm>
          <a:prstGeom prst="rect">
            <a:avLst/>
          </a:prstGeom>
        </p:spPr>
        <p:txBody>
          <a:bodyPr wrap="square">
            <a:spAutoFit/>
          </a:bodyPr>
          <a:lstStyle/>
          <a:p>
            <a:pPr>
              <a:lnSpc>
                <a:spcPct val="107000"/>
              </a:lnSpc>
              <a:spcAft>
                <a:spcPts val="800"/>
              </a:spcAft>
            </a:pPr>
            <a:r>
              <a:rPr lang="ru-RU" dirty="0">
                <a:latin typeface="Times New Roman" panose="02020603050405020304" pitchFamily="18" charset="0"/>
                <a:ea typeface="Calibri" panose="020F0502020204030204" pitchFamily="34" charset="0"/>
                <a:cs typeface="Calibri" panose="020F0502020204030204" pitchFamily="34" charset="0"/>
              </a:rPr>
              <a:t>В соответствии с указанными требованиями структурная схема входной цепи можно представить в виде рисунка</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pic>
        <p:nvPicPr>
          <p:cNvPr id="4" name="Рисунок 3" descr="Изображение выглядит как диаграмма, зарисовка, Технический чертеж, План&#10;&#10;Контент, сгенерированный ИИ, может содержать ошибки."/>
          <p:cNvPicPr/>
          <p:nvPr/>
        </p:nvPicPr>
        <p:blipFill>
          <a:blip r:embed="rId2"/>
          <a:stretch>
            <a:fillRect/>
          </a:stretch>
        </p:blipFill>
        <p:spPr>
          <a:xfrm>
            <a:off x="2707210" y="1025575"/>
            <a:ext cx="7008892" cy="2397776"/>
          </a:xfrm>
          <a:prstGeom prst="rect">
            <a:avLst/>
          </a:prstGeom>
        </p:spPr>
      </p:pic>
      <p:sp>
        <p:nvSpPr>
          <p:cNvPr id="5" name="Прямоугольник 4"/>
          <p:cNvSpPr/>
          <p:nvPr/>
        </p:nvSpPr>
        <p:spPr>
          <a:xfrm>
            <a:off x="3491662" y="3269370"/>
            <a:ext cx="5498044" cy="388696"/>
          </a:xfrm>
          <a:prstGeom prst="rect">
            <a:avLst/>
          </a:prstGeom>
        </p:spPr>
        <p:txBody>
          <a:bodyPr wrap="none">
            <a:spAutoFit/>
          </a:bodyPr>
          <a:lstStyle/>
          <a:p>
            <a:pPr>
              <a:lnSpc>
                <a:spcPct val="107000"/>
              </a:lnSpc>
              <a:spcAft>
                <a:spcPts val="800"/>
              </a:spcAft>
            </a:pPr>
            <a:r>
              <a:rPr lang="ru-RU" dirty="0">
                <a:latin typeface="Times New Roman" panose="02020603050405020304" pitchFamily="18" charset="0"/>
                <a:ea typeface="Calibri" panose="020F0502020204030204" pitchFamily="34" charset="0"/>
                <a:cs typeface="Calibri" panose="020F0502020204030204" pitchFamily="34" charset="0"/>
              </a:rPr>
              <a:t>Структурная схема входной цепи. ЭС –</a:t>
            </a:r>
            <a:r>
              <a:rPr lang="ru-RU" i="1" dirty="0">
                <a:latin typeface="Times New Roman" panose="02020603050405020304" pitchFamily="18" charset="0"/>
                <a:ea typeface="Calibri" panose="020F0502020204030204" pitchFamily="34" charset="0"/>
                <a:cs typeface="Calibri" panose="020F0502020204030204" pitchFamily="34" charset="0"/>
              </a:rPr>
              <a:t> элемент связи</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sp>
        <p:nvSpPr>
          <p:cNvPr id="6" name="Прямоугольник 5"/>
          <p:cNvSpPr/>
          <p:nvPr/>
        </p:nvSpPr>
        <p:spPr>
          <a:xfrm>
            <a:off x="1138177" y="3658066"/>
            <a:ext cx="9649427" cy="923330"/>
          </a:xfrm>
          <a:prstGeom prst="rect">
            <a:avLst/>
          </a:prstGeom>
        </p:spPr>
        <p:txBody>
          <a:bodyPr wrap="square">
            <a:spAutoFit/>
          </a:bodyPr>
          <a:lstStyle/>
          <a:p>
            <a:r>
              <a:rPr lang="ru-RU" dirty="0" smtClean="0">
                <a:latin typeface="Times New Roman" panose="02020603050405020304" pitchFamily="18" charset="0"/>
                <a:ea typeface="Calibri" panose="020F0502020204030204" pitchFamily="34" charset="0"/>
                <a:cs typeface="Calibri" panose="020F0502020204030204" pitchFamily="34" charset="0"/>
              </a:rPr>
              <a:t>Входная цепь состоит из </a:t>
            </a:r>
            <a:r>
              <a:rPr lang="ru-RU" i="1" dirty="0" smtClean="0">
                <a:latin typeface="Times New Roman" panose="02020603050405020304" pitchFamily="18" charset="0"/>
                <a:ea typeface="Calibri" panose="020F0502020204030204" pitchFamily="34" charset="0"/>
                <a:cs typeface="Calibri" panose="020F0502020204030204" pitchFamily="34" charset="0"/>
              </a:rPr>
              <a:t>резонансной системы </a:t>
            </a:r>
            <a:r>
              <a:rPr lang="ru-RU" dirty="0" smtClean="0">
                <a:latin typeface="Times New Roman" panose="02020603050405020304" pitchFamily="18" charset="0"/>
                <a:ea typeface="Calibri" panose="020F0502020204030204" pitchFamily="34" charset="0"/>
                <a:cs typeface="Calibri" panose="020F0502020204030204" pitchFamily="34" charset="0"/>
              </a:rPr>
              <a:t>(при выполнении на сосредоточенных элементах – одиночного колебательного контура или полосового фильтра) и </a:t>
            </a:r>
            <a:r>
              <a:rPr lang="ru-RU" i="1" dirty="0" smtClean="0">
                <a:latin typeface="Times New Roman" panose="02020603050405020304" pitchFamily="18" charset="0"/>
                <a:ea typeface="Calibri" panose="020F0502020204030204" pitchFamily="34" charset="0"/>
                <a:cs typeface="Calibri" panose="020F0502020204030204" pitchFamily="34" charset="0"/>
              </a:rPr>
              <a:t>элемента связи с антенной</a:t>
            </a:r>
            <a:r>
              <a:rPr lang="ru-RU" dirty="0" smtClean="0">
                <a:latin typeface="Times New Roman" panose="02020603050405020304" pitchFamily="18" charset="0"/>
                <a:ea typeface="Calibri" panose="020F0502020204030204" pitchFamily="34" charset="0"/>
                <a:cs typeface="Calibri" panose="020F0502020204030204" pitchFamily="34" charset="0"/>
              </a:rPr>
              <a:t>. Резонансная система обеспечивает селективность при заданной полосе пропускания.</a:t>
            </a:r>
            <a:endParaRPr lang="ru-RU" dirty="0"/>
          </a:p>
        </p:txBody>
      </p:sp>
      <mc:AlternateContent xmlns:mc="http://schemas.openxmlformats.org/markup-compatibility/2006" xmlns:a14="http://schemas.microsoft.com/office/drawing/2010/main">
        <mc:Choice Requires="a14">
          <p:sp>
            <p:nvSpPr>
              <p:cNvPr id="7" name="Прямоугольник 6"/>
              <p:cNvSpPr/>
              <p:nvPr/>
            </p:nvSpPr>
            <p:spPr>
              <a:xfrm>
                <a:off x="1138176" y="4642643"/>
                <a:ext cx="10205013" cy="694357"/>
              </a:xfrm>
              <a:prstGeom prst="rect">
                <a:avLst/>
              </a:prstGeom>
            </p:spPr>
            <p:txBody>
              <a:bodyPr wrap="square">
                <a:spAutoFit/>
              </a:bodyPr>
              <a:lstStyle/>
              <a:p>
                <a:pPr indent="450215" algn="just">
                  <a:lnSpc>
                    <a:spcPct val="107000"/>
                  </a:lnSpc>
                  <a:spcAft>
                    <a:spcPts val="800"/>
                  </a:spcAft>
                </a:pPr>
                <a:r>
                  <a:rPr lang="ru-RU" dirty="0">
                    <a:latin typeface="Times New Roman" panose="02020603050405020304" pitchFamily="18" charset="0"/>
                    <a:ea typeface="Calibri" panose="020F0502020204030204" pitchFamily="34" charset="0"/>
                    <a:cs typeface="Calibri" panose="020F0502020204030204" pitchFamily="34" charset="0"/>
                  </a:rPr>
                  <a:t>Влияние антенны на резонансную систему сводится к внесению в первый контур резонансной системы через элемент связи ЭДС </a:t>
                </a:r>
                <a14:m>
                  <m:oMath xmlns:m="http://schemas.openxmlformats.org/officeDocument/2006/math">
                    <m:acc>
                      <m:accPr>
                        <m:chr m:val="̇"/>
                        <m:ctrlPr>
                          <a:rPr lang="ru-RU" i="1">
                            <a:effectLst/>
                            <a:latin typeface="Cambria Math" panose="02040503050406030204" pitchFamily="18" charset="0"/>
                            <a:ea typeface="Calibri" panose="020F0502020204030204" pitchFamily="34" charset="0"/>
                            <a:cs typeface="Calibri" panose="020F0502020204030204" pitchFamily="34" charset="0"/>
                          </a:rPr>
                        </m:ctrlPr>
                      </m:accPr>
                      <m:e>
                        <m:r>
                          <a:rPr lang="ru-RU" i="1">
                            <a:effectLst/>
                            <a:latin typeface="Cambria Math" panose="02040503050406030204" pitchFamily="18" charset="0"/>
                            <a:ea typeface="Calibri" panose="020F0502020204030204" pitchFamily="34" charset="0"/>
                            <a:cs typeface="Calibri" panose="020F0502020204030204" pitchFamily="34" charset="0"/>
                          </a:rPr>
                          <m:t>𝐸</m:t>
                        </m:r>
                      </m:e>
                    </m:acc>
                  </m:oMath>
                </a14:m>
                <a:r>
                  <a:rPr lang="ru-RU" dirty="0">
                    <a:effectLst/>
                    <a:latin typeface="Times New Roman" panose="02020603050405020304" pitchFamily="18" charset="0"/>
                    <a:ea typeface="Calibri" panose="020F0502020204030204" pitchFamily="34" charset="0"/>
                    <a:cs typeface="Calibri" panose="020F0502020204030204" pitchFamily="34" charset="0"/>
                  </a:rPr>
                  <a:t> и комплексного сопротивления </a:t>
                </a:r>
                <a:r>
                  <a:rPr lang="en-US" i="1" dirty="0">
                    <a:effectLst/>
                    <a:latin typeface="Times New Roman" panose="02020603050405020304" pitchFamily="18" charset="0"/>
                    <a:ea typeface="Calibri" panose="020F0502020204030204" pitchFamily="34" charset="0"/>
                    <a:cs typeface="Calibri" panose="020F0502020204030204" pitchFamily="34" charset="0"/>
                  </a:rPr>
                  <a:t>Z</a:t>
                </a:r>
                <a:r>
                  <a:rPr lang="ru-RU" baseline="-25000" dirty="0">
                    <a:effectLst/>
                    <a:latin typeface="Times New Roman" panose="02020603050405020304" pitchFamily="18" charset="0"/>
                    <a:ea typeface="Calibri" panose="020F0502020204030204" pitchFamily="34" charset="0"/>
                    <a:cs typeface="Calibri" panose="020F0502020204030204" pitchFamily="34" charset="0"/>
                  </a:rPr>
                  <a:t>ВН</a:t>
                </a:r>
                <a:r>
                  <a:rPr lang="ru-RU" dirty="0">
                    <a:effectLst/>
                    <a:latin typeface="Times New Roman" panose="02020603050405020304" pitchFamily="18" charset="0"/>
                    <a:ea typeface="Calibri" panose="020F0502020204030204" pitchFamily="34" charset="0"/>
                    <a:cs typeface="Calibri" panose="020F0502020204030204" pitchFamily="34" charset="0"/>
                  </a:rPr>
                  <a:t>.</a:t>
                </a:r>
              </a:p>
            </p:txBody>
          </p:sp>
        </mc:Choice>
        <mc:Fallback xmlns="">
          <p:sp>
            <p:nvSpPr>
              <p:cNvPr id="7" name="Прямоугольник 6"/>
              <p:cNvSpPr>
                <a:spLocks noRot="1" noChangeAspect="1" noMove="1" noResize="1" noEditPoints="1" noAdjustHandles="1" noChangeArrowheads="1" noChangeShapeType="1" noTextEdit="1"/>
              </p:cNvSpPr>
              <p:nvPr/>
            </p:nvSpPr>
            <p:spPr>
              <a:xfrm>
                <a:off x="1138176" y="4642643"/>
                <a:ext cx="10205013" cy="694357"/>
              </a:xfrm>
              <a:prstGeom prst="rect">
                <a:avLst/>
              </a:prstGeom>
              <a:blipFill rotWithShape="0">
                <a:blip r:embed="rId3"/>
                <a:stretch>
                  <a:fillRect l="-538" t="-5310" r="-478" b="-10619"/>
                </a:stretch>
              </a:blipFill>
            </p:spPr>
            <p:txBody>
              <a:bodyPr/>
              <a:lstStyle/>
              <a:p>
                <a:r>
                  <a:rPr lang="ru-RU">
                    <a:noFill/>
                  </a:rPr>
                  <a:t> </a:t>
                </a:r>
              </a:p>
            </p:txBody>
          </p:sp>
        </mc:Fallback>
      </mc:AlternateContent>
      <p:sp>
        <p:nvSpPr>
          <p:cNvPr id="8" name="Прямоугольник 7"/>
          <p:cNvSpPr/>
          <p:nvPr/>
        </p:nvSpPr>
        <p:spPr>
          <a:xfrm>
            <a:off x="1138177" y="5331829"/>
            <a:ext cx="10205012" cy="1277786"/>
          </a:xfrm>
          <a:prstGeom prst="rect">
            <a:avLst/>
          </a:prstGeom>
        </p:spPr>
        <p:txBody>
          <a:bodyPr wrap="square">
            <a:spAutoFit/>
          </a:bodyPr>
          <a:lstStyle/>
          <a:p>
            <a:pPr indent="450215" algn="just">
              <a:lnSpc>
                <a:spcPct val="107000"/>
              </a:lnSpc>
              <a:spcAft>
                <a:spcPts val="800"/>
              </a:spcAft>
            </a:pPr>
            <a:r>
              <a:rPr lang="ru-RU" dirty="0">
                <a:latin typeface="Times New Roman" panose="02020603050405020304" pitchFamily="18" charset="0"/>
                <a:ea typeface="Calibri" panose="020F0502020204030204" pitchFamily="34" charset="0"/>
                <a:cs typeface="Calibri" panose="020F0502020204030204" pitchFamily="34" charset="0"/>
              </a:rPr>
              <a:t>Элемент связи с антенной имеет разное назначение в зависимости от типа антенны. При работе с настроенной антенной он обеспечивает согласование по мощности между антенной и резонансной системой входной цепи. При работе с ненастроенной антенной элемент связи ослабляет влияние изменения параметров антенны на стабильность параметров резонансной системы.</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74644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Прямоугольник 2"/>
              <p:cNvSpPr/>
              <p:nvPr/>
            </p:nvSpPr>
            <p:spPr>
              <a:xfrm>
                <a:off x="1404394" y="678512"/>
                <a:ext cx="9533681" cy="4265398"/>
              </a:xfrm>
              <a:prstGeom prst="rect">
                <a:avLst/>
              </a:prstGeom>
            </p:spPr>
            <p:txBody>
              <a:bodyPr wrap="square">
                <a:spAutoFit/>
              </a:bodyPr>
              <a:lstStyle/>
              <a:p>
                <a:pPr algn="just">
                  <a:lnSpc>
                    <a:spcPct val="107000"/>
                  </a:lnSpc>
                  <a:spcAft>
                    <a:spcPts val="800"/>
                  </a:spcAft>
                </a:pPr>
                <a:r>
                  <a:rPr lang="ru-RU" dirty="0">
                    <a:latin typeface="Times New Roman" panose="02020603050405020304" pitchFamily="18" charset="0"/>
                    <a:ea typeface="Calibri" panose="020F0502020204030204" pitchFamily="34" charset="0"/>
                    <a:cs typeface="Calibri" panose="020F0502020204030204" pitchFamily="34" charset="0"/>
                  </a:rPr>
                  <a:t>Под </a:t>
                </a:r>
                <a:r>
                  <a:rPr lang="ru-RU" i="1" dirty="0">
                    <a:effectLst/>
                    <a:latin typeface="Times New Roman" panose="02020603050405020304" pitchFamily="18" charset="0"/>
                    <a:ea typeface="Calibri" panose="020F0502020204030204" pitchFamily="34" charset="0"/>
                    <a:cs typeface="Calibri" panose="020F0502020204030204" pitchFamily="34" charset="0"/>
                  </a:rPr>
                  <a:t>коэффициентом передачи входной цепи </a:t>
                </a:r>
                <a:r>
                  <a:rPr lang="ru-RU" dirty="0">
                    <a:effectLst/>
                    <a:latin typeface="Times New Roman" panose="02020603050405020304" pitchFamily="18" charset="0"/>
                    <a:ea typeface="Calibri" panose="020F0502020204030204" pitchFamily="34" charset="0"/>
                    <a:cs typeface="Calibri" panose="020F0502020204030204" pitchFamily="34" charset="0"/>
                  </a:rPr>
                  <a:t>понимается отношение выходного напряжения </a:t>
                </a:r>
                <a14:m>
                  <m:oMath xmlns:m="http://schemas.openxmlformats.org/officeDocument/2006/math">
                    <m:acc>
                      <m:accPr>
                        <m:chr m:val="̇"/>
                        <m:ctrlPr>
                          <a:rPr lang="ru-RU" i="1">
                            <a:effectLst/>
                            <a:latin typeface="Cambria Math" panose="02040503050406030204" pitchFamily="18" charset="0"/>
                            <a:ea typeface="Calibri" panose="020F0502020204030204" pitchFamily="34" charset="0"/>
                            <a:cs typeface="Calibri" panose="020F0502020204030204" pitchFamily="34" charset="0"/>
                          </a:rPr>
                        </m:ctrlPr>
                      </m:accPr>
                      <m:e>
                        <m:r>
                          <a:rPr lang="ru-RU" i="1">
                            <a:effectLst/>
                            <a:latin typeface="Cambria Math" panose="02040503050406030204" pitchFamily="18" charset="0"/>
                            <a:ea typeface="Calibri" panose="020F0502020204030204" pitchFamily="34" charset="0"/>
                            <a:cs typeface="Calibri" panose="020F0502020204030204" pitchFamily="34" charset="0"/>
                          </a:rPr>
                          <m:t>𝑈</m:t>
                        </m:r>
                      </m:e>
                    </m:acc>
                  </m:oMath>
                </a14:m>
                <a:r>
                  <a:rPr lang="ru-RU" dirty="0">
                    <a:effectLst/>
                    <a:latin typeface="Times New Roman" panose="02020603050405020304" pitchFamily="18" charset="0"/>
                    <a:ea typeface="Calibri" panose="020F0502020204030204" pitchFamily="34" charset="0"/>
                    <a:cs typeface="Calibri" panose="020F0502020204030204" pitchFamily="34" charset="0"/>
                  </a:rPr>
                  <a:t> к ЭДС в антенне </a:t>
                </a:r>
                <a14:m>
                  <m:oMath xmlns:m="http://schemas.openxmlformats.org/officeDocument/2006/math">
                    <m:sSub>
                      <m:sSubPr>
                        <m:ctrlPr>
                          <a:rPr lang="ru-RU" i="1">
                            <a:effectLst/>
                            <a:latin typeface="Cambria Math" panose="02040503050406030204" pitchFamily="18" charset="0"/>
                            <a:ea typeface="Calibri" panose="020F0502020204030204" pitchFamily="34" charset="0"/>
                            <a:cs typeface="Calibri" panose="020F0502020204030204" pitchFamily="34" charset="0"/>
                          </a:rPr>
                        </m:ctrlPr>
                      </m:sSubPr>
                      <m:e>
                        <m:acc>
                          <m:accPr>
                            <m:chr m:val="̇"/>
                            <m:ctrlPr>
                              <a:rPr lang="ru-RU" i="1">
                                <a:effectLst/>
                                <a:latin typeface="Cambria Math" panose="02040503050406030204" pitchFamily="18" charset="0"/>
                                <a:ea typeface="Calibri" panose="020F0502020204030204" pitchFamily="34" charset="0"/>
                                <a:cs typeface="Calibri" panose="020F0502020204030204" pitchFamily="34" charset="0"/>
                              </a:rPr>
                            </m:ctrlPr>
                          </m:accPr>
                          <m:e>
                            <m:r>
                              <a:rPr lang="ru-RU" i="1">
                                <a:effectLst/>
                                <a:latin typeface="Cambria Math" panose="02040503050406030204" pitchFamily="18" charset="0"/>
                                <a:ea typeface="Calibri" panose="020F0502020204030204" pitchFamily="34" charset="0"/>
                                <a:cs typeface="Calibri" panose="020F0502020204030204" pitchFamily="34" charset="0"/>
                              </a:rPr>
                              <m:t>𝐸</m:t>
                            </m:r>
                          </m:e>
                        </m:acc>
                      </m:e>
                      <m:sub>
                        <m:r>
                          <a:rPr lang="ru-RU" i="1">
                            <a:effectLst/>
                            <a:latin typeface="Cambria Math" panose="02040503050406030204" pitchFamily="18" charset="0"/>
                            <a:ea typeface="Calibri" panose="020F0502020204030204" pitchFamily="34" charset="0"/>
                            <a:cs typeface="Calibri" panose="020F0502020204030204" pitchFamily="34" charset="0"/>
                          </a:rPr>
                          <m:t>𝐴</m:t>
                        </m:r>
                      </m:sub>
                    </m:sSub>
                  </m:oMath>
                </a14:m>
                <a:r>
                  <a:rPr lang="ru-RU" dirty="0">
                    <a:effectLst/>
                    <a:latin typeface="Times New Roman" panose="02020603050405020304" pitchFamily="18" charset="0"/>
                    <a:ea typeface="Times New Roman" panose="02020603050405020304" pitchFamily="18" charset="0"/>
                    <a:cs typeface="Calibri" panose="020F0502020204030204" pitchFamily="34" charset="0"/>
                  </a:rPr>
                  <a:t>.</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ru-RU" i="1">
                              <a:effectLst/>
                              <a:latin typeface="Cambria Math" panose="02040503050406030204" pitchFamily="18" charset="0"/>
                              <a:ea typeface="Calibri" panose="020F0502020204030204" pitchFamily="34" charset="0"/>
                              <a:cs typeface="Calibri" panose="020F0502020204030204" pitchFamily="34" charset="0"/>
                            </a:rPr>
                          </m:ctrlPr>
                        </m:sSubPr>
                        <m:e>
                          <m:acc>
                            <m:accPr>
                              <m:chr m:val="̇"/>
                              <m:ctrlPr>
                                <a:rPr lang="ru-RU" i="1">
                                  <a:effectLst/>
                                  <a:latin typeface="Cambria Math" panose="02040503050406030204" pitchFamily="18" charset="0"/>
                                  <a:ea typeface="Calibri" panose="020F0502020204030204" pitchFamily="34" charset="0"/>
                                  <a:cs typeface="Calibri" panose="020F0502020204030204" pitchFamily="34" charset="0"/>
                                </a:rPr>
                              </m:ctrlPr>
                            </m:accPr>
                            <m:e>
                              <m:r>
                                <a:rPr lang="ru-RU" i="1">
                                  <a:effectLst/>
                                  <a:latin typeface="Cambria Math" panose="02040503050406030204" pitchFamily="18" charset="0"/>
                                  <a:ea typeface="Calibri" panose="020F0502020204030204" pitchFamily="34" charset="0"/>
                                  <a:cs typeface="Calibri" panose="020F0502020204030204" pitchFamily="34" charset="0"/>
                                </a:rPr>
                                <m:t>𝐾</m:t>
                              </m:r>
                            </m:e>
                          </m:acc>
                        </m:e>
                        <m:sub>
                          <m:r>
                            <a:rPr lang="ru-RU" i="1">
                              <a:effectLst/>
                              <a:latin typeface="Cambria Math" panose="02040503050406030204" pitchFamily="18" charset="0"/>
                              <a:ea typeface="Calibri" panose="020F0502020204030204" pitchFamily="34" charset="0"/>
                              <a:cs typeface="Calibri" panose="020F0502020204030204" pitchFamily="34" charset="0"/>
                            </a:rPr>
                            <m:t>ВЦ</m:t>
                          </m:r>
                        </m:sub>
                      </m:sSub>
                      <m:r>
                        <a:rPr lang="ru-RU" i="1">
                          <a:effectLst/>
                          <a:latin typeface="Cambria Math" panose="02040503050406030204" pitchFamily="18" charset="0"/>
                          <a:ea typeface="Calibri" panose="020F0502020204030204" pitchFamily="34" charset="0"/>
                          <a:cs typeface="Calibri" panose="020F0502020204030204" pitchFamily="34" charset="0"/>
                        </a:rPr>
                        <m:t>=</m:t>
                      </m:r>
                      <m:f>
                        <m:fPr>
                          <m:ctrlPr>
                            <a:rPr lang="ru-RU" i="1">
                              <a:effectLst/>
                              <a:latin typeface="Cambria Math" panose="02040503050406030204" pitchFamily="18" charset="0"/>
                              <a:ea typeface="Calibri" panose="020F0502020204030204" pitchFamily="34" charset="0"/>
                              <a:cs typeface="Calibri" panose="020F0502020204030204" pitchFamily="34" charset="0"/>
                            </a:rPr>
                          </m:ctrlPr>
                        </m:fPr>
                        <m:num>
                          <m:acc>
                            <m:accPr>
                              <m:chr m:val="̇"/>
                              <m:ctrlPr>
                                <a:rPr lang="ru-RU" i="1">
                                  <a:effectLst/>
                                  <a:latin typeface="Cambria Math" panose="02040503050406030204" pitchFamily="18" charset="0"/>
                                  <a:ea typeface="Calibri" panose="020F0502020204030204" pitchFamily="34" charset="0"/>
                                  <a:cs typeface="Calibri" panose="020F0502020204030204" pitchFamily="34" charset="0"/>
                                </a:rPr>
                              </m:ctrlPr>
                            </m:accPr>
                            <m:e>
                              <m:r>
                                <a:rPr lang="ru-RU" i="1">
                                  <a:effectLst/>
                                  <a:latin typeface="Cambria Math" panose="02040503050406030204" pitchFamily="18" charset="0"/>
                                  <a:ea typeface="Calibri" panose="020F0502020204030204" pitchFamily="34" charset="0"/>
                                  <a:cs typeface="Calibri" panose="020F0502020204030204" pitchFamily="34" charset="0"/>
                                </a:rPr>
                                <m:t>𝑈</m:t>
                              </m:r>
                            </m:e>
                          </m:acc>
                        </m:num>
                        <m:den>
                          <m:sSub>
                            <m:sSubPr>
                              <m:ctrlPr>
                                <a:rPr lang="ru-RU" i="1">
                                  <a:effectLst/>
                                  <a:latin typeface="Cambria Math" panose="02040503050406030204" pitchFamily="18" charset="0"/>
                                  <a:ea typeface="Calibri" panose="020F0502020204030204" pitchFamily="34" charset="0"/>
                                  <a:cs typeface="Calibri" panose="020F0502020204030204" pitchFamily="34" charset="0"/>
                                </a:rPr>
                              </m:ctrlPr>
                            </m:sSubPr>
                            <m:e>
                              <m:acc>
                                <m:accPr>
                                  <m:chr m:val="̇"/>
                                  <m:ctrlPr>
                                    <a:rPr lang="ru-RU" i="1">
                                      <a:effectLst/>
                                      <a:latin typeface="Cambria Math" panose="02040503050406030204" pitchFamily="18" charset="0"/>
                                      <a:ea typeface="Calibri" panose="020F0502020204030204" pitchFamily="34" charset="0"/>
                                      <a:cs typeface="Calibri" panose="020F0502020204030204" pitchFamily="34" charset="0"/>
                                    </a:rPr>
                                  </m:ctrlPr>
                                </m:accPr>
                                <m:e>
                                  <m:r>
                                    <a:rPr lang="ru-RU" i="1">
                                      <a:effectLst/>
                                      <a:latin typeface="Cambria Math" panose="02040503050406030204" pitchFamily="18" charset="0"/>
                                      <a:ea typeface="Calibri" panose="020F0502020204030204" pitchFamily="34" charset="0"/>
                                      <a:cs typeface="Calibri" panose="020F0502020204030204" pitchFamily="34" charset="0"/>
                                    </a:rPr>
                                    <m:t>𝐸</m:t>
                                  </m:r>
                                </m:e>
                              </m:acc>
                            </m:e>
                            <m:sub>
                              <m:r>
                                <a:rPr lang="ru-RU" i="1">
                                  <a:effectLst/>
                                  <a:latin typeface="Cambria Math" panose="02040503050406030204" pitchFamily="18" charset="0"/>
                                  <a:ea typeface="Calibri" panose="020F0502020204030204" pitchFamily="34" charset="0"/>
                                  <a:cs typeface="Calibri" panose="020F0502020204030204" pitchFamily="34" charset="0"/>
                                </a:rPr>
                                <m:t>𝐴</m:t>
                              </m:r>
                            </m:sub>
                          </m:sSub>
                        </m:den>
                      </m:f>
                    </m:oMath>
                  </m:oMathPara>
                </a14:m>
                <a:endParaRPr lang="ru-RU" dirty="0">
                  <a:effectLst/>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800"/>
                  </a:spcAft>
                </a:pPr>
                <a:r>
                  <a:rPr lang="ru-RU" dirty="0">
                    <a:effectLst/>
                    <a:latin typeface="Times New Roman" panose="02020603050405020304" pitchFamily="18" charset="0"/>
                    <a:ea typeface="Calibri" panose="020F0502020204030204" pitchFamily="34" charset="0"/>
                    <a:cs typeface="Calibri" panose="020F0502020204030204" pitchFamily="34" charset="0"/>
                  </a:rPr>
                  <a:t>Последнее соотношение можно представить в виде</a:t>
                </a:r>
              </a:p>
              <a:p>
                <a:pPr algn="just">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ru-RU" i="1">
                              <a:effectLst/>
                              <a:latin typeface="Cambria Math" panose="02040503050406030204" pitchFamily="18" charset="0"/>
                              <a:ea typeface="Calibri" panose="020F0502020204030204" pitchFamily="34" charset="0"/>
                              <a:cs typeface="Calibri" panose="020F0502020204030204" pitchFamily="34" charset="0"/>
                            </a:rPr>
                          </m:ctrlPr>
                        </m:sSubPr>
                        <m:e>
                          <m:acc>
                            <m:accPr>
                              <m:chr m:val="̇"/>
                              <m:ctrlPr>
                                <a:rPr lang="ru-RU" i="1">
                                  <a:effectLst/>
                                  <a:latin typeface="Cambria Math" panose="02040503050406030204" pitchFamily="18" charset="0"/>
                                  <a:ea typeface="Calibri" panose="020F0502020204030204" pitchFamily="34" charset="0"/>
                                  <a:cs typeface="Calibri" panose="020F0502020204030204" pitchFamily="34" charset="0"/>
                                </a:rPr>
                              </m:ctrlPr>
                            </m:accPr>
                            <m:e>
                              <m:r>
                                <a:rPr lang="ru-RU" i="1">
                                  <a:effectLst/>
                                  <a:latin typeface="Cambria Math" panose="02040503050406030204" pitchFamily="18" charset="0"/>
                                  <a:ea typeface="Calibri" panose="020F0502020204030204" pitchFamily="34" charset="0"/>
                                  <a:cs typeface="Calibri" panose="020F0502020204030204" pitchFamily="34" charset="0"/>
                                </a:rPr>
                                <m:t>𝐾</m:t>
                              </m:r>
                            </m:e>
                          </m:acc>
                        </m:e>
                        <m:sub>
                          <m:r>
                            <a:rPr lang="ru-RU" i="1">
                              <a:effectLst/>
                              <a:latin typeface="Cambria Math" panose="02040503050406030204" pitchFamily="18" charset="0"/>
                              <a:ea typeface="Calibri" panose="020F0502020204030204" pitchFamily="34" charset="0"/>
                              <a:cs typeface="Calibri" panose="020F0502020204030204" pitchFamily="34" charset="0"/>
                            </a:rPr>
                            <m:t>ВЦ</m:t>
                          </m:r>
                        </m:sub>
                      </m:sSub>
                      <m:r>
                        <a:rPr lang="ru-RU" i="1">
                          <a:effectLst/>
                          <a:latin typeface="Cambria Math" panose="02040503050406030204" pitchFamily="18" charset="0"/>
                          <a:ea typeface="Calibri" panose="020F0502020204030204" pitchFamily="34" charset="0"/>
                          <a:cs typeface="Calibri" panose="020F0502020204030204" pitchFamily="34" charset="0"/>
                        </a:rPr>
                        <m:t>=</m:t>
                      </m:r>
                      <m:f>
                        <m:fPr>
                          <m:ctrlPr>
                            <a:rPr lang="ru-RU" i="1">
                              <a:effectLst/>
                              <a:latin typeface="Cambria Math" panose="02040503050406030204" pitchFamily="18" charset="0"/>
                              <a:ea typeface="Calibri" panose="020F0502020204030204" pitchFamily="34" charset="0"/>
                              <a:cs typeface="Calibri" panose="020F0502020204030204" pitchFamily="34" charset="0"/>
                            </a:rPr>
                          </m:ctrlPr>
                        </m:fPr>
                        <m:num>
                          <m:acc>
                            <m:accPr>
                              <m:chr m:val="̇"/>
                              <m:ctrlPr>
                                <a:rPr lang="ru-RU" i="1">
                                  <a:effectLst/>
                                  <a:latin typeface="Cambria Math" panose="02040503050406030204" pitchFamily="18" charset="0"/>
                                  <a:ea typeface="Calibri" panose="020F0502020204030204" pitchFamily="34" charset="0"/>
                                  <a:cs typeface="Calibri" panose="020F0502020204030204" pitchFamily="34" charset="0"/>
                                </a:rPr>
                              </m:ctrlPr>
                            </m:accPr>
                            <m:e>
                              <m:r>
                                <a:rPr lang="ru-RU" i="1">
                                  <a:effectLst/>
                                  <a:latin typeface="Cambria Math" panose="02040503050406030204" pitchFamily="18" charset="0"/>
                                  <a:ea typeface="Calibri" panose="020F0502020204030204" pitchFamily="34" charset="0"/>
                                  <a:cs typeface="Calibri" panose="020F0502020204030204" pitchFamily="34" charset="0"/>
                                </a:rPr>
                                <m:t>𝑈</m:t>
                              </m:r>
                            </m:e>
                          </m:acc>
                        </m:num>
                        <m:den>
                          <m:sSub>
                            <m:sSubPr>
                              <m:ctrlPr>
                                <a:rPr lang="ru-RU" i="1">
                                  <a:effectLst/>
                                  <a:latin typeface="Cambria Math" panose="02040503050406030204" pitchFamily="18" charset="0"/>
                                  <a:ea typeface="Calibri" panose="020F0502020204030204" pitchFamily="34" charset="0"/>
                                  <a:cs typeface="Calibri" panose="020F0502020204030204" pitchFamily="34" charset="0"/>
                                </a:rPr>
                              </m:ctrlPr>
                            </m:sSubPr>
                            <m:e>
                              <m:acc>
                                <m:accPr>
                                  <m:chr m:val="̇"/>
                                  <m:ctrlPr>
                                    <a:rPr lang="ru-RU" i="1">
                                      <a:effectLst/>
                                      <a:latin typeface="Cambria Math" panose="02040503050406030204" pitchFamily="18" charset="0"/>
                                      <a:ea typeface="Calibri" panose="020F0502020204030204" pitchFamily="34" charset="0"/>
                                      <a:cs typeface="Calibri" panose="020F0502020204030204" pitchFamily="34" charset="0"/>
                                    </a:rPr>
                                  </m:ctrlPr>
                                </m:accPr>
                                <m:e>
                                  <m:r>
                                    <a:rPr lang="ru-RU" i="1">
                                      <a:effectLst/>
                                      <a:latin typeface="Cambria Math" panose="02040503050406030204" pitchFamily="18" charset="0"/>
                                      <a:ea typeface="Calibri" panose="020F0502020204030204" pitchFamily="34" charset="0"/>
                                      <a:cs typeface="Calibri" panose="020F0502020204030204" pitchFamily="34" charset="0"/>
                                    </a:rPr>
                                    <m:t>𝐸</m:t>
                                  </m:r>
                                </m:e>
                              </m:acc>
                            </m:e>
                            <m:sub>
                              <m:r>
                                <a:rPr lang="ru-RU" i="1">
                                  <a:effectLst/>
                                  <a:latin typeface="Cambria Math" panose="02040503050406030204" pitchFamily="18" charset="0"/>
                                  <a:ea typeface="Calibri" panose="020F0502020204030204" pitchFamily="34" charset="0"/>
                                  <a:cs typeface="Calibri" panose="020F0502020204030204" pitchFamily="34" charset="0"/>
                                </a:rPr>
                                <m:t>𝐴</m:t>
                              </m:r>
                            </m:sub>
                          </m:sSub>
                        </m:den>
                      </m:f>
                      <m:r>
                        <a:rPr lang="ru-RU" i="1">
                          <a:effectLst/>
                          <a:latin typeface="Cambria Math" panose="02040503050406030204" pitchFamily="18" charset="0"/>
                          <a:ea typeface="Calibri" panose="020F0502020204030204" pitchFamily="34" charset="0"/>
                          <a:cs typeface="Calibri" panose="020F0502020204030204" pitchFamily="34" charset="0"/>
                        </a:rPr>
                        <m:t>=</m:t>
                      </m:r>
                      <m:f>
                        <m:fPr>
                          <m:ctrlPr>
                            <a:rPr lang="ru-RU" i="1">
                              <a:effectLst/>
                              <a:latin typeface="Cambria Math" panose="02040503050406030204" pitchFamily="18" charset="0"/>
                              <a:ea typeface="Calibri" panose="020F0502020204030204" pitchFamily="34" charset="0"/>
                              <a:cs typeface="Calibri" panose="020F0502020204030204" pitchFamily="34" charset="0"/>
                            </a:rPr>
                          </m:ctrlPr>
                        </m:fPr>
                        <m:num>
                          <m:acc>
                            <m:accPr>
                              <m:chr m:val="̇"/>
                              <m:ctrlPr>
                                <a:rPr lang="ru-RU" i="1">
                                  <a:effectLst/>
                                  <a:latin typeface="Cambria Math" panose="02040503050406030204" pitchFamily="18" charset="0"/>
                                  <a:ea typeface="Calibri" panose="020F0502020204030204" pitchFamily="34" charset="0"/>
                                  <a:cs typeface="Calibri" panose="020F0502020204030204" pitchFamily="34" charset="0"/>
                                </a:rPr>
                              </m:ctrlPr>
                            </m:accPr>
                            <m:e>
                              <m:r>
                                <a:rPr lang="ru-RU" i="1">
                                  <a:effectLst/>
                                  <a:latin typeface="Cambria Math" panose="02040503050406030204" pitchFamily="18" charset="0"/>
                                  <a:ea typeface="Calibri" panose="020F0502020204030204" pitchFamily="34" charset="0"/>
                                  <a:cs typeface="Calibri" panose="020F0502020204030204" pitchFamily="34" charset="0"/>
                                </a:rPr>
                                <m:t>𝐸</m:t>
                              </m:r>
                            </m:e>
                          </m:acc>
                        </m:num>
                        <m:den>
                          <m:sSub>
                            <m:sSubPr>
                              <m:ctrlPr>
                                <a:rPr lang="ru-RU" i="1">
                                  <a:effectLst/>
                                  <a:latin typeface="Cambria Math" panose="02040503050406030204" pitchFamily="18" charset="0"/>
                                  <a:ea typeface="Calibri" panose="020F0502020204030204" pitchFamily="34" charset="0"/>
                                  <a:cs typeface="Calibri" panose="020F0502020204030204" pitchFamily="34" charset="0"/>
                                </a:rPr>
                              </m:ctrlPr>
                            </m:sSubPr>
                            <m:e>
                              <m:acc>
                                <m:accPr>
                                  <m:chr m:val="̇"/>
                                  <m:ctrlPr>
                                    <a:rPr lang="ru-RU" i="1">
                                      <a:effectLst/>
                                      <a:latin typeface="Cambria Math" panose="02040503050406030204" pitchFamily="18" charset="0"/>
                                      <a:ea typeface="Calibri" panose="020F0502020204030204" pitchFamily="34" charset="0"/>
                                      <a:cs typeface="Calibri" panose="020F0502020204030204" pitchFamily="34" charset="0"/>
                                    </a:rPr>
                                  </m:ctrlPr>
                                </m:accPr>
                                <m:e>
                                  <m:r>
                                    <a:rPr lang="ru-RU" i="1">
                                      <a:effectLst/>
                                      <a:latin typeface="Cambria Math" panose="02040503050406030204" pitchFamily="18" charset="0"/>
                                      <a:ea typeface="Calibri" panose="020F0502020204030204" pitchFamily="34" charset="0"/>
                                      <a:cs typeface="Calibri" panose="020F0502020204030204" pitchFamily="34" charset="0"/>
                                    </a:rPr>
                                    <m:t>𝐸</m:t>
                                  </m:r>
                                </m:e>
                              </m:acc>
                            </m:e>
                            <m:sub>
                              <m:r>
                                <a:rPr lang="ru-RU" i="1">
                                  <a:effectLst/>
                                  <a:latin typeface="Cambria Math" panose="02040503050406030204" pitchFamily="18" charset="0"/>
                                  <a:ea typeface="Calibri" panose="020F0502020204030204" pitchFamily="34" charset="0"/>
                                  <a:cs typeface="Calibri" panose="020F0502020204030204" pitchFamily="34" charset="0"/>
                                </a:rPr>
                                <m:t>𝐴</m:t>
                              </m:r>
                            </m:sub>
                          </m:sSub>
                        </m:den>
                      </m:f>
                      <m:f>
                        <m:fPr>
                          <m:ctrlPr>
                            <a:rPr lang="ru-RU" i="1">
                              <a:effectLst/>
                              <a:latin typeface="Cambria Math" panose="02040503050406030204" pitchFamily="18" charset="0"/>
                              <a:ea typeface="Calibri" panose="020F0502020204030204" pitchFamily="34" charset="0"/>
                              <a:cs typeface="Calibri" panose="020F0502020204030204" pitchFamily="34" charset="0"/>
                            </a:rPr>
                          </m:ctrlPr>
                        </m:fPr>
                        <m:num>
                          <m:acc>
                            <m:accPr>
                              <m:chr m:val="̇"/>
                              <m:ctrlPr>
                                <a:rPr lang="ru-RU" i="1">
                                  <a:effectLst/>
                                  <a:latin typeface="Cambria Math" panose="02040503050406030204" pitchFamily="18" charset="0"/>
                                  <a:ea typeface="Calibri" panose="020F0502020204030204" pitchFamily="34" charset="0"/>
                                  <a:cs typeface="Calibri" panose="020F0502020204030204" pitchFamily="34" charset="0"/>
                                </a:rPr>
                              </m:ctrlPr>
                            </m:accPr>
                            <m:e>
                              <m:r>
                                <a:rPr lang="ru-RU" i="1">
                                  <a:effectLst/>
                                  <a:latin typeface="Cambria Math" panose="02040503050406030204" pitchFamily="18" charset="0"/>
                                  <a:ea typeface="Calibri" panose="020F0502020204030204" pitchFamily="34" charset="0"/>
                                  <a:cs typeface="Calibri" panose="020F0502020204030204" pitchFamily="34" charset="0"/>
                                </a:rPr>
                                <m:t>𝑈</m:t>
                              </m:r>
                            </m:e>
                          </m:acc>
                        </m:num>
                        <m:den>
                          <m:acc>
                            <m:accPr>
                              <m:chr m:val="̇"/>
                              <m:ctrlPr>
                                <a:rPr lang="ru-RU" i="1">
                                  <a:effectLst/>
                                  <a:latin typeface="Cambria Math" panose="02040503050406030204" pitchFamily="18" charset="0"/>
                                  <a:ea typeface="Calibri" panose="020F0502020204030204" pitchFamily="34" charset="0"/>
                                  <a:cs typeface="Calibri" panose="020F0502020204030204" pitchFamily="34" charset="0"/>
                                </a:rPr>
                              </m:ctrlPr>
                            </m:accPr>
                            <m:e>
                              <m:r>
                                <a:rPr lang="ru-RU" i="1">
                                  <a:effectLst/>
                                  <a:latin typeface="Cambria Math" panose="02040503050406030204" pitchFamily="18" charset="0"/>
                                  <a:ea typeface="Calibri" panose="020F0502020204030204" pitchFamily="34" charset="0"/>
                                  <a:cs typeface="Calibri" panose="020F0502020204030204" pitchFamily="34" charset="0"/>
                                </a:rPr>
                                <m:t>𝐸</m:t>
                              </m:r>
                            </m:e>
                          </m:acc>
                        </m:den>
                      </m:f>
                      <m:r>
                        <a:rPr lang="ru-RU" i="1">
                          <a:effectLst/>
                          <a:latin typeface="Cambria Math" panose="02040503050406030204" pitchFamily="18" charset="0"/>
                          <a:ea typeface="Calibri" panose="020F0502020204030204" pitchFamily="34" charset="0"/>
                          <a:cs typeface="Calibri" panose="020F0502020204030204" pitchFamily="34" charset="0"/>
                        </a:rPr>
                        <m:t>=</m:t>
                      </m:r>
                      <m:sSub>
                        <m:sSubPr>
                          <m:ctrlPr>
                            <a:rPr lang="ru-RU" i="1">
                              <a:effectLst/>
                              <a:latin typeface="Cambria Math" panose="02040503050406030204" pitchFamily="18" charset="0"/>
                              <a:ea typeface="Calibri" panose="020F0502020204030204" pitchFamily="34" charset="0"/>
                              <a:cs typeface="Calibri" panose="020F0502020204030204" pitchFamily="34" charset="0"/>
                            </a:rPr>
                          </m:ctrlPr>
                        </m:sSubPr>
                        <m:e>
                          <m:acc>
                            <m:accPr>
                              <m:chr m:val="̇"/>
                              <m:ctrlPr>
                                <a:rPr lang="ru-RU" i="1">
                                  <a:effectLst/>
                                  <a:latin typeface="Cambria Math" panose="02040503050406030204" pitchFamily="18" charset="0"/>
                                  <a:ea typeface="Calibri" panose="020F0502020204030204" pitchFamily="34" charset="0"/>
                                  <a:cs typeface="Calibri" panose="020F0502020204030204" pitchFamily="34" charset="0"/>
                                </a:rPr>
                              </m:ctrlPr>
                            </m:accPr>
                            <m:e>
                              <m:r>
                                <a:rPr lang="en-US" i="1">
                                  <a:effectLst/>
                                  <a:latin typeface="Cambria Math" panose="02040503050406030204" pitchFamily="18" charset="0"/>
                                  <a:ea typeface="Calibri" panose="020F0502020204030204" pitchFamily="34" charset="0"/>
                                  <a:cs typeface="Calibri" panose="020F0502020204030204" pitchFamily="34" charset="0"/>
                                </a:rPr>
                                <m:t>𝐾</m:t>
                              </m:r>
                            </m:e>
                          </m:acc>
                        </m:e>
                        <m:sub>
                          <m:r>
                            <a:rPr lang="ru-RU" i="1">
                              <a:effectLst/>
                              <a:latin typeface="Cambria Math" panose="02040503050406030204" pitchFamily="18" charset="0"/>
                              <a:ea typeface="Calibri" panose="020F0502020204030204" pitchFamily="34" charset="0"/>
                              <a:cs typeface="Calibri" panose="020F0502020204030204" pitchFamily="34" charset="0"/>
                            </a:rPr>
                            <m:t>𝐴</m:t>
                          </m:r>
                        </m:sub>
                      </m:sSub>
                      <m:sSub>
                        <m:sSubPr>
                          <m:ctrlPr>
                            <a:rPr lang="ru-RU" i="1">
                              <a:effectLst/>
                              <a:latin typeface="Cambria Math" panose="02040503050406030204" pitchFamily="18" charset="0"/>
                              <a:ea typeface="Calibri" panose="020F0502020204030204" pitchFamily="34" charset="0"/>
                              <a:cs typeface="Calibri" panose="020F0502020204030204" pitchFamily="34" charset="0"/>
                            </a:rPr>
                          </m:ctrlPr>
                        </m:sSubPr>
                        <m:e>
                          <m:acc>
                            <m:accPr>
                              <m:chr m:val="̇"/>
                              <m:ctrlPr>
                                <a:rPr lang="ru-RU" i="1">
                                  <a:effectLst/>
                                  <a:latin typeface="Cambria Math" panose="02040503050406030204" pitchFamily="18" charset="0"/>
                                  <a:ea typeface="Calibri" panose="020F0502020204030204" pitchFamily="34" charset="0"/>
                                  <a:cs typeface="Calibri" panose="020F0502020204030204" pitchFamily="34" charset="0"/>
                                </a:rPr>
                              </m:ctrlPr>
                            </m:accPr>
                            <m:e>
                              <m:r>
                                <a:rPr lang="en-US" i="1">
                                  <a:effectLst/>
                                  <a:latin typeface="Cambria Math" panose="02040503050406030204" pitchFamily="18" charset="0"/>
                                  <a:ea typeface="Calibri" panose="020F0502020204030204" pitchFamily="34" charset="0"/>
                                  <a:cs typeface="Calibri" panose="020F0502020204030204" pitchFamily="34" charset="0"/>
                                </a:rPr>
                                <m:t>𝐾</m:t>
                              </m:r>
                            </m:e>
                          </m:acc>
                        </m:e>
                        <m:sub>
                          <m:r>
                            <a:rPr lang="ru-RU" i="1">
                              <a:effectLst/>
                              <a:latin typeface="Cambria Math" panose="02040503050406030204" pitchFamily="18" charset="0"/>
                              <a:ea typeface="Calibri" panose="020F0502020204030204" pitchFamily="34" charset="0"/>
                              <a:cs typeface="Calibri" panose="020F0502020204030204" pitchFamily="34" charset="0"/>
                            </a:rPr>
                            <m:t>Ф</m:t>
                          </m:r>
                        </m:sub>
                      </m:sSub>
                    </m:oMath>
                  </m:oMathPara>
                </a14:m>
                <a:endParaRPr lang="ru-RU" dirty="0" smtClean="0">
                  <a:effectLst/>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800"/>
                  </a:spcAft>
                </a:pPr>
                <a:r>
                  <a:rPr lang="ru-RU" dirty="0" smtClean="0">
                    <a:effectLst/>
                    <a:latin typeface="Times New Roman" panose="02020603050405020304" pitchFamily="18" charset="0"/>
                    <a:ea typeface="Calibri" panose="020F0502020204030204" pitchFamily="34" charset="0"/>
                    <a:cs typeface="Calibri" panose="020F0502020204030204" pitchFamily="34" charset="0"/>
                  </a:rPr>
                  <a:t>где </a:t>
                </a:r>
                <a14:m>
                  <m:oMath xmlns:m="http://schemas.openxmlformats.org/officeDocument/2006/math">
                    <m:sSub>
                      <m:sSubPr>
                        <m:ctrlPr>
                          <a:rPr lang="ru-RU" i="1">
                            <a:effectLst/>
                            <a:latin typeface="Cambria Math" panose="02040503050406030204" pitchFamily="18" charset="0"/>
                            <a:ea typeface="Calibri" panose="020F0502020204030204" pitchFamily="34" charset="0"/>
                            <a:cs typeface="Calibri" panose="020F0502020204030204" pitchFamily="34" charset="0"/>
                          </a:rPr>
                        </m:ctrlPr>
                      </m:sSubPr>
                      <m:e>
                        <m:acc>
                          <m:accPr>
                            <m:chr m:val="̇"/>
                            <m:ctrlPr>
                              <a:rPr lang="ru-RU" i="1">
                                <a:effectLst/>
                                <a:latin typeface="Cambria Math" panose="02040503050406030204" pitchFamily="18" charset="0"/>
                                <a:ea typeface="Calibri" panose="020F0502020204030204" pitchFamily="34" charset="0"/>
                                <a:cs typeface="Calibri" panose="020F0502020204030204" pitchFamily="34" charset="0"/>
                              </a:rPr>
                            </m:ctrlPr>
                          </m:accPr>
                          <m:e>
                            <m:r>
                              <a:rPr lang="en-US" i="1">
                                <a:effectLst/>
                                <a:latin typeface="Cambria Math" panose="02040503050406030204" pitchFamily="18" charset="0"/>
                                <a:ea typeface="Calibri" panose="020F0502020204030204" pitchFamily="34" charset="0"/>
                                <a:cs typeface="Calibri" panose="020F0502020204030204" pitchFamily="34" charset="0"/>
                              </a:rPr>
                              <m:t>𝐾</m:t>
                            </m:r>
                          </m:e>
                        </m:acc>
                      </m:e>
                      <m:sub>
                        <m:r>
                          <a:rPr lang="ru-RU" i="1">
                            <a:effectLst/>
                            <a:latin typeface="Cambria Math" panose="02040503050406030204" pitchFamily="18" charset="0"/>
                            <a:ea typeface="Calibri" panose="020F0502020204030204" pitchFamily="34" charset="0"/>
                            <a:cs typeface="Calibri" panose="020F0502020204030204" pitchFamily="34" charset="0"/>
                          </a:rPr>
                          <m:t>𝐴</m:t>
                        </m:r>
                      </m:sub>
                    </m:sSub>
                    <m:r>
                      <a:rPr lang="ru-RU" i="1">
                        <a:effectLst/>
                        <a:latin typeface="Cambria Math" panose="02040503050406030204" pitchFamily="18" charset="0"/>
                        <a:ea typeface="Calibri" panose="020F0502020204030204" pitchFamily="34" charset="0"/>
                        <a:cs typeface="Calibri" panose="020F0502020204030204" pitchFamily="34" charset="0"/>
                      </a:rPr>
                      <m:t>=</m:t>
                    </m:r>
                    <m:f>
                      <m:fPr>
                        <m:type m:val="lin"/>
                        <m:ctrlPr>
                          <a:rPr lang="ru-RU" i="1">
                            <a:effectLst/>
                            <a:latin typeface="Cambria Math" panose="02040503050406030204" pitchFamily="18" charset="0"/>
                            <a:ea typeface="Calibri" panose="020F0502020204030204" pitchFamily="34" charset="0"/>
                            <a:cs typeface="Calibri" panose="020F0502020204030204" pitchFamily="34" charset="0"/>
                          </a:rPr>
                        </m:ctrlPr>
                      </m:fPr>
                      <m:num>
                        <m:acc>
                          <m:accPr>
                            <m:chr m:val="̇"/>
                            <m:ctrlPr>
                              <a:rPr lang="ru-RU" i="1">
                                <a:effectLst/>
                                <a:latin typeface="Cambria Math" panose="02040503050406030204" pitchFamily="18" charset="0"/>
                                <a:ea typeface="Calibri" panose="020F0502020204030204" pitchFamily="34" charset="0"/>
                                <a:cs typeface="Calibri" panose="020F0502020204030204" pitchFamily="34" charset="0"/>
                              </a:rPr>
                            </m:ctrlPr>
                          </m:accPr>
                          <m:e>
                            <m:r>
                              <a:rPr lang="ru-RU" i="1">
                                <a:effectLst/>
                                <a:latin typeface="Cambria Math" panose="02040503050406030204" pitchFamily="18" charset="0"/>
                                <a:ea typeface="Calibri" panose="020F0502020204030204" pitchFamily="34" charset="0"/>
                                <a:cs typeface="Calibri" panose="020F0502020204030204" pitchFamily="34" charset="0"/>
                              </a:rPr>
                              <m:t>𝐸</m:t>
                            </m:r>
                          </m:e>
                        </m:acc>
                      </m:num>
                      <m:den>
                        <m:sSub>
                          <m:sSubPr>
                            <m:ctrlPr>
                              <a:rPr lang="ru-RU" i="1">
                                <a:effectLst/>
                                <a:latin typeface="Cambria Math" panose="02040503050406030204" pitchFamily="18" charset="0"/>
                                <a:ea typeface="Calibri" panose="020F0502020204030204" pitchFamily="34" charset="0"/>
                                <a:cs typeface="Calibri" panose="020F0502020204030204" pitchFamily="34" charset="0"/>
                              </a:rPr>
                            </m:ctrlPr>
                          </m:sSubPr>
                          <m:e>
                            <m:acc>
                              <m:accPr>
                                <m:chr m:val="̇"/>
                                <m:ctrlPr>
                                  <a:rPr lang="ru-RU" i="1">
                                    <a:effectLst/>
                                    <a:latin typeface="Cambria Math" panose="02040503050406030204" pitchFamily="18" charset="0"/>
                                    <a:ea typeface="Calibri" panose="020F0502020204030204" pitchFamily="34" charset="0"/>
                                    <a:cs typeface="Calibri" panose="020F0502020204030204" pitchFamily="34" charset="0"/>
                                  </a:rPr>
                                </m:ctrlPr>
                              </m:accPr>
                              <m:e>
                                <m:r>
                                  <a:rPr lang="ru-RU" i="1">
                                    <a:effectLst/>
                                    <a:latin typeface="Cambria Math" panose="02040503050406030204" pitchFamily="18" charset="0"/>
                                    <a:ea typeface="Calibri" panose="020F0502020204030204" pitchFamily="34" charset="0"/>
                                    <a:cs typeface="Calibri" panose="020F0502020204030204" pitchFamily="34" charset="0"/>
                                  </a:rPr>
                                  <m:t>𝐸</m:t>
                                </m:r>
                              </m:e>
                            </m:acc>
                          </m:e>
                          <m:sub>
                            <m:r>
                              <a:rPr lang="ru-RU" i="1">
                                <a:effectLst/>
                                <a:latin typeface="Cambria Math" panose="02040503050406030204" pitchFamily="18" charset="0"/>
                                <a:ea typeface="Calibri" panose="020F0502020204030204" pitchFamily="34" charset="0"/>
                                <a:cs typeface="Calibri" panose="020F0502020204030204" pitchFamily="34" charset="0"/>
                              </a:rPr>
                              <m:t>𝐴</m:t>
                            </m:r>
                          </m:sub>
                        </m:sSub>
                      </m:den>
                    </m:f>
                  </m:oMath>
                </a14:m>
                <a:r>
                  <a:rPr lang="ru-RU" dirty="0">
                    <a:effectLst/>
                    <a:latin typeface="Times New Roman" panose="02020603050405020304" pitchFamily="18" charset="0"/>
                    <a:ea typeface="Times New Roman" panose="02020603050405020304" pitchFamily="18" charset="0"/>
                    <a:cs typeface="Calibri" panose="020F0502020204030204" pitchFamily="34" charset="0"/>
                  </a:rPr>
                  <a:t> – коэффициент связи с антенной,</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800"/>
                  </a:spcAft>
                </a:pPr>
                <a14:m>
                  <m:oMath xmlns:m="http://schemas.openxmlformats.org/officeDocument/2006/math">
                    <m:sSub>
                      <m:sSubPr>
                        <m:ctrlPr>
                          <a:rPr lang="ru-RU" i="1">
                            <a:effectLst/>
                            <a:latin typeface="Cambria Math" panose="02040503050406030204" pitchFamily="18" charset="0"/>
                            <a:ea typeface="Calibri" panose="020F0502020204030204" pitchFamily="34" charset="0"/>
                            <a:cs typeface="Calibri" panose="020F0502020204030204" pitchFamily="34" charset="0"/>
                          </a:rPr>
                        </m:ctrlPr>
                      </m:sSubPr>
                      <m:e>
                        <m:acc>
                          <m:accPr>
                            <m:chr m:val="̇"/>
                            <m:ctrlPr>
                              <a:rPr lang="ru-RU" i="1">
                                <a:effectLst/>
                                <a:latin typeface="Cambria Math" panose="02040503050406030204" pitchFamily="18" charset="0"/>
                                <a:ea typeface="Calibri" panose="020F0502020204030204" pitchFamily="34" charset="0"/>
                                <a:cs typeface="Calibri" panose="020F0502020204030204" pitchFamily="34" charset="0"/>
                              </a:rPr>
                            </m:ctrlPr>
                          </m:accPr>
                          <m:e>
                            <m:r>
                              <a:rPr lang="en-US" i="1">
                                <a:effectLst/>
                                <a:latin typeface="Cambria Math" panose="02040503050406030204" pitchFamily="18" charset="0"/>
                                <a:ea typeface="Calibri" panose="020F0502020204030204" pitchFamily="34" charset="0"/>
                                <a:cs typeface="Calibri" panose="020F0502020204030204" pitchFamily="34" charset="0"/>
                              </a:rPr>
                              <m:t>𝐾</m:t>
                            </m:r>
                          </m:e>
                        </m:acc>
                      </m:e>
                      <m:sub>
                        <m:r>
                          <a:rPr lang="ru-RU" i="1">
                            <a:effectLst/>
                            <a:latin typeface="Cambria Math" panose="02040503050406030204" pitchFamily="18" charset="0"/>
                            <a:ea typeface="Calibri" panose="020F0502020204030204" pitchFamily="34" charset="0"/>
                            <a:cs typeface="Calibri" panose="020F0502020204030204" pitchFamily="34" charset="0"/>
                          </a:rPr>
                          <m:t>Ф</m:t>
                        </m:r>
                      </m:sub>
                    </m:sSub>
                    <m:r>
                      <a:rPr lang="ru-RU" i="1">
                        <a:effectLst/>
                        <a:latin typeface="Cambria Math" panose="02040503050406030204" pitchFamily="18" charset="0"/>
                        <a:ea typeface="Calibri" panose="020F0502020204030204" pitchFamily="34" charset="0"/>
                        <a:cs typeface="Calibri" panose="020F0502020204030204" pitchFamily="34" charset="0"/>
                      </a:rPr>
                      <m:t>=</m:t>
                    </m:r>
                    <m:f>
                      <m:fPr>
                        <m:type m:val="lin"/>
                        <m:ctrlPr>
                          <a:rPr lang="ru-RU" i="1">
                            <a:effectLst/>
                            <a:latin typeface="Cambria Math" panose="02040503050406030204" pitchFamily="18" charset="0"/>
                            <a:ea typeface="Calibri" panose="020F0502020204030204" pitchFamily="34" charset="0"/>
                            <a:cs typeface="Calibri" panose="020F0502020204030204" pitchFamily="34" charset="0"/>
                          </a:rPr>
                        </m:ctrlPr>
                      </m:fPr>
                      <m:num>
                        <m:acc>
                          <m:accPr>
                            <m:chr m:val="̇"/>
                            <m:ctrlPr>
                              <a:rPr lang="ru-RU" i="1">
                                <a:effectLst/>
                                <a:latin typeface="Cambria Math" panose="02040503050406030204" pitchFamily="18" charset="0"/>
                                <a:ea typeface="Calibri" panose="020F0502020204030204" pitchFamily="34" charset="0"/>
                                <a:cs typeface="Calibri" panose="020F0502020204030204" pitchFamily="34" charset="0"/>
                              </a:rPr>
                            </m:ctrlPr>
                          </m:accPr>
                          <m:e>
                            <m:r>
                              <a:rPr lang="en-US" i="1">
                                <a:effectLst/>
                                <a:latin typeface="Cambria Math" panose="02040503050406030204" pitchFamily="18" charset="0"/>
                                <a:ea typeface="Calibri" panose="020F0502020204030204" pitchFamily="34" charset="0"/>
                                <a:cs typeface="Calibri" panose="020F0502020204030204" pitchFamily="34" charset="0"/>
                              </a:rPr>
                              <m:t>𝑈</m:t>
                            </m:r>
                          </m:e>
                        </m:acc>
                      </m:num>
                      <m:den>
                        <m:acc>
                          <m:accPr>
                            <m:chr m:val="̇"/>
                            <m:ctrlPr>
                              <a:rPr lang="ru-RU" i="1">
                                <a:effectLst/>
                                <a:latin typeface="Cambria Math" panose="02040503050406030204" pitchFamily="18" charset="0"/>
                                <a:ea typeface="Calibri" panose="020F0502020204030204" pitchFamily="34" charset="0"/>
                                <a:cs typeface="Calibri" panose="020F0502020204030204" pitchFamily="34" charset="0"/>
                              </a:rPr>
                            </m:ctrlPr>
                          </m:accPr>
                          <m:e>
                            <m:r>
                              <a:rPr lang="ru-RU" i="1">
                                <a:effectLst/>
                                <a:latin typeface="Cambria Math" panose="02040503050406030204" pitchFamily="18" charset="0"/>
                                <a:ea typeface="Calibri" panose="020F0502020204030204" pitchFamily="34" charset="0"/>
                                <a:cs typeface="Calibri" panose="020F0502020204030204" pitchFamily="34" charset="0"/>
                              </a:rPr>
                              <m:t>𝐸</m:t>
                            </m:r>
                          </m:e>
                        </m:acc>
                      </m:den>
                    </m:f>
                  </m:oMath>
                </a14:m>
                <a:r>
                  <a:rPr lang="ru-RU" dirty="0">
                    <a:effectLst/>
                    <a:latin typeface="Times New Roman" panose="02020603050405020304" pitchFamily="18" charset="0"/>
                    <a:ea typeface="Times New Roman" panose="02020603050405020304" pitchFamily="18" charset="0"/>
                    <a:cs typeface="Calibri" panose="020F0502020204030204" pitchFamily="34" charset="0"/>
                  </a:rPr>
                  <a:t> – коэффициент передачи фильтра (резонансной системы</a:t>
                </a:r>
                <a:r>
                  <a:rPr lang="ru-RU" dirty="0" smtClean="0">
                    <a:effectLst/>
                    <a:latin typeface="Times New Roman" panose="02020603050405020304" pitchFamily="18" charset="0"/>
                    <a:ea typeface="Times New Roman" panose="02020603050405020304" pitchFamily="18" charset="0"/>
                    <a:cs typeface="Calibri" panose="020F0502020204030204" pitchFamily="34" charset="0"/>
                  </a:rPr>
                  <a:t>).</a:t>
                </a:r>
              </a:p>
              <a:p>
                <a:pPr algn="just">
                  <a:lnSpc>
                    <a:spcPct val="107000"/>
                  </a:lnSpc>
                  <a:spcAft>
                    <a:spcPts val="800"/>
                  </a:spcAft>
                </a:pPr>
                <a:endParaRPr lang="ru-RU" dirty="0">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800"/>
                  </a:spcAft>
                </a:pPr>
                <a:r>
                  <a:rPr lang="ru-RU" dirty="0" smtClean="0">
                    <a:effectLst/>
                    <a:latin typeface="Times New Roman" panose="02020603050405020304" pitchFamily="18" charset="0"/>
                    <a:ea typeface="Calibri" panose="020F0502020204030204" pitchFamily="34" charset="0"/>
                    <a:cs typeface="Calibri" panose="020F0502020204030204" pitchFamily="34" charset="0"/>
                  </a:rPr>
                  <a:t>Чем отличается элемент связи с антенной от резонансной системы?</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mc:Choice>
        <mc:Fallback xmlns="">
          <p:sp>
            <p:nvSpPr>
              <p:cNvPr id="3" name="Прямоугольник 2"/>
              <p:cNvSpPr>
                <a:spLocks noRot="1" noChangeAspect="1" noMove="1" noResize="1" noEditPoints="1" noAdjustHandles="1" noChangeArrowheads="1" noChangeShapeType="1" noTextEdit="1"/>
              </p:cNvSpPr>
              <p:nvPr/>
            </p:nvSpPr>
            <p:spPr>
              <a:xfrm>
                <a:off x="1404394" y="678512"/>
                <a:ext cx="9533681" cy="4265398"/>
              </a:xfrm>
              <a:prstGeom prst="rect">
                <a:avLst/>
              </a:prstGeom>
              <a:blipFill rotWithShape="0">
                <a:blip r:embed="rId2"/>
                <a:stretch>
                  <a:fillRect l="-512" t="-571" r="-575" b="-857"/>
                </a:stretch>
              </a:blipFill>
            </p:spPr>
            <p:txBody>
              <a:bodyPr/>
              <a:lstStyle/>
              <a:p>
                <a:r>
                  <a:rPr lang="ru-RU">
                    <a:noFill/>
                  </a:rPr>
                  <a:t> </a:t>
                </a:r>
              </a:p>
            </p:txBody>
          </p:sp>
        </mc:Fallback>
      </mc:AlternateContent>
    </p:spTree>
    <p:extLst>
      <p:ext uri="{BB962C8B-B14F-4D97-AF65-F5344CB8AC3E}">
        <p14:creationId xmlns:p14="http://schemas.microsoft.com/office/powerpoint/2010/main" val="10473554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578734" y="2014783"/>
            <a:ext cx="5216324" cy="3647152"/>
          </a:xfrm>
          <a:prstGeom prst="rect">
            <a:avLst/>
          </a:prstGeom>
        </p:spPr>
        <p:txBody>
          <a:bodyPr wrap="square">
            <a:spAutoFit/>
          </a:bodyPr>
          <a:lstStyle/>
          <a:p>
            <a:pPr>
              <a:spcAft>
                <a:spcPts val="600"/>
              </a:spcAft>
            </a:pPr>
            <a:r>
              <a:rPr lang="ru-RU" dirty="0" smtClean="0">
                <a:latin typeface="Times New Roman" panose="02020603050405020304" pitchFamily="18" charset="0"/>
                <a:ea typeface="Times New Roman" panose="02020603050405020304" pitchFamily="18" charset="0"/>
                <a:cs typeface="Calibri" panose="020F0502020204030204" pitchFamily="34" charset="0"/>
              </a:rPr>
              <a:t>- </a:t>
            </a:r>
            <a:r>
              <a:rPr lang="ru-RU" i="1" dirty="0">
                <a:latin typeface="Times New Roman" panose="02020603050405020304" pitchFamily="18" charset="0"/>
                <a:ea typeface="Times New Roman" panose="02020603050405020304" pitchFamily="18" charset="0"/>
                <a:cs typeface="Calibri" panose="020F0502020204030204" pitchFamily="34" charset="0"/>
              </a:rPr>
              <a:t>по типу резонансной </a:t>
            </a:r>
            <a:r>
              <a:rPr lang="ru-RU" i="1" dirty="0" smtClean="0">
                <a:latin typeface="Times New Roman" panose="02020603050405020304" pitchFamily="18" charset="0"/>
                <a:ea typeface="Times New Roman" panose="02020603050405020304" pitchFamily="18" charset="0"/>
                <a:cs typeface="Calibri" panose="020F0502020204030204" pitchFamily="34" charset="0"/>
              </a:rPr>
              <a:t>системы </a:t>
            </a:r>
            <a:br>
              <a:rPr lang="ru-RU" i="1" dirty="0" smtClean="0">
                <a:latin typeface="Times New Roman" panose="02020603050405020304" pitchFamily="18" charset="0"/>
                <a:ea typeface="Times New Roman" panose="02020603050405020304" pitchFamily="18" charset="0"/>
                <a:cs typeface="Calibri" panose="020F0502020204030204" pitchFamily="34" charset="0"/>
              </a:rPr>
            </a:br>
            <a:r>
              <a:rPr lang="ru-RU" dirty="0" smtClean="0">
                <a:latin typeface="Times New Roman" panose="02020603050405020304" pitchFamily="18" charset="0"/>
                <a:ea typeface="Times New Roman" panose="02020603050405020304" pitchFamily="18" charset="0"/>
                <a:cs typeface="Calibri" panose="020F0502020204030204" pitchFamily="34" charset="0"/>
              </a:rPr>
              <a:t>1</a:t>
            </a:r>
            <a:r>
              <a:rPr lang="ru-RU" dirty="0">
                <a:latin typeface="Times New Roman" panose="02020603050405020304" pitchFamily="18" charset="0"/>
                <a:ea typeface="Times New Roman" panose="02020603050405020304" pitchFamily="18" charset="0"/>
                <a:cs typeface="Calibri" panose="020F0502020204030204" pitchFamily="34" charset="0"/>
              </a:rPr>
              <a:t>. Одноконтурная</a:t>
            </a:r>
            <a:r>
              <a:rPr lang="ru-RU" dirty="0" smtClean="0">
                <a:latin typeface="Times New Roman" panose="02020603050405020304" pitchFamily="18" charset="0"/>
                <a:ea typeface="Times New Roman" panose="02020603050405020304" pitchFamily="18" charset="0"/>
                <a:cs typeface="Calibri" panose="020F0502020204030204" pitchFamily="34" charset="0"/>
              </a:rPr>
              <a:t>, </a:t>
            </a:r>
            <a:br>
              <a:rPr lang="ru-RU" dirty="0" smtClean="0">
                <a:latin typeface="Times New Roman" panose="02020603050405020304" pitchFamily="18" charset="0"/>
                <a:ea typeface="Times New Roman" panose="02020603050405020304" pitchFamily="18" charset="0"/>
                <a:cs typeface="Calibri" panose="020F0502020204030204" pitchFamily="34" charset="0"/>
              </a:rPr>
            </a:br>
            <a:r>
              <a:rPr lang="ru-RU" dirty="0" smtClean="0">
                <a:latin typeface="Times New Roman" panose="02020603050405020304" pitchFamily="18" charset="0"/>
                <a:ea typeface="Times New Roman" panose="02020603050405020304" pitchFamily="18" charset="0"/>
                <a:cs typeface="Calibri" panose="020F0502020204030204" pitchFamily="34" charset="0"/>
              </a:rPr>
              <a:t>2</a:t>
            </a:r>
            <a:r>
              <a:rPr lang="ru-RU" dirty="0">
                <a:latin typeface="Times New Roman" panose="02020603050405020304" pitchFamily="18" charset="0"/>
                <a:ea typeface="Times New Roman" panose="02020603050405020304" pitchFamily="18" charset="0"/>
                <a:cs typeface="Calibri" panose="020F0502020204030204" pitchFamily="34" charset="0"/>
              </a:rPr>
              <a:t>. Многоконтурная (как правило, двухконтурная</a:t>
            </a:r>
            <a:r>
              <a:rPr lang="ru-RU" dirty="0" smtClean="0">
                <a:latin typeface="Times New Roman" panose="02020603050405020304" pitchFamily="18" charset="0"/>
                <a:ea typeface="Times New Roman" panose="02020603050405020304" pitchFamily="18" charset="0"/>
                <a:cs typeface="Calibri" panose="020F0502020204030204" pitchFamily="34" charset="0"/>
              </a:rPr>
              <a:t>).</a:t>
            </a:r>
            <a:endParaRPr lang="ru-RU" dirty="0">
              <a:latin typeface="Times New Roman" panose="02020603050405020304" pitchFamily="18" charset="0"/>
              <a:ea typeface="Calibri" panose="020F0502020204030204" pitchFamily="34" charset="0"/>
              <a:cs typeface="Calibri" panose="020F0502020204030204" pitchFamily="34" charset="0"/>
            </a:endParaRPr>
          </a:p>
          <a:p>
            <a:pPr>
              <a:spcAft>
                <a:spcPts val="600"/>
              </a:spcAft>
            </a:pPr>
            <a:r>
              <a:rPr lang="ru-RU" dirty="0">
                <a:latin typeface="Times New Roman" panose="02020603050405020304" pitchFamily="18" charset="0"/>
                <a:ea typeface="Times New Roman" panose="02020603050405020304" pitchFamily="18" charset="0"/>
                <a:cs typeface="Calibri" panose="020F0502020204030204" pitchFamily="34" charset="0"/>
              </a:rPr>
              <a:t>- </a:t>
            </a:r>
            <a:r>
              <a:rPr lang="ru-RU" i="1" dirty="0">
                <a:latin typeface="Times New Roman" panose="02020603050405020304" pitchFamily="18" charset="0"/>
                <a:ea typeface="Times New Roman" panose="02020603050405020304" pitchFamily="18" charset="0"/>
                <a:cs typeface="Calibri" panose="020F0502020204030204" pitchFamily="34" charset="0"/>
              </a:rPr>
              <a:t>по типу </a:t>
            </a:r>
            <a:r>
              <a:rPr lang="ru-RU" i="1" dirty="0" smtClean="0">
                <a:latin typeface="Times New Roman" panose="02020603050405020304" pitchFamily="18" charset="0"/>
                <a:ea typeface="Times New Roman" panose="02020603050405020304" pitchFamily="18" charset="0"/>
                <a:cs typeface="Calibri" panose="020F0502020204030204" pitchFamily="34" charset="0"/>
              </a:rPr>
              <a:t>настройки</a:t>
            </a:r>
            <a:br>
              <a:rPr lang="ru-RU" i="1" dirty="0" smtClean="0">
                <a:latin typeface="Times New Roman" panose="02020603050405020304" pitchFamily="18" charset="0"/>
                <a:ea typeface="Times New Roman" panose="02020603050405020304" pitchFamily="18" charset="0"/>
                <a:cs typeface="Calibri" panose="020F0502020204030204" pitchFamily="34" charset="0"/>
              </a:rPr>
            </a:br>
            <a:r>
              <a:rPr lang="ru-RU" dirty="0" smtClean="0">
                <a:latin typeface="Times New Roman" panose="02020603050405020304" pitchFamily="18" charset="0"/>
                <a:ea typeface="Times New Roman" panose="02020603050405020304" pitchFamily="18" charset="0"/>
                <a:cs typeface="Calibri" panose="020F0502020204030204" pitchFamily="34" charset="0"/>
              </a:rPr>
              <a:t>1</a:t>
            </a:r>
            <a:r>
              <a:rPr lang="ru-RU" dirty="0">
                <a:latin typeface="Times New Roman" panose="02020603050405020304" pitchFamily="18" charset="0"/>
                <a:ea typeface="Times New Roman" panose="02020603050405020304" pitchFamily="18" charset="0"/>
                <a:cs typeface="Calibri" panose="020F0502020204030204" pitchFamily="34" charset="0"/>
              </a:rPr>
              <a:t>. С постоянной (фиксированной) </a:t>
            </a:r>
            <a:r>
              <a:rPr lang="ru-RU" dirty="0" smtClean="0">
                <a:latin typeface="Times New Roman" panose="02020603050405020304" pitchFamily="18" charset="0"/>
                <a:ea typeface="Times New Roman" panose="02020603050405020304" pitchFamily="18" charset="0"/>
                <a:cs typeface="Calibri" panose="020F0502020204030204" pitchFamily="34" charset="0"/>
              </a:rPr>
              <a:t>настройкой,</a:t>
            </a:r>
            <a:br>
              <a:rPr lang="ru-RU" dirty="0" smtClean="0">
                <a:latin typeface="Times New Roman" panose="02020603050405020304" pitchFamily="18" charset="0"/>
                <a:ea typeface="Times New Roman" panose="02020603050405020304" pitchFamily="18" charset="0"/>
                <a:cs typeface="Calibri" panose="020F0502020204030204" pitchFamily="34" charset="0"/>
              </a:rPr>
            </a:br>
            <a:r>
              <a:rPr lang="ru-RU" dirty="0" smtClean="0">
                <a:latin typeface="Times New Roman" panose="02020603050405020304" pitchFamily="18" charset="0"/>
                <a:ea typeface="Times New Roman" panose="02020603050405020304" pitchFamily="18" charset="0"/>
                <a:cs typeface="Calibri" panose="020F0502020204030204" pitchFamily="34" charset="0"/>
              </a:rPr>
              <a:t>2</a:t>
            </a:r>
            <a:r>
              <a:rPr lang="ru-RU" dirty="0">
                <a:latin typeface="Times New Roman" panose="02020603050405020304" pitchFamily="18" charset="0"/>
                <a:ea typeface="Times New Roman" panose="02020603050405020304" pitchFamily="18" charset="0"/>
                <a:cs typeface="Calibri" panose="020F0502020204030204" pitchFamily="34" charset="0"/>
              </a:rPr>
              <a:t>. С переменной настройкой.</a:t>
            </a:r>
            <a:endParaRPr lang="ru-RU" dirty="0">
              <a:latin typeface="Times New Roman" panose="02020603050405020304" pitchFamily="18" charset="0"/>
              <a:ea typeface="Calibri" panose="020F0502020204030204" pitchFamily="34" charset="0"/>
              <a:cs typeface="Calibri" panose="020F0502020204030204" pitchFamily="34" charset="0"/>
            </a:endParaRPr>
          </a:p>
          <a:p>
            <a:pPr>
              <a:spcAft>
                <a:spcPts val="600"/>
              </a:spcAft>
            </a:pPr>
            <a:r>
              <a:rPr lang="ru-RU" dirty="0">
                <a:latin typeface="Times New Roman" panose="02020603050405020304" pitchFamily="18" charset="0"/>
                <a:ea typeface="Times New Roman" panose="02020603050405020304" pitchFamily="18" charset="0"/>
                <a:cs typeface="Calibri" panose="020F0502020204030204" pitchFamily="34" charset="0"/>
              </a:rPr>
              <a:t>- </a:t>
            </a:r>
            <a:r>
              <a:rPr lang="ru-RU" i="1" dirty="0">
                <a:latin typeface="Times New Roman" panose="02020603050405020304" pitchFamily="18" charset="0"/>
                <a:ea typeface="Times New Roman" panose="02020603050405020304" pitchFamily="18" charset="0"/>
                <a:cs typeface="Calibri" panose="020F0502020204030204" pitchFamily="34" charset="0"/>
              </a:rPr>
              <a:t>по способу перестройки в пределах </a:t>
            </a:r>
            <a:r>
              <a:rPr lang="ru-RU" i="1" dirty="0" smtClean="0">
                <a:latin typeface="Times New Roman" panose="02020603050405020304" pitchFamily="18" charset="0"/>
                <a:ea typeface="Times New Roman" panose="02020603050405020304" pitchFamily="18" charset="0"/>
                <a:cs typeface="Calibri" panose="020F0502020204030204" pitchFamily="34" charset="0"/>
              </a:rPr>
              <a:t>диапазона</a:t>
            </a:r>
            <a:br>
              <a:rPr lang="ru-RU" i="1" dirty="0" smtClean="0">
                <a:latin typeface="Times New Roman" panose="02020603050405020304" pitchFamily="18" charset="0"/>
                <a:ea typeface="Times New Roman" panose="02020603050405020304" pitchFamily="18" charset="0"/>
                <a:cs typeface="Calibri" panose="020F0502020204030204" pitchFamily="34" charset="0"/>
              </a:rPr>
            </a:br>
            <a:r>
              <a:rPr lang="ru-RU" dirty="0" smtClean="0">
                <a:latin typeface="Times New Roman" panose="02020603050405020304" pitchFamily="18" charset="0"/>
                <a:ea typeface="Times New Roman" panose="02020603050405020304" pitchFamily="18" charset="0"/>
                <a:cs typeface="Calibri" panose="020F0502020204030204" pitchFamily="34" charset="0"/>
              </a:rPr>
              <a:t>1</a:t>
            </a:r>
            <a:r>
              <a:rPr lang="ru-RU" dirty="0">
                <a:latin typeface="Times New Roman" panose="02020603050405020304" pitchFamily="18" charset="0"/>
                <a:ea typeface="Times New Roman" panose="02020603050405020304" pitchFamily="18" charset="0"/>
                <a:cs typeface="Calibri" panose="020F0502020204030204" pitchFamily="34" charset="0"/>
              </a:rPr>
              <a:t>. С плавной </a:t>
            </a:r>
            <a:r>
              <a:rPr lang="ru-RU" dirty="0" smtClean="0">
                <a:latin typeface="Times New Roman" panose="02020603050405020304" pitchFamily="18" charset="0"/>
                <a:ea typeface="Times New Roman" panose="02020603050405020304" pitchFamily="18" charset="0"/>
                <a:cs typeface="Calibri" panose="020F0502020204030204" pitchFamily="34" charset="0"/>
              </a:rPr>
              <a:t>перестройкой,</a:t>
            </a:r>
            <a:br>
              <a:rPr lang="ru-RU" dirty="0" smtClean="0">
                <a:latin typeface="Times New Roman" panose="02020603050405020304" pitchFamily="18" charset="0"/>
                <a:ea typeface="Times New Roman" panose="02020603050405020304" pitchFamily="18" charset="0"/>
                <a:cs typeface="Calibri" panose="020F0502020204030204" pitchFamily="34" charset="0"/>
              </a:rPr>
            </a:br>
            <a:r>
              <a:rPr lang="ru-RU" dirty="0" smtClean="0">
                <a:latin typeface="Times New Roman" panose="02020603050405020304" pitchFamily="18" charset="0"/>
                <a:ea typeface="Times New Roman" panose="02020603050405020304" pitchFamily="18" charset="0"/>
                <a:cs typeface="Calibri" panose="020F0502020204030204" pitchFamily="34" charset="0"/>
              </a:rPr>
              <a:t>2</a:t>
            </a:r>
            <a:r>
              <a:rPr lang="ru-RU" dirty="0">
                <a:latin typeface="Times New Roman" panose="02020603050405020304" pitchFamily="18" charset="0"/>
                <a:ea typeface="Times New Roman" panose="02020603050405020304" pitchFamily="18" charset="0"/>
                <a:cs typeface="Calibri" panose="020F0502020204030204" pitchFamily="34" charset="0"/>
              </a:rPr>
              <a:t>. С дискретной перестройкой</a:t>
            </a:r>
            <a:endParaRPr lang="ru-RU" dirty="0">
              <a:latin typeface="Times New Roman" panose="02020603050405020304" pitchFamily="18" charset="0"/>
              <a:ea typeface="Calibri" panose="020F0502020204030204" pitchFamily="34" charset="0"/>
              <a:cs typeface="Calibri" panose="020F0502020204030204" pitchFamily="34" charset="0"/>
            </a:endParaRPr>
          </a:p>
          <a:p>
            <a:pPr>
              <a:spcAft>
                <a:spcPts val="600"/>
              </a:spcAft>
            </a:pPr>
            <a:r>
              <a:rPr lang="ru-RU" dirty="0">
                <a:latin typeface="Times New Roman" panose="02020603050405020304" pitchFamily="18" charset="0"/>
                <a:ea typeface="Times New Roman" panose="02020603050405020304" pitchFamily="18" charset="0"/>
                <a:cs typeface="Calibri" panose="020F0502020204030204" pitchFamily="34" charset="0"/>
              </a:rPr>
              <a:t>- </a:t>
            </a:r>
            <a:r>
              <a:rPr lang="ru-RU" i="1" dirty="0">
                <a:latin typeface="Times New Roman" panose="02020603050405020304" pitchFamily="18" charset="0"/>
                <a:ea typeface="Times New Roman" panose="02020603050405020304" pitchFamily="18" charset="0"/>
                <a:cs typeface="Calibri" panose="020F0502020204030204" pitchFamily="34" charset="0"/>
              </a:rPr>
              <a:t>по способу управления </a:t>
            </a:r>
            <a:r>
              <a:rPr lang="ru-RU" i="1" dirty="0" smtClean="0">
                <a:latin typeface="Times New Roman" panose="02020603050405020304" pitchFamily="18" charset="0"/>
                <a:ea typeface="Times New Roman" panose="02020603050405020304" pitchFamily="18" charset="0"/>
                <a:cs typeface="Calibri" panose="020F0502020204030204" pitchFamily="34" charset="0"/>
              </a:rPr>
              <a:t>настройкой</a:t>
            </a:r>
            <a:br>
              <a:rPr lang="ru-RU" i="1" dirty="0" smtClean="0">
                <a:latin typeface="Times New Roman" panose="02020603050405020304" pitchFamily="18" charset="0"/>
                <a:ea typeface="Times New Roman" panose="02020603050405020304" pitchFamily="18" charset="0"/>
                <a:cs typeface="Calibri" panose="020F0502020204030204" pitchFamily="34" charset="0"/>
              </a:rPr>
            </a:br>
            <a:r>
              <a:rPr lang="ru-RU" dirty="0" smtClean="0">
                <a:latin typeface="Times New Roman" panose="02020603050405020304" pitchFamily="18" charset="0"/>
                <a:ea typeface="Times New Roman" panose="02020603050405020304" pitchFamily="18" charset="0"/>
                <a:cs typeface="Calibri" panose="020F0502020204030204" pitchFamily="34" charset="0"/>
              </a:rPr>
              <a:t>1</a:t>
            </a:r>
            <a:r>
              <a:rPr lang="ru-RU" dirty="0">
                <a:latin typeface="Times New Roman" panose="02020603050405020304" pitchFamily="18" charset="0"/>
                <a:ea typeface="Times New Roman" panose="02020603050405020304" pitchFamily="18" charset="0"/>
                <a:cs typeface="Calibri" panose="020F0502020204030204" pitchFamily="34" charset="0"/>
              </a:rPr>
              <a:t>. С механической </a:t>
            </a:r>
            <a:r>
              <a:rPr lang="ru-RU" dirty="0" smtClean="0">
                <a:latin typeface="Times New Roman" panose="02020603050405020304" pitchFamily="18" charset="0"/>
                <a:ea typeface="Times New Roman" panose="02020603050405020304" pitchFamily="18" charset="0"/>
                <a:cs typeface="Calibri" panose="020F0502020204030204" pitchFamily="34" charset="0"/>
              </a:rPr>
              <a:t>настройкой,</a:t>
            </a:r>
            <a:br>
              <a:rPr lang="ru-RU" dirty="0" smtClean="0">
                <a:latin typeface="Times New Roman" panose="02020603050405020304" pitchFamily="18" charset="0"/>
                <a:ea typeface="Times New Roman" panose="02020603050405020304" pitchFamily="18" charset="0"/>
                <a:cs typeface="Calibri" panose="020F0502020204030204" pitchFamily="34" charset="0"/>
              </a:rPr>
            </a:br>
            <a:r>
              <a:rPr lang="ru-RU" dirty="0" smtClean="0">
                <a:latin typeface="Times New Roman" panose="02020603050405020304" pitchFamily="18" charset="0"/>
                <a:ea typeface="Times New Roman" panose="02020603050405020304" pitchFamily="18" charset="0"/>
                <a:cs typeface="Calibri" panose="020F0502020204030204" pitchFamily="34" charset="0"/>
              </a:rPr>
              <a:t>2</a:t>
            </a:r>
            <a:r>
              <a:rPr lang="ru-RU" dirty="0">
                <a:latin typeface="Times New Roman" panose="02020603050405020304" pitchFamily="18" charset="0"/>
                <a:ea typeface="Times New Roman" panose="02020603050405020304" pitchFamily="18" charset="0"/>
                <a:cs typeface="Calibri" panose="020F0502020204030204" pitchFamily="34" charset="0"/>
              </a:rPr>
              <a:t>. С электронной настройкой</a:t>
            </a:r>
            <a:r>
              <a:rPr lang="ru-RU" dirty="0" smtClean="0">
                <a:latin typeface="Times New Roman" panose="02020603050405020304" pitchFamily="18" charset="0"/>
                <a:ea typeface="Times New Roman" panose="02020603050405020304" pitchFamily="18" charset="0"/>
                <a:cs typeface="Calibri" panose="020F0502020204030204" pitchFamily="34" charset="0"/>
              </a:rPr>
              <a:t>.</a:t>
            </a:r>
          </a:p>
        </p:txBody>
      </p:sp>
      <p:sp>
        <p:nvSpPr>
          <p:cNvPr id="5" name="Прямоугольник 4"/>
          <p:cNvSpPr/>
          <p:nvPr/>
        </p:nvSpPr>
        <p:spPr>
          <a:xfrm>
            <a:off x="4138836" y="340981"/>
            <a:ext cx="3312445" cy="388696"/>
          </a:xfrm>
          <a:prstGeom prst="rect">
            <a:avLst/>
          </a:prstGeom>
        </p:spPr>
        <p:txBody>
          <a:bodyPr wrap="none">
            <a:spAutoFit/>
          </a:bodyPr>
          <a:lstStyle/>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Классификация входных цепей:</a:t>
            </a:r>
            <a:endParaRPr lang="ru-RU" dirty="0">
              <a:latin typeface="Times New Roman" panose="02020603050405020304" pitchFamily="18" charset="0"/>
              <a:ea typeface="Calibri" panose="020F0502020204030204" pitchFamily="34" charset="0"/>
              <a:cs typeface="Calibri" panose="020F0502020204030204" pitchFamily="34" charset="0"/>
            </a:endParaRPr>
          </a:p>
        </p:txBody>
      </p:sp>
      <p:sp>
        <p:nvSpPr>
          <p:cNvPr id="6" name="Прямоугольник 5"/>
          <p:cNvSpPr/>
          <p:nvPr/>
        </p:nvSpPr>
        <p:spPr>
          <a:xfrm>
            <a:off x="5795058" y="1973594"/>
            <a:ext cx="6096000" cy="3570208"/>
          </a:xfrm>
          <a:prstGeom prst="rect">
            <a:avLst/>
          </a:prstGeom>
        </p:spPr>
        <p:txBody>
          <a:bodyPr>
            <a:spAutoFit/>
          </a:bodyPr>
          <a:lstStyle/>
          <a:p>
            <a:pPr>
              <a:spcAft>
                <a:spcPts val="600"/>
              </a:spcAft>
            </a:pPr>
            <a:r>
              <a:rPr lang="ru-RU" dirty="0" smtClean="0">
                <a:latin typeface="Times New Roman" panose="02020603050405020304" pitchFamily="18" charset="0"/>
                <a:ea typeface="Times New Roman" panose="02020603050405020304" pitchFamily="18" charset="0"/>
                <a:cs typeface="Calibri" panose="020F0502020204030204" pitchFamily="34" charset="0"/>
              </a:rPr>
              <a:t>- </a:t>
            </a:r>
            <a:r>
              <a:rPr lang="ru-RU" i="1" dirty="0">
                <a:latin typeface="Times New Roman" panose="02020603050405020304" pitchFamily="18" charset="0"/>
                <a:ea typeface="Times New Roman" panose="02020603050405020304" pitchFamily="18" charset="0"/>
                <a:cs typeface="Calibri" panose="020F0502020204030204" pitchFamily="34" charset="0"/>
              </a:rPr>
              <a:t>по типу связи с </a:t>
            </a:r>
            <a:r>
              <a:rPr lang="ru-RU" i="1" dirty="0" smtClean="0">
                <a:latin typeface="Times New Roman" panose="02020603050405020304" pitchFamily="18" charset="0"/>
                <a:ea typeface="Times New Roman" panose="02020603050405020304" pitchFamily="18" charset="0"/>
                <a:cs typeface="Calibri" panose="020F0502020204030204" pitchFamily="34" charset="0"/>
              </a:rPr>
              <a:t>антенной</a:t>
            </a:r>
            <a:br>
              <a:rPr lang="ru-RU" i="1" dirty="0" smtClean="0">
                <a:latin typeface="Times New Roman" panose="02020603050405020304" pitchFamily="18" charset="0"/>
                <a:ea typeface="Times New Roman" panose="02020603050405020304" pitchFamily="18" charset="0"/>
                <a:cs typeface="Calibri" panose="020F0502020204030204" pitchFamily="34" charset="0"/>
              </a:rPr>
            </a:br>
            <a:r>
              <a:rPr lang="ru-RU" dirty="0" smtClean="0">
                <a:latin typeface="Times New Roman" panose="02020603050405020304" pitchFamily="18" charset="0"/>
                <a:ea typeface="Times New Roman" panose="02020603050405020304" pitchFamily="18" charset="0"/>
                <a:cs typeface="Calibri" panose="020F0502020204030204" pitchFamily="34" charset="0"/>
              </a:rPr>
              <a:t>1</a:t>
            </a:r>
            <a:r>
              <a:rPr lang="ru-RU" dirty="0">
                <a:latin typeface="Times New Roman" panose="02020603050405020304" pitchFamily="18" charset="0"/>
                <a:ea typeface="Times New Roman" panose="02020603050405020304" pitchFamily="18" charset="0"/>
                <a:cs typeface="Calibri" panose="020F0502020204030204" pitchFamily="34" charset="0"/>
              </a:rPr>
              <a:t>. Связанная с настроенной </a:t>
            </a:r>
            <a:r>
              <a:rPr lang="ru-RU" dirty="0" smtClean="0">
                <a:latin typeface="Times New Roman" panose="02020603050405020304" pitchFamily="18" charset="0"/>
                <a:ea typeface="Times New Roman" panose="02020603050405020304" pitchFamily="18" charset="0"/>
                <a:cs typeface="Calibri" panose="020F0502020204030204" pitchFamily="34" charset="0"/>
              </a:rPr>
              <a:t>антенной,</a:t>
            </a:r>
            <a:br>
              <a:rPr lang="ru-RU" dirty="0" smtClean="0">
                <a:latin typeface="Times New Roman" panose="02020603050405020304" pitchFamily="18" charset="0"/>
                <a:ea typeface="Times New Roman" panose="02020603050405020304" pitchFamily="18" charset="0"/>
                <a:cs typeface="Calibri" panose="020F0502020204030204" pitchFamily="34" charset="0"/>
              </a:rPr>
            </a:br>
            <a:r>
              <a:rPr lang="ru-RU" dirty="0" smtClean="0">
                <a:latin typeface="Times New Roman" panose="02020603050405020304" pitchFamily="18" charset="0"/>
                <a:ea typeface="Times New Roman" panose="02020603050405020304" pitchFamily="18" charset="0"/>
                <a:cs typeface="Calibri" panose="020F0502020204030204" pitchFamily="34" charset="0"/>
              </a:rPr>
              <a:t>2</a:t>
            </a:r>
            <a:r>
              <a:rPr lang="ru-RU" dirty="0">
                <a:latin typeface="Times New Roman" panose="02020603050405020304" pitchFamily="18" charset="0"/>
                <a:ea typeface="Times New Roman" panose="02020603050405020304" pitchFamily="18" charset="0"/>
                <a:cs typeface="Calibri" panose="020F0502020204030204" pitchFamily="34" charset="0"/>
              </a:rPr>
              <a:t>. Связанная с ненастроенной антенной.</a:t>
            </a:r>
            <a:endParaRPr lang="ru-RU" dirty="0">
              <a:latin typeface="Times New Roman" panose="02020603050405020304" pitchFamily="18" charset="0"/>
              <a:ea typeface="Calibri" panose="020F0502020204030204" pitchFamily="34" charset="0"/>
              <a:cs typeface="Calibri" panose="020F0502020204030204" pitchFamily="34" charset="0"/>
            </a:endParaRPr>
          </a:p>
          <a:p>
            <a:pPr>
              <a:spcAft>
                <a:spcPts val="600"/>
              </a:spcAft>
            </a:pPr>
            <a:r>
              <a:rPr lang="ru-RU" dirty="0">
                <a:latin typeface="Times New Roman" panose="02020603050405020304" pitchFamily="18" charset="0"/>
                <a:ea typeface="Times New Roman" panose="02020603050405020304" pitchFamily="18" charset="0"/>
                <a:cs typeface="Calibri" panose="020F0502020204030204" pitchFamily="34" charset="0"/>
              </a:rPr>
              <a:t>- </a:t>
            </a:r>
            <a:r>
              <a:rPr lang="ru-RU" i="1" dirty="0">
                <a:latin typeface="Times New Roman" panose="02020603050405020304" pitchFamily="18" charset="0"/>
                <a:ea typeface="Times New Roman" panose="02020603050405020304" pitchFamily="18" charset="0"/>
                <a:cs typeface="Calibri" panose="020F0502020204030204" pitchFamily="34" charset="0"/>
              </a:rPr>
              <a:t>по виду элемента связи с </a:t>
            </a:r>
            <a:r>
              <a:rPr lang="ru-RU" i="1" dirty="0" smtClean="0">
                <a:latin typeface="Times New Roman" panose="02020603050405020304" pitchFamily="18" charset="0"/>
                <a:ea typeface="Times New Roman" panose="02020603050405020304" pitchFamily="18" charset="0"/>
                <a:cs typeface="Calibri" panose="020F0502020204030204" pitchFamily="34" charset="0"/>
              </a:rPr>
              <a:t>антенной</a:t>
            </a:r>
            <a:br>
              <a:rPr lang="ru-RU" i="1" dirty="0" smtClean="0">
                <a:latin typeface="Times New Roman" panose="02020603050405020304" pitchFamily="18" charset="0"/>
                <a:ea typeface="Times New Roman" panose="02020603050405020304" pitchFamily="18" charset="0"/>
                <a:cs typeface="Calibri" panose="020F0502020204030204" pitchFamily="34" charset="0"/>
              </a:rPr>
            </a:br>
            <a:r>
              <a:rPr lang="ru-RU" dirty="0" smtClean="0">
                <a:latin typeface="Times New Roman" panose="02020603050405020304" pitchFamily="18" charset="0"/>
                <a:ea typeface="Times New Roman" panose="02020603050405020304" pitchFamily="18" charset="0"/>
                <a:cs typeface="Calibri" panose="020F0502020204030204" pitchFamily="34" charset="0"/>
              </a:rPr>
              <a:t>1</a:t>
            </a:r>
            <a:r>
              <a:rPr lang="ru-RU" dirty="0">
                <a:latin typeface="Times New Roman" panose="02020603050405020304" pitchFamily="18" charset="0"/>
                <a:ea typeface="Times New Roman" panose="02020603050405020304" pitchFamily="18" charset="0"/>
                <a:cs typeface="Calibri" panose="020F0502020204030204" pitchFamily="34" charset="0"/>
              </a:rPr>
              <a:t>. С емкостной связью через разделительный </a:t>
            </a:r>
            <a:r>
              <a:rPr lang="ru-RU" dirty="0" smtClean="0">
                <a:latin typeface="Times New Roman" panose="02020603050405020304" pitchFamily="18" charset="0"/>
                <a:ea typeface="Times New Roman" panose="02020603050405020304" pitchFamily="18" charset="0"/>
                <a:cs typeface="Calibri" panose="020F0502020204030204" pitchFamily="34" charset="0"/>
              </a:rPr>
              <a:t>конденсатор,</a:t>
            </a:r>
            <a:br>
              <a:rPr lang="ru-RU" dirty="0" smtClean="0">
                <a:latin typeface="Times New Roman" panose="02020603050405020304" pitchFamily="18" charset="0"/>
                <a:ea typeface="Times New Roman" panose="02020603050405020304" pitchFamily="18" charset="0"/>
                <a:cs typeface="Calibri" panose="020F0502020204030204" pitchFamily="34" charset="0"/>
              </a:rPr>
            </a:br>
            <a:r>
              <a:rPr lang="ru-RU" dirty="0" smtClean="0">
                <a:latin typeface="Times New Roman" panose="02020603050405020304" pitchFamily="18" charset="0"/>
                <a:ea typeface="Times New Roman" panose="02020603050405020304" pitchFamily="18" charset="0"/>
                <a:cs typeface="Calibri" panose="020F0502020204030204" pitchFamily="34" charset="0"/>
              </a:rPr>
              <a:t>2</a:t>
            </a:r>
            <a:r>
              <a:rPr lang="ru-RU" dirty="0">
                <a:latin typeface="Times New Roman" panose="02020603050405020304" pitchFamily="18" charset="0"/>
                <a:ea typeface="Times New Roman" panose="02020603050405020304" pitchFamily="18" charset="0"/>
                <a:cs typeface="Calibri" panose="020F0502020204030204" pitchFamily="34" charset="0"/>
              </a:rPr>
              <a:t>. С трансформаторной </a:t>
            </a:r>
            <a:r>
              <a:rPr lang="ru-RU" dirty="0" smtClean="0">
                <a:latin typeface="Times New Roman" panose="02020603050405020304" pitchFamily="18" charset="0"/>
                <a:ea typeface="Times New Roman" panose="02020603050405020304" pitchFamily="18" charset="0"/>
                <a:cs typeface="Calibri" panose="020F0502020204030204" pitchFamily="34" charset="0"/>
              </a:rPr>
              <a:t>связью,</a:t>
            </a:r>
            <a:br>
              <a:rPr lang="ru-RU" dirty="0" smtClean="0">
                <a:latin typeface="Times New Roman" panose="02020603050405020304" pitchFamily="18" charset="0"/>
                <a:ea typeface="Times New Roman" panose="02020603050405020304" pitchFamily="18" charset="0"/>
                <a:cs typeface="Calibri" panose="020F0502020204030204" pitchFamily="34" charset="0"/>
              </a:rPr>
            </a:br>
            <a:r>
              <a:rPr lang="ru-RU" dirty="0" smtClean="0">
                <a:latin typeface="Times New Roman" panose="02020603050405020304" pitchFamily="18" charset="0"/>
                <a:ea typeface="Times New Roman" panose="02020603050405020304" pitchFamily="18" charset="0"/>
                <a:cs typeface="Calibri" panose="020F0502020204030204" pitchFamily="34" charset="0"/>
              </a:rPr>
              <a:t>3</a:t>
            </a:r>
            <a:r>
              <a:rPr lang="ru-RU" dirty="0">
                <a:latin typeface="Times New Roman" panose="02020603050405020304" pitchFamily="18" charset="0"/>
                <a:ea typeface="Times New Roman" panose="02020603050405020304" pitchFamily="18" charset="0"/>
                <a:cs typeface="Calibri" panose="020F0502020204030204" pitchFamily="34" charset="0"/>
              </a:rPr>
              <a:t>. С комбинированной связью.</a:t>
            </a:r>
            <a:endParaRPr lang="ru-RU" dirty="0">
              <a:latin typeface="Times New Roman" panose="02020603050405020304" pitchFamily="18" charset="0"/>
              <a:ea typeface="Calibri" panose="020F0502020204030204" pitchFamily="34" charset="0"/>
              <a:cs typeface="Calibri" panose="020F0502020204030204" pitchFamily="34" charset="0"/>
            </a:endParaRPr>
          </a:p>
          <a:p>
            <a:pPr>
              <a:spcAft>
                <a:spcPts val="600"/>
              </a:spcAft>
            </a:pPr>
            <a:r>
              <a:rPr lang="ru-RU" dirty="0">
                <a:latin typeface="Times New Roman" panose="02020603050405020304" pitchFamily="18" charset="0"/>
                <a:ea typeface="Times New Roman" panose="02020603050405020304" pitchFamily="18" charset="0"/>
                <a:cs typeface="Calibri" panose="020F0502020204030204" pitchFamily="34" charset="0"/>
              </a:rPr>
              <a:t>- </a:t>
            </a:r>
            <a:r>
              <a:rPr lang="ru-RU" i="1" dirty="0">
                <a:latin typeface="Times New Roman" panose="02020603050405020304" pitchFamily="18" charset="0"/>
                <a:ea typeface="Times New Roman" panose="02020603050405020304" pitchFamily="18" charset="0"/>
                <a:cs typeface="Calibri" panose="020F0502020204030204" pitchFamily="34" charset="0"/>
              </a:rPr>
              <a:t>по виду связи со входом следующего </a:t>
            </a:r>
            <a:r>
              <a:rPr lang="ru-RU" i="1" dirty="0" smtClean="0">
                <a:latin typeface="Times New Roman" panose="02020603050405020304" pitchFamily="18" charset="0"/>
                <a:ea typeface="Times New Roman" panose="02020603050405020304" pitchFamily="18" charset="0"/>
                <a:cs typeface="Calibri" panose="020F0502020204030204" pitchFamily="34" charset="0"/>
              </a:rPr>
              <a:t>каскада</a:t>
            </a:r>
            <a:r>
              <a:rPr lang="ru-RU" dirty="0" smtClean="0">
                <a:latin typeface="Times New Roman" panose="02020603050405020304" pitchFamily="18" charset="0"/>
                <a:ea typeface="Times New Roman" panose="02020603050405020304" pitchFamily="18" charset="0"/>
                <a:cs typeface="Calibri" panose="020F0502020204030204" pitchFamily="34" charset="0"/>
              </a:rPr>
              <a:t>,</a:t>
            </a:r>
            <a:br>
              <a:rPr lang="ru-RU" dirty="0" smtClean="0">
                <a:latin typeface="Times New Roman" panose="02020603050405020304" pitchFamily="18" charset="0"/>
                <a:ea typeface="Times New Roman" panose="02020603050405020304" pitchFamily="18" charset="0"/>
                <a:cs typeface="Calibri" panose="020F0502020204030204" pitchFamily="34" charset="0"/>
              </a:rPr>
            </a:br>
            <a:r>
              <a:rPr lang="ru-RU" dirty="0" smtClean="0">
                <a:latin typeface="Times New Roman" panose="02020603050405020304" pitchFamily="18" charset="0"/>
                <a:ea typeface="Times New Roman" panose="02020603050405020304" pitchFamily="18" charset="0"/>
                <a:cs typeface="Calibri" panose="020F0502020204030204" pitchFamily="34" charset="0"/>
              </a:rPr>
              <a:t>1 </a:t>
            </a:r>
            <a:r>
              <a:rPr lang="ru-RU" dirty="0">
                <a:latin typeface="Times New Roman" panose="02020603050405020304" pitchFamily="18" charset="0"/>
                <a:ea typeface="Times New Roman" panose="02020603050405020304" pitchFamily="18" charset="0"/>
                <a:cs typeface="Calibri" panose="020F0502020204030204" pitchFamily="34" charset="0"/>
              </a:rPr>
              <a:t>С полным включением колебательного </a:t>
            </a:r>
            <a:r>
              <a:rPr lang="ru-RU" dirty="0" smtClean="0">
                <a:latin typeface="Times New Roman" panose="02020603050405020304" pitchFamily="18" charset="0"/>
                <a:ea typeface="Times New Roman" panose="02020603050405020304" pitchFamily="18" charset="0"/>
                <a:cs typeface="Calibri" panose="020F0502020204030204" pitchFamily="34" charset="0"/>
              </a:rPr>
              <a:t>контура,</a:t>
            </a:r>
            <a:br>
              <a:rPr lang="ru-RU" dirty="0" smtClean="0">
                <a:latin typeface="Times New Roman" panose="02020603050405020304" pitchFamily="18" charset="0"/>
                <a:ea typeface="Times New Roman" panose="02020603050405020304" pitchFamily="18" charset="0"/>
                <a:cs typeface="Calibri" panose="020F0502020204030204" pitchFamily="34" charset="0"/>
              </a:rPr>
            </a:br>
            <a:r>
              <a:rPr lang="ru-RU" dirty="0" smtClean="0">
                <a:latin typeface="Times New Roman" panose="02020603050405020304" pitchFamily="18" charset="0"/>
                <a:ea typeface="Times New Roman" panose="02020603050405020304" pitchFamily="18" charset="0"/>
                <a:cs typeface="Calibri" panose="020F0502020204030204" pitchFamily="34" charset="0"/>
              </a:rPr>
              <a:t>2 </a:t>
            </a:r>
            <a:r>
              <a:rPr lang="ru-RU" dirty="0">
                <a:latin typeface="Times New Roman" panose="02020603050405020304" pitchFamily="18" charset="0"/>
                <a:ea typeface="Times New Roman" panose="02020603050405020304" pitchFamily="18" charset="0"/>
                <a:cs typeface="Calibri" panose="020F0502020204030204" pitchFamily="34" charset="0"/>
              </a:rPr>
              <a:t>С частичным включением колебательного контура при трансформаторной, автотрансформаторной, емкостной и комбинированной связи.</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537581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605742" y="407593"/>
            <a:ext cx="10668000" cy="1676741"/>
          </a:xfrm>
          <a:prstGeom prst="rect">
            <a:avLst/>
          </a:prstGeom>
        </p:spPr>
        <p:txBody>
          <a:bodyPr wrap="square">
            <a:spAutoFit/>
          </a:bodyPr>
          <a:lstStyle/>
          <a:p>
            <a:pPr algn="just">
              <a:lnSpc>
                <a:spcPct val="107000"/>
              </a:lnSpc>
              <a:spcAft>
                <a:spcPts val="800"/>
              </a:spcAft>
            </a:pPr>
            <a:r>
              <a:rPr lang="ru-RU" b="1" dirty="0">
                <a:latin typeface="Times New Roman" panose="02020603050405020304" pitchFamily="18" charset="0"/>
                <a:ea typeface="Times New Roman" panose="02020603050405020304" pitchFamily="18" charset="0"/>
                <a:cs typeface="Calibri" panose="020F0502020204030204" pitchFamily="34" charset="0"/>
              </a:rPr>
              <a:t>Варианты схем входных цепей</a:t>
            </a:r>
            <a:endParaRPr lang="ru-RU" dirty="0">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Основные схемы входной цепи по виду связи с антенной выполняются по схеме с индуктивной, емкостной или комбинированной связью с антенной. Входные цепи диапазонных радиоприемных устройств используют ненастроенную антенну, когда резонансная частота антенной цепи лежит вне диапазона рабочих частот.</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pic>
        <p:nvPicPr>
          <p:cNvPr id="4" name="Рисунок 3" descr="Изображение выглядит как диаграмма, зарисовка, Технический чертеж, План&#10;&#10;Контент, сгенерированный ИИ, может содержать ошибки."/>
          <p:cNvPicPr/>
          <p:nvPr/>
        </p:nvPicPr>
        <p:blipFill>
          <a:blip r:embed="rId2"/>
          <a:stretch>
            <a:fillRect/>
          </a:stretch>
        </p:blipFill>
        <p:spPr>
          <a:xfrm>
            <a:off x="706820" y="2084334"/>
            <a:ext cx="3676650" cy="3079750"/>
          </a:xfrm>
          <a:prstGeom prst="rect">
            <a:avLst/>
          </a:prstGeom>
        </p:spPr>
      </p:pic>
      <p:sp>
        <p:nvSpPr>
          <p:cNvPr id="5" name="Прямоугольник 4"/>
          <p:cNvSpPr/>
          <p:nvPr/>
        </p:nvSpPr>
        <p:spPr>
          <a:xfrm>
            <a:off x="4484548" y="2084334"/>
            <a:ext cx="6708171" cy="923330"/>
          </a:xfrm>
          <a:prstGeom prst="rect">
            <a:avLst/>
          </a:prstGeom>
        </p:spPr>
        <p:txBody>
          <a:bodyPr wrap="square">
            <a:spAutoFit/>
          </a:bodyPr>
          <a:lstStyle/>
          <a:p>
            <a:r>
              <a:rPr lang="ru-RU" dirty="0">
                <a:latin typeface="Times New Roman" panose="02020603050405020304" pitchFamily="18" charset="0"/>
                <a:ea typeface="Times New Roman" panose="02020603050405020304" pitchFamily="18" charset="0"/>
                <a:cs typeface="Calibri" panose="020F0502020204030204" pitchFamily="34" charset="0"/>
              </a:rPr>
              <a:t>Индуктивная связь входной цепи с антенной (рис. а) может работать в режиме удлинения, когда резонансная частота антенной цепи меньше минимальной частоты, так что</a:t>
            </a:r>
            <a:endParaRPr lang="ru-RU" dirty="0"/>
          </a:p>
        </p:txBody>
      </p:sp>
      <p:pic>
        <p:nvPicPr>
          <p:cNvPr id="6" name="Рисунок 5"/>
          <p:cNvPicPr/>
          <p:nvPr/>
        </p:nvPicPr>
        <p:blipFill>
          <a:blip r:embed="rId3"/>
          <a:stretch>
            <a:fillRect/>
          </a:stretch>
        </p:blipFill>
        <p:spPr>
          <a:xfrm>
            <a:off x="6773420" y="3019729"/>
            <a:ext cx="2130425" cy="525780"/>
          </a:xfrm>
          <a:prstGeom prst="rect">
            <a:avLst/>
          </a:prstGeom>
        </p:spPr>
      </p:pic>
      <p:sp>
        <p:nvSpPr>
          <p:cNvPr id="7" name="Прямоугольник 6"/>
          <p:cNvSpPr/>
          <p:nvPr/>
        </p:nvSpPr>
        <p:spPr>
          <a:xfrm>
            <a:off x="4484548" y="3533444"/>
            <a:ext cx="6789194" cy="685059"/>
          </a:xfrm>
          <a:prstGeom prst="rect">
            <a:avLst/>
          </a:prstGeom>
        </p:spPr>
        <p:txBody>
          <a:bodyPr wrap="square">
            <a:spAutoFit/>
          </a:bodyPr>
          <a:lstStyle/>
          <a:p>
            <a:pPr algn="just">
              <a:lnSpc>
                <a:spcPct val="107000"/>
              </a:lnSpc>
              <a:spcAft>
                <a:spcPts val="800"/>
              </a:spcAft>
            </a:pPr>
            <a:r>
              <a:rPr lang="ru-RU" dirty="0" smtClean="0">
                <a:latin typeface="Times New Roman" panose="02020603050405020304" pitchFamily="18" charset="0"/>
                <a:ea typeface="Times New Roman" panose="02020603050405020304" pitchFamily="18" charset="0"/>
                <a:cs typeface="Calibri" panose="020F0502020204030204" pitchFamily="34" charset="0"/>
              </a:rPr>
              <a:t>или в режиме укорочения, когда резонансная частота антенной цепи больше максимальной частоты рабочего диапазона:</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pic>
        <p:nvPicPr>
          <p:cNvPr id="8" name="Рисунок 7" descr="Изображение выглядит как Шрифт, линия, белый, диаграмма&#10;&#10;Контент, сгенерированный ИИ, может содержать ошибки."/>
          <p:cNvPicPr/>
          <p:nvPr/>
        </p:nvPicPr>
        <p:blipFill>
          <a:blip r:embed="rId4"/>
          <a:stretch>
            <a:fillRect/>
          </a:stretch>
        </p:blipFill>
        <p:spPr>
          <a:xfrm>
            <a:off x="6773420" y="4213825"/>
            <a:ext cx="2044700" cy="537845"/>
          </a:xfrm>
          <a:prstGeom prst="rect">
            <a:avLst/>
          </a:prstGeom>
        </p:spPr>
      </p:pic>
      <p:sp>
        <p:nvSpPr>
          <p:cNvPr id="10" name="Прямоугольник 9"/>
          <p:cNvSpPr/>
          <p:nvPr/>
        </p:nvSpPr>
        <p:spPr>
          <a:xfrm>
            <a:off x="4484548" y="4732218"/>
            <a:ext cx="6789194" cy="981423"/>
          </a:xfrm>
          <a:prstGeom prst="rect">
            <a:avLst/>
          </a:prstGeom>
        </p:spPr>
        <p:txBody>
          <a:bodyPr wrap="square">
            <a:spAutoFit/>
          </a:bodyPr>
          <a:lstStyle/>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В большинстве случаев, когда необходимо обеспечить минимальную зависимость резонансного коэффициента передачи от частоты настройки, используют режим удлинения.</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pic>
        <p:nvPicPr>
          <p:cNvPr id="11" name="Рисунок 10" descr="Изображение выглядит как линия, диаграмма, График, белый&#10;&#10;Контент, сгенерированный ИИ, может содержать ошибки."/>
          <p:cNvPicPr/>
          <p:nvPr/>
        </p:nvPicPr>
        <p:blipFill>
          <a:blip r:embed="rId5"/>
          <a:stretch>
            <a:fillRect/>
          </a:stretch>
        </p:blipFill>
        <p:spPr>
          <a:xfrm>
            <a:off x="605742" y="5502415"/>
            <a:ext cx="3149600" cy="1108075"/>
          </a:xfrm>
          <a:prstGeom prst="rect">
            <a:avLst/>
          </a:prstGeom>
        </p:spPr>
      </p:pic>
      <p:sp>
        <p:nvSpPr>
          <p:cNvPr id="12" name="Прямоугольник 11"/>
          <p:cNvSpPr/>
          <p:nvPr/>
        </p:nvSpPr>
        <p:spPr>
          <a:xfrm>
            <a:off x="3755342" y="5876577"/>
            <a:ext cx="7518400" cy="685059"/>
          </a:xfrm>
          <a:prstGeom prst="rect">
            <a:avLst/>
          </a:prstGeom>
        </p:spPr>
        <p:txBody>
          <a:bodyPr wrap="square">
            <a:spAutoFit/>
          </a:bodyPr>
          <a:lstStyle/>
          <a:p>
            <a:pPr algn="ctr">
              <a:lnSpc>
                <a:spcPct val="107000"/>
              </a:lnSpc>
              <a:spcAft>
                <a:spcPts val="800"/>
              </a:spcAft>
            </a:pPr>
            <a:r>
              <a:rPr lang="ru-RU" i="1" dirty="0">
                <a:latin typeface="Times New Roman" panose="02020603050405020304" pitchFamily="18" charset="0"/>
                <a:ea typeface="Times New Roman" panose="02020603050405020304" pitchFamily="18" charset="0"/>
                <a:cs typeface="Calibri" panose="020F0502020204030204" pitchFamily="34" charset="0"/>
              </a:rPr>
              <a:t>Зависимости резонансного коэффициента передачи входной цепи с индуктивной связью с антенной в режиме удлинения (а) и укорочения (б)</a:t>
            </a:r>
            <a:endParaRPr lang="ru-RU" i="1" dirty="0">
              <a:effectLst/>
              <a:latin typeface="Times New Roman" panose="02020603050405020304" pitchFamily="18"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44628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descr="Изображение выглядит как диаграмма, зарисовка, Технический чертеж, План&#10;&#10;Контент, сгенерированный ИИ, может содержать ошибки."/>
          <p:cNvPicPr/>
          <p:nvPr/>
        </p:nvPicPr>
        <p:blipFill>
          <a:blip r:embed="rId2"/>
          <a:stretch>
            <a:fillRect/>
          </a:stretch>
        </p:blipFill>
        <p:spPr>
          <a:xfrm>
            <a:off x="970465" y="402759"/>
            <a:ext cx="3676650" cy="3079750"/>
          </a:xfrm>
          <a:prstGeom prst="rect">
            <a:avLst/>
          </a:prstGeom>
        </p:spPr>
      </p:pic>
      <p:sp>
        <p:nvSpPr>
          <p:cNvPr id="2" name="Прямоугольник 1"/>
          <p:cNvSpPr/>
          <p:nvPr/>
        </p:nvSpPr>
        <p:spPr>
          <a:xfrm>
            <a:off x="5397661" y="402759"/>
            <a:ext cx="6096000" cy="4640373"/>
          </a:xfrm>
          <a:prstGeom prst="rect">
            <a:avLst/>
          </a:prstGeom>
        </p:spPr>
        <p:txBody>
          <a:bodyPr>
            <a:spAutoFit/>
          </a:bodyPr>
          <a:lstStyle/>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Автотрансформаторную связь (рис. б) применяют при работе радиоприемника со штыревой или телескопической антенной. В отдельных случаях при использовании малогабаритных антенн возможно полное включение антенны в контур входной цепи.</a:t>
            </a:r>
            <a:endParaRPr lang="ru-RU" dirty="0">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Простотой реализации отличается входная цепь с </a:t>
            </a:r>
            <a:r>
              <a:rPr lang="ru-RU" dirty="0" err="1">
                <a:latin typeface="Times New Roman" panose="02020603050405020304" pitchFamily="18" charset="0"/>
                <a:ea typeface="Times New Roman" panose="02020603050405020304" pitchFamily="18" charset="0"/>
                <a:cs typeface="Calibri" panose="020F0502020204030204" pitchFamily="34" charset="0"/>
              </a:rPr>
              <a:t>внешнеемкостной</a:t>
            </a:r>
            <a:r>
              <a:rPr lang="ru-RU" dirty="0">
                <a:latin typeface="Times New Roman" panose="02020603050405020304" pitchFamily="18" charset="0"/>
                <a:ea typeface="Times New Roman" panose="02020603050405020304" pitchFamily="18" charset="0"/>
                <a:cs typeface="Calibri" panose="020F0502020204030204" pitchFamily="34" charset="0"/>
              </a:rPr>
              <a:t> связью (рис. в, г). Величина емкости связи составляет 5 … 30 пФ. Данная схема обеспечивает большой коэффициент передачи, но значительная неравномерность резонансного коэффициента передачи ограничивает ее использование. Поэтому ее рекомендуют для радиоприемников невысокого качества или для растянутых поддиапазонов принимаемых частот. Зависимости резонансного коэффициента передачи входных цепей представлены на рисунках.</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pic>
        <p:nvPicPr>
          <p:cNvPr id="5" name="Рисунок 4" descr="Изображение выглядит как линия, диаграмма, График, белый&#10;&#10;Контент, сгенерированный ИИ, может содержать ошибки."/>
          <p:cNvPicPr/>
          <p:nvPr/>
        </p:nvPicPr>
        <p:blipFill>
          <a:blip r:embed="rId3"/>
          <a:stretch>
            <a:fillRect/>
          </a:stretch>
        </p:blipFill>
        <p:spPr>
          <a:xfrm>
            <a:off x="1121218" y="3793759"/>
            <a:ext cx="3525897" cy="1430283"/>
          </a:xfrm>
          <a:prstGeom prst="rect">
            <a:avLst/>
          </a:prstGeom>
        </p:spPr>
      </p:pic>
      <p:sp>
        <p:nvSpPr>
          <p:cNvPr id="6" name="Прямоугольник 5"/>
          <p:cNvSpPr/>
          <p:nvPr/>
        </p:nvSpPr>
        <p:spPr>
          <a:xfrm>
            <a:off x="970465" y="5354382"/>
            <a:ext cx="5094669" cy="1277786"/>
          </a:xfrm>
          <a:prstGeom prst="rect">
            <a:avLst/>
          </a:prstGeom>
        </p:spPr>
        <p:txBody>
          <a:bodyPr wrap="square">
            <a:spAutoFit/>
          </a:bodyPr>
          <a:lstStyle/>
          <a:p>
            <a:pPr>
              <a:lnSpc>
                <a:spcPct val="107000"/>
              </a:lnSpc>
              <a:spcAft>
                <a:spcPts val="800"/>
              </a:spcAft>
            </a:pPr>
            <a:r>
              <a:rPr lang="ru-RU" dirty="0" smtClean="0">
                <a:latin typeface="Times New Roman" panose="02020603050405020304" pitchFamily="18" charset="0"/>
                <a:ea typeface="Times New Roman" panose="02020603050405020304" pitchFamily="18" charset="0"/>
                <a:cs typeface="Calibri" panose="020F0502020204030204" pitchFamily="34" charset="0"/>
              </a:rPr>
              <a:t>Зависимости резонансного коэффициента передачи входной</a:t>
            </a:r>
            <a:r>
              <a:rPr lang="en-US" dirty="0" smtClean="0">
                <a:latin typeface="Times New Roman" panose="02020603050405020304" pitchFamily="18" charset="0"/>
                <a:ea typeface="Times New Roman" panose="02020603050405020304" pitchFamily="18" charset="0"/>
                <a:cs typeface="Calibri" panose="020F0502020204030204" pitchFamily="34" charset="0"/>
              </a:rPr>
              <a:t> </a:t>
            </a:r>
            <a:r>
              <a:rPr lang="ru-RU" dirty="0" smtClean="0">
                <a:latin typeface="Times New Roman" panose="02020603050405020304" pitchFamily="18" charset="0"/>
                <a:ea typeface="Times New Roman" panose="02020603050405020304" pitchFamily="18" charset="0"/>
                <a:cs typeface="Calibri" panose="020F0502020204030204" pitchFamily="34" charset="0"/>
              </a:rPr>
              <a:t>цепи с</a:t>
            </a:r>
            <a:r>
              <a:rPr lang="en-US" dirty="0" smtClean="0">
                <a:latin typeface="Times New Roman" panose="02020603050405020304" pitchFamily="18" charset="0"/>
                <a:ea typeface="Times New Roman" panose="02020603050405020304" pitchFamily="18" charset="0"/>
                <a:cs typeface="Calibri" panose="020F0502020204030204" pitchFamily="34" charset="0"/>
              </a:rPr>
              <a:t> </a:t>
            </a:r>
            <a:r>
              <a:rPr lang="ru-RU" dirty="0" smtClean="0">
                <a:latin typeface="Times New Roman" panose="02020603050405020304" pitchFamily="18" charset="0"/>
                <a:ea typeface="Times New Roman" panose="02020603050405020304" pitchFamily="18" charset="0"/>
                <a:cs typeface="Calibri" panose="020F0502020204030204" pitchFamily="34" charset="0"/>
              </a:rPr>
              <a:t>автотрансформаторной, </a:t>
            </a:r>
            <a:r>
              <a:rPr lang="ru-RU" dirty="0" err="1" smtClean="0">
                <a:latin typeface="Times New Roman" panose="02020603050405020304" pitchFamily="18" charset="0"/>
                <a:ea typeface="Times New Roman" panose="02020603050405020304" pitchFamily="18" charset="0"/>
                <a:cs typeface="Calibri" panose="020F0502020204030204" pitchFamily="34" charset="0"/>
              </a:rPr>
              <a:t>внешнеемкостной</a:t>
            </a:r>
            <a:r>
              <a:rPr lang="ru-RU" dirty="0" smtClean="0">
                <a:latin typeface="Times New Roman" panose="02020603050405020304" pitchFamily="18" charset="0"/>
                <a:ea typeface="Times New Roman" panose="02020603050405020304" pitchFamily="18" charset="0"/>
                <a:cs typeface="Calibri" panose="020F0502020204030204" pitchFamily="34" charset="0"/>
              </a:rPr>
              <a:t> (а), </a:t>
            </a:r>
            <a:r>
              <a:rPr lang="ru-RU" dirty="0" err="1" smtClean="0">
                <a:latin typeface="Times New Roman" panose="02020603050405020304" pitchFamily="18" charset="0"/>
                <a:ea typeface="Times New Roman" panose="02020603050405020304" pitchFamily="18" charset="0"/>
                <a:cs typeface="Calibri" panose="020F0502020204030204" pitchFamily="34" charset="0"/>
              </a:rPr>
              <a:t>внутриемкостной</a:t>
            </a:r>
            <a:r>
              <a:rPr lang="en-US" dirty="0" smtClean="0">
                <a:latin typeface="Times New Roman" panose="02020603050405020304" pitchFamily="18" charset="0"/>
                <a:ea typeface="Times New Roman" panose="02020603050405020304" pitchFamily="18" charset="0"/>
                <a:cs typeface="Calibri" panose="020F0502020204030204" pitchFamily="34" charset="0"/>
              </a:rPr>
              <a:t> </a:t>
            </a:r>
            <a:r>
              <a:rPr lang="ru-RU" dirty="0" smtClean="0">
                <a:latin typeface="Times New Roman" panose="02020603050405020304" pitchFamily="18" charset="0"/>
                <a:ea typeface="Times New Roman" panose="02020603050405020304" pitchFamily="18" charset="0"/>
                <a:cs typeface="Calibri" panose="020F0502020204030204" pitchFamily="34" charset="0"/>
              </a:rPr>
              <a:t>и комбинированной связью с антенной (б)</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sp>
        <p:nvSpPr>
          <p:cNvPr id="7" name="Прямоугольник 6"/>
          <p:cNvSpPr/>
          <p:nvPr/>
        </p:nvSpPr>
        <p:spPr>
          <a:xfrm>
            <a:off x="6288911" y="5043132"/>
            <a:ext cx="5204750" cy="1574149"/>
          </a:xfrm>
          <a:prstGeom prst="rect">
            <a:avLst/>
          </a:prstGeom>
        </p:spPr>
        <p:txBody>
          <a:bodyPr wrap="square">
            <a:spAutoFit/>
          </a:bodyPr>
          <a:lstStyle/>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Во всех схемах требуемые значения граничных частот диапазона (поддиапазона) </a:t>
            </a:r>
            <a:r>
              <a:rPr lang="ru-RU" dirty="0" smtClean="0">
                <a:latin typeface="Times New Roman" panose="02020603050405020304" pitchFamily="18" charset="0"/>
                <a:ea typeface="Times New Roman" panose="02020603050405020304" pitchFamily="18" charset="0"/>
                <a:cs typeface="Calibri" panose="020F0502020204030204" pitchFamily="34" charset="0"/>
              </a:rPr>
              <a:t>приемника</a:t>
            </a:r>
            <a:r>
              <a:rPr lang="en-US" dirty="0" smtClean="0">
                <a:latin typeface="Times New Roman" panose="02020603050405020304" pitchFamily="18" charset="0"/>
                <a:ea typeface="Times New Roman" panose="02020603050405020304" pitchFamily="18" charset="0"/>
                <a:cs typeface="Calibri" panose="020F0502020204030204" pitchFamily="34" charset="0"/>
              </a:rPr>
              <a:t> </a:t>
            </a:r>
            <a:r>
              <a:rPr lang="ru-RU" dirty="0" smtClean="0">
                <a:latin typeface="Times New Roman" panose="02020603050405020304" pitchFamily="18" charset="0"/>
                <a:ea typeface="Times New Roman" panose="02020603050405020304" pitchFamily="18" charset="0"/>
                <a:cs typeface="Calibri" panose="020F0502020204030204" pitchFamily="34" charset="0"/>
              </a:rPr>
              <a:t>обеспечивают</a:t>
            </a:r>
            <a:r>
              <a:rPr lang="en-US" dirty="0" smtClean="0">
                <a:latin typeface="Times New Roman" panose="02020603050405020304" pitchFamily="18" charset="0"/>
                <a:ea typeface="Times New Roman" panose="02020603050405020304" pitchFamily="18" charset="0"/>
                <a:cs typeface="Calibri" panose="020F0502020204030204" pitchFamily="34" charset="0"/>
              </a:rPr>
              <a:t> </a:t>
            </a:r>
            <a:r>
              <a:rPr lang="ru-RU" dirty="0" err="1" smtClean="0">
                <a:latin typeface="Times New Roman" panose="02020603050405020304" pitchFamily="18" charset="0"/>
                <a:ea typeface="Times New Roman" panose="02020603050405020304" pitchFamily="18" charset="0"/>
                <a:cs typeface="Calibri" panose="020F0502020204030204" pitchFamily="34" charset="0"/>
              </a:rPr>
              <a:t>подстроечный</a:t>
            </a:r>
            <a:r>
              <a:rPr lang="ru-RU" dirty="0" smtClean="0">
                <a:latin typeface="Times New Roman" panose="02020603050405020304" pitchFamily="18" charset="0"/>
                <a:ea typeface="Times New Roman" panose="02020603050405020304" pitchFamily="18" charset="0"/>
                <a:cs typeface="Calibri" panose="020F0502020204030204" pitchFamily="34" charset="0"/>
              </a:rPr>
              <a:t> </a:t>
            </a:r>
            <a:r>
              <a:rPr lang="ru-RU" dirty="0">
                <a:latin typeface="Times New Roman" panose="02020603050405020304" pitchFamily="18" charset="0"/>
                <a:ea typeface="Times New Roman" panose="02020603050405020304" pitchFamily="18" charset="0"/>
                <a:cs typeface="Calibri" panose="020F0502020204030204" pitchFamily="34" charset="0"/>
              </a:rPr>
              <a:t>конденсатор и элемент подстройки катушки индуктивности (сердечник</a:t>
            </a:r>
            <a:r>
              <a:rPr lang="ru-RU" dirty="0" smtClean="0">
                <a:latin typeface="Times New Roman" panose="02020603050405020304" pitchFamily="18" charset="0"/>
                <a:ea typeface="Times New Roman" panose="02020603050405020304" pitchFamily="18" charset="0"/>
                <a:cs typeface="Calibri" panose="020F0502020204030204" pitchFamily="34" charset="0"/>
              </a:rPr>
              <a:t>).</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60887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563299" y="515091"/>
            <a:ext cx="5899231" cy="2545890"/>
          </a:xfrm>
          <a:prstGeom prst="rect">
            <a:avLst/>
          </a:prstGeom>
        </p:spPr>
        <p:txBody>
          <a:bodyPr wrap="square">
            <a:spAutoFit/>
          </a:bodyPr>
          <a:lstStyle/>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Схемы связи колебательного контура (фильтра) с первым каскадом приемного устройства могут быть выполнены с гальванической, емкостной или индуктивной связями (рисунок). </a:t>
            </a:r>
            <a:endParaRPr lang="en-US" dirty="0" smtClean="0">
              <a:latin typeface="Times New Roman" panose="02020603050405020304" pitchFamily="18" charset="0"/>
              <a:ea typeface="Times New Roman" panose="02020603050405020304" pitchFamily="18" charset="0"/>
              <a:cs typeface="Calibri" panose="020F0502020204030204" pitchFamily="34" charset="0"/>
            </a:endParaRPr>
          </a:p>
          <a:p>
            <a:pPr algn="just">
              <a:lnSpc>
                <a:spcPct val="107000"/>
              </a:lnSpc>
              <a:spcAft>
                <a:spcPts val="800"/>
              </a:spcAft>
            </a:pPr>
            <a:r>
              <a:rPr lang="ru-RU" dirty="0" smtClean="0">
                <a:latin typeface="Times New Roman" panose="02020603050405020304" pitchFamily="18" charset="0"/>
                <a:ea typeface="Times New Roman" panose="02020603050405020304" pitchFamily="18" charset="0"/>
                <a:cs typeface="Calibri" panose="020F0502020204030204" pitchFamily="34" charset="0"/>
              </a:rPr>
              <a:t>Для </a:t>
            </a:r>
            <a:r>
              <a:rPr lang="ru-RU" dirty="0">
                <a:latin typeface="Times New Roman" panose="02020603050405020304" pitchFamily="18" charset="0"/>
                <a:ea typeface="Times New Roman" panose="02020603050405020304" pitchFamily="18" charset="0"/>
                <a:cs typeface="Calibri" panose="020F0502020204030204" pitchFamily="34" charset="0"/>
              </a:rPr>
              <a:t>уменьшения влияния нагрузки, приводящей к ухудшению селективности, коэффициента перекрытия по частоте и </a:t>
            </a:r>
            <a:r>
              <a:rPr lang="ru-RU" dirty="0" err="1">
                <a:latin typeface="Times New Roman" panose="02020603050405020304" pitchFamily="18" charset="0"/>
                <a:ea typeface="Times New Roman" panose="02020603050405020304" pitchFamily="18" charset="0"/>
                <a:cs typeface="Calibri" panose="020F0502020204030204" pitchFamily="34" charset="0"/>
              </a:rPr>
              <a:t>расстройке</a:t>
            </a:r>
            <a:r>
              <a:rPr lang="ru-RU" dirty="0">
                <a:latin typeface="Times New Roman" panose="02020603050405020304" pitchFamily="18" charset="0"/>
                <a:ea typeface="Times New Roman" panose="02020603050405020304" pitchFamily="18" charset="0"/>
                <a:cs typeface="Calibri" panose="020F0502020204030204" pitchFamily="34" charset="0"/>
              </a:rPr>
              <a:t> входного контура, применяют частичное включение</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pic>
        <p:nvPicPr>
          <p:cNvPr id="4" name="Рисунок 3" descr="Изображение выглядит как диаграмма, зарисовка, Технический чертеж, План&#10;&#10;Контент, сгенерированный ИИ, может содержать ошибки."/>
          <p:cNvPicPr/>
          <p:nvPr/>
        </p:nvPicPr>
        <p:blipFill>
          <a:blip r:embed="rId2"/>
          <a:stretch>
            <a:fillRect/>
          </a:stretch>
        </p:blipFill>
        <p:spPr>
          <a:xfrm>
            <a:off x="6462530" y="236168"/>
            <a:ext cx="5308922" cy="3103736"/>
          </a:xfrm>
          <a:prstGeom prst="rect">
            <a:avLst/>
          </a:prstGeom>
        </p:spPr>
      </p:pic>
      <p:pic>
        <p:nvPicPr>
          <p:cNvPr id="5" name="Рисунок 4" descr="Изображение выглядит как Шрифт, белый, текст, типография&#10;&#10;Контент, сгенерированный ИИ, может содержать ошибки."/>
          <p:cNvPicPr/>
          <p:nvPr/>
        </p:nvPicPr>
        <p:blipFill>
          <a:blip r:embed="rId3"/>
          <a:stretch>
            <a:fillRect/>
          </a:stretch>
        </p:blipFill>
        <p:spPr>
          <a:xfrm>
            <a:off x="2939191" y="3470908"/>
            <a:ext cx="1147445" cy="571500"/>
          </a:xfrm>
          <a:prstGeom prst="rect">
            <a:avLst/>
          </a:prstGeom>
        </p:spPr>
      </p:pic>
      <mc:AlternateContent xmlns:mc="http://schemas.openxmlformats.org/markup-compatibility/2006" xmlns:a14="http://schemas.microsoft.com/office/drawing/2010/main">
        <mc:Choice Requires="a14">
          <p:sp>
            <p:nvSpPr>
              <p:cNvPr id="6" name="Прямоугольник 5"/>
              <p:cNvSpPr/>
              <p:nvPr/>
            </p:nvSpPr>
            <p:spPr>
              <a:xfrm>
                <a:off x="563299" y="4452336"/>
                <a:ext cx="11057683" cy="1362040"/>
              </a:xfrm>
              <a:prstGeom prst="rect">
                <a:avLst/>
              </a:prstGeom>
            </p:spPr>
            <p:txBody>
              <a:bodyPr wrap="square">
                <a:spAutoFit/>
              </a:bodyPr>
              <a:lstStyle/>
              <a:p>
                <a:pPr algn="just">
                  <a:lnSpc>
                    <a:spcPct val="107000"/>
                  </a:lnSpc>
                  <a:spcAft>
                    <a:spcPts val="800"/>
                  </a:spcAft>
                  <a:tabLst>
                    <a:tab pos="3362325" algn="l"/>
                  </a:tabLst>
                </a:pPr>
                <a:r>
                  <a:rPr lang="ru-RU" dirty="0">
                    <a:latin typeface="Times New Roman" panose="02020603050405020304" pitchFamily="18" charset="0"/>
                    <a:ea typeface="Times New Roman" panose="02020603050405020304" pitchFamily="18" charset="0"/>
                    <a:cs typeface="Calibri" panose="020F0502020204030204" pitchFamily="34" charset="0"/>
                  </a:rPr>
                  <a:t>Обозначим коэффициент связи ВЦ с антенной </a:t>
                </a:r>
                <a14:m>
                  <m:oMath xmlns:m="http://schemas.openxmlformats.org/officeDocument/2006/math">
                    <m:sSubSup>
                      <m:sSubSupPr>
                        <m:ctrlPr>
                          <a:rPr lang="ru-RU"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ru-RU" i="1">
                            <a:effectLst/>
                            <a:latin typeface="Cambria Math" panose="02040503050406030204" pitchFamily="18" charset="0"/>
                            <a:ea typeface="Times New Roman" panose="02020603050405020304" pitchFamily="18" charset="0"/>
                            <a:cs typeface="Calibri" panose="020F0502020204030204" pitchFamily="34" charset="0"/>
                          </a:rPr>
                          <m:t>𝐾</m:t>
                        </m:r>
                      </m:e>
                      <m:sub>
                        <m:r>
                          <a:rPr lang="ru-RU" i="1">
                            <a:effectLst/>
                            <a:latin typeface="Cambria Math" panose="02040503050406030204" pitchFamily="18" charset="0"/>
                            <a:ea typeface="Times New Roman" panose="02020603050405020304" pitchFamily="18" charset="0"/>
                            <a:cs typeface="Calibri" panose="020F0502020204030204" pitchFamily="34" charset="0"/>
                          </a:rPr>
                          <m:t>ВЦ0</m:t>
                        </m:r>
                      </m:sub>
                      <m:sup>
                        <m:r>
                          <a:rPr lang="ru-RU" i="1">
                            <a:effectLst/>
                            <a:latin typeface="Cambria Math" panose="02040503050406030204" pitchFamily="18" charset="0"/>
                            <a:ea typeface="Times New Roman" panose="02020603050405020304" pitchFamily="18" charset="0"/>
                            <a:cs typeface="Calibri" panose="020F0502020204030204" pitchFamily="34" charset="0"/>
                          </a:rPr>
                          <m:t>′</m:t>
                        </m:r>
                      </m:sup>
                    </m:sSubSup>
                    <m:d>
                      <m:dPr>
                        <m:ctrlPr>
                          <a:rPr lang="ru-RU" i="1">
                            <a:effectLst/>
                            <a:latin typeface="Cambria Math" panose="02040503050406030204" pitchFamily="18" charset="0"/>
                            <a:ea typeface="Times New Roman" panose="02020603050405020304" pitchFamily="18" charset="0"/>
                            <a:cs typeface="Calibri" panose="020F0502020204030204" pitchFamily="34" charset="0"/>
                          </a:rPr>
                        </m:ctrlPr>
                      </m:dPr>
                      <m:e>
                        <m:r>
                          <a:rPr lang="en-US" i="1">
                            <a:effectLst/>
                            <a:latin typeface="Cambria Math" panose="02040503050406030204" pitchFamily="18" charset="0"/>
                            <a:ea typeface="Times New Roman" panose="02020603050405020304" pitchFamily="18" charset="0"/>
                            <a:cs typeface="Calibri" panose="020F0502020204030204" pitchFamily="34" charset="0"/>
                          </a:rPr>
                          <m:t>𝑓</m:t>
                        </m:r>
                      </m:e>
                    </m:d>
                  </m:oMath>
                </a14:m>
                <a:r>
                  <a:rPr lang="ru-RU" dirty="0">
                    <a:effectLst/>
                    <a:latin typeface="Times New Roman" panose="02020603050405020304" pitchFamily="18" charset="0"/>
                    <a:ea typeface="Times New Roman" panose="02020603050405020304" pitchFamily="18" charset="0"/>
                    <a:cs typeface="Calibri" panose="020F0502020204030204" pitchFamily="34" charset="0"/>
                  </a:rPr>
                  <a:t>, с нагрузкой </a:t>
                </a:r>
                <a14:m>
                  <m:oMath xmlns:m="http://schemas.openxmlformats.org/officeDocument/2006/math">
                    <m:sSub>
                      <m:sSubPr>
                        <m:ctrlPr>
                          <a:rPr lang="ru-RU" i="1">
                            <a:effectLst/>
                            <a:latin typeface="Cambria Math" panose="02040503050406030204" pitchFamily="18" charset="0"/>
                            <a:ea typeface="Times New Roman" panose="02020603050405020304" pitchFamily="18" charset="0"/>
                            <a:cs typeface="Calibri" panose="020F0502020204030204" pitchFamily="34" charset="0"/>
                          </a:rPr>
                        </m:ctrlPr>
                      </m:sSubPr>
                      <m:e>
                        <m:r>
                          <a:rPr lang="en-US" i="1">
                            <a:effectLst/>
                            <a:latin typeface="Cambria Math" panose="02040503050406030204" pitchFamily="18" charset="0"/>
                            <a:ea typeface="Times New Roman" panose="02020603050405020304" pitchFamily="18" charset="0"/>
                            <a:cs typeface="Calibri" panose="020F0502020204030204" pitchFamily="34" charset="0"/>
                          </a:rPr>
                          <m:t>𝑛</m:t>
                        </m:r>
                      </m:e>
                      <m:sub>
                        <m:r>
                          <a:rPr lang="ru-RU" i="1">
                            <a:effectLst/>
                            <a:latin typeface="Cambria Math" panose="02040503050406030204" pitchFamily="18" charset="0"/>
                            <a:ea typeface="Times New Roman" panose="02020603050405020304" pitchFamily="18" charset="0"/>
                            <a:cs typeface="Calibri" panose="020F0502020204030204" pitchFamily="34" charset="0"/>
                          </a:rPr>
                          <m:t>0</m:t>
                        </m:r>
                      </m:sub>
                    </m:sSub>
                    <m:d>
                      <m:dPr>
                        <m:ctrlPr>
                          <a:rPr lang="ru-RU" i="1">
                            <a:effectLst/>
                            <a:latin typeface="Cambria Math" panose="02040503050406030204" pitchFamily="18" charset="0"/>
                            <a:ea typeface="Times New Roman" panose="02020603050405020304" pitchFamily="18" charset="0"/>
                            <a:cs typeface="Calibri" panose="020F0502020204030204" pitchFamily="34" charset="0"/>
                          </a:rPr>
                        </m:ctrlPr>
                      </m:dPr>
                      <m:e>
                        <m:r>
                          <a:rPr lang="en-US" i="1">
                            <a:effectLst/>
                            <a:latin typeface="Cambria Math" panose="02040503050406030204" pitchFamily="18" charset="0"/>
                            <a:ea typeface="Times New Roman" panose="02020603050405020304" pitchFamily="18" charset="0"/>
                            <a:cs typeface="Calibri" panose="020F0502020204030204" pitchFamily="34" charset="0"/>
                          </a:rPr>
                          <m:t>𝑓</m:t>
                        </m:r>
                      </m:e>
                    </m:d>
                  </m:oMath>
                </a14:m>
                <a:r>
                  <a:rPr lang="ru-RU" dirty="0">
                    <a:effectLst/>
                    <a:latin typeface="Times New Roman" panose="02020603050405020304" pitchFamily="18" charset="0"/>
                    <a:ea typeface="Times New Roman" panose="02020603050405020304" pitchFamily="18" charset="0"/>
                    <a:cs typeface="Calibri" panose="020F0502020204030204" pitchFamily="34" charset="0"/>
                  </a:rPr>
                  <a:t>. Для уменьшения зависимости резонансного коэффициента передачи ВЦ </a:t>
                </a:r>
                <a14:m>
                  <m:oMath xmlns:m="http://schemas.openxmlformats.org/officeDocument/2006/math">
                    <m:sSub>
                      <m:sSubPr>
                        <m:ctrlPr>
                          <a:rPr lang="ru-RU" i="1">
                            <a:effectLst/>
                            <a:latin typeface="Cambria Math" panose="02040503050406030204" pitchFamily="18" charset="0"/>
                            <a:ea typeface="Times New Roman" panose="02020603050405020304" pitchFamily="18" charset="0"/>
                            <a:cs typeface="Calibri" panose="020F0502020204030204" pitchFamily="34" charset="0"/>
                          </a:rPr>
                        </m:ctrlPr>
                      </m:sSubPr>
                      <m:e>
                        <m:r>
                          <a:rPr lang="ru-RU" i="1">
                            <a:effectLst/>
                            <a:latin typeface="Cambria Math" panose="02040503050406030204" pitchFamily="18" charset="0"/>
                            <a:ea typeface="Times New Roman" panose="02020603050405020304" pitchFamily="18" charset="0"/>
                            <a:cs typeface="Calibri" panose="020F0502020204030204" pitchFamily="34" charset="0"/>
                          </a:rPr>
                          <m:t>𝐾</m:t>
                        </m:r>
                      </m:e>
                      <m:sub>
                        <m:r>
                          <a:rPr lang="ru-RU" i="1">
                            <a:effectLst/>
                            <a:latin typeface="Cambria Math" panose="02040503050406030204" pitchFamily="18" charset="0"/>
                            <a:ea typeface="Times New Roman" panose="02020603050405020304" pitchFamily="18" charset="0"/>
                            <a:cs typeface="Calibri" panose="020F0502020204030204" pitchFamily="34" charset="0"/>
                          </a:rPr>
                          <m:t>ВЦ0</m:t>
                        </m:r>
                      </m:sub>
                    </m:sSub>
                    <m:d>
                      <m:dPr>
                        <m:ctrlPr>
                          <a:rPr lang="ru-RU" i="1">
                            <a:effectLst/>
                            <a:latin typeface="Cambria Math" panose="02040503050406030204" pitchFamily="18" charset="0"/>
                            <a:ea typeface="Times New Roman" panose="02020603050405020304" pitchFamily="18" charset="0"/>
                            <a:cs typeface="Calibri" panose="020F0502020204030204" pitchFamily="34" charset="0"/>
                          </a:rPr>
                        </m:ctrlPr>
                      </m:dPr>
                      <m:e>
                        <m:r>
                          <a:rPr lang="en-US" i="1">
                            <a:effectLst/>
                            <a:latin typeface="Cambria Math" panose="02040503050406030204" pitchFamily="18" charset="0"/>
                            <a:ea typeface="Times New Roman" panose="02020603050405020304" pitchFamily="18" charset="0"/>
                            <a:cs typeface="Calibri" panose="020F0502020204030204" pitchFamily="34" charset="0"/>
                          </a:rPr>
                          <m:t>𝑓</m:t>
                        </m:r>
                      </m:e>
                    </m:d>
                    <m:r>
                      <a:rPr lang="ru-RU" i="1">
                        <a:effectLst/>
                        <a:latin typeface="Cambria Math" panose="02040503050406030204" pitchFamily="18" charset="0"/>
                        <a:ea typeface="Times New Roman" panose="02020603050405020304" pitchFamily="18" charset="0"/>
                        <a:cs typeface="Calibri" panose="020F0502020204030204" pitchFamily="34" charset="0"/>
                      </a:rPr>
                      <m:t>=</m:t>
                    </m:r>
                    <m:sSubSup>
                      <m:sSubSupPr>
                        <m:ctrlPr>
                          <a:rPr lang="ru-RU"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ru-RU" i="1">
                            <a:effectLst/>
                            <a:latin typeface="Cambria Math" panose="02040503050406030204" pitchFamily="18" charset="0"/>
                            <a:ea typeface="Times New Roman" panose="02020603050405020304" pitchFamily="18" charset="0"/>
                            <a:cs typeface="Calibri" panose="020F0502020204030204" pitchFamily="34" charset="0"/>
                          </a:rPr>
                          <m:t>𝐾</m:t>
                        </m:r>
                      </m:e>
                      <m:sub>
                        <m:r>
                          <a:rPr lang="ru-RU" i="1">
                            <a:effectLst/>
                            <a:latin typeface="Cambria Math" panose="02040503050406030204" pitchFamily="18" charset="0"/>
                            <a:ea typeface="Times New Roman" panose="02020603050405020304" pitchFamily="18" charset="0"/>
                            <a:cs typeface="Calibri" panose="020F0502020204030204" pitchFamily="34" charset="0"/>
                          </a:rPr>
                          <m:t>ВЦ0</m:t>
                        </m:r>
                      </m:sub>
                      <m:sup>
                        <m:r>
                          <a:rPr lang="ru-RU" i="1">
                            <a:effectLst/>
                            <a:latin typeface="Cambria Math" panose="02040503050406030204" pitchFamily="18" charset="0"/>
                            <a:ea typeface="Times New Roman" panose="02020603050405020304" pitchFamily="18" charset="0"/>
                            <a:cs typeface="Calibri" panose="020F0502020204030204" pitchFamily="34" charset="0"/>
                          </a:rPr>
                          <m:t>′</m:t>
                        </m:r>
                      </m:sup>
                    </m:sSubSup>
                    <m:d>
                      <m:dPr>
                        <m:ctrlPr>
                          <a:rPr lang="ru-RU" i="1">
                            <a:effectLst/>
                            <a:latin typeface="Cambria Math" panose="02040503050406030204" pitchFamily="18" charset="0"/>
                            <a:ea typeface="Times New Roman" panose="02020603050405020304" pitchFamily="18" charset="0"/>
                            <a:cs typeface="Calibri" panose="020F0502020204030204" pitchFamily="34" charset="0"/>
                          </a:rPr>
                        </m:ctrlPr>
                      </m:dPr>
                      <m:e>
                        <m:r>
                          <a:rPr lang="en-US" i="1">
                            <a:effectLst/>
                            <a:latin typeface="Cambria Math" panose="02040503050406030204" pitchFamily="18" charset="0"/>
                            <a:ea typeface="Times New Roman" panose="02020603050405020304" pitchFamily="18" charset="0"/>
                            <a:cs typeface="Calibri" panose="020F0502020204030204" pitchFamily="34" charset="0"/>
                          </a:rPr>
                          <m:t>𝑓</m:t>
                        </m:r>
                      </m:e>
                    </m:d>
                    <m:r>
                      <a:rPr lang="ru-RU"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ru-RU" i="1">
                            <a:effectLst/>
                            <a:latin typeface="Cambria Math" panose="02040503050406030204" pitchFamily="18" charset="0"/>
                            <a:ea typeface="Times New Roman" panose="02020603050405020304" pitchFamily="18" charset="0"/>
                            <a:cs typeface="Calibri" panose="020F0502020204030204" pitchFamily="34" charset="0"/>
                          </a:rPr>
                        </m:ctrlPr>
                      </m:sSubPr>
                      <m:e>
                        <m:r>
                          <a:rPr lang="en-US" i="1">
                            <a:effectLst/>
                            <a:latin typeface="Cambria Math" panose="02040503050406030204" pitchFamily="18" charset="0"/>
                            <a:ea typeface="Times New Roman" panose="02020603050405020304" pitchFamily="18" charset="0"/>
                            <a:cs typeface="Calibri" panose="020F0502020204030204" pitchFamily="34" charset="0"/>
                          </a:rPr>
                          <m:t>𝑛</m:t>
                        </m:r>
                      </m:e>
                      <m:sub>
                        <m:r>
                          <a:rPr lang="ru-RU" i="1">
                            <a:effectLst/>
                            <a:latin typeface="Cambria Math" panose="02040503050406030204" pitchFamily="18" charset="0"/>
                            <a:ea typeface="Times New Roman" panose="02020603050405020304" pitchFamily="18" charset="0"/>
                            <a:cs typeface="Calibri" panose="020F0502020204030204" pitchFamily="34" charset="0"/>
                          </a:rPr>
                          <m:t>0</m:t>
                        </m:r>
                      </m:sub>
                    </m:sSub>
                    <m:d>
                      <m:dPr>
                        <m:ctrlPr>
                          <a:rPr lang="ru-RU" i="1">
                            <a:effectLst/>
                            <a:latin typeface="Cambria Math" panose="02040503050406030204" pitchFamily="18" charset="0"/>
                            <a:ea typeface="Times New Roman" panose="02020603050405020304" pitchFamily="18" charset="0"/>
                            <a:cs typeface="Calibri" panose="020F0502020204030204" pitchFamily="34" charset="0"/>
                          </a:rPr>
                        </m:ctrlPr>
                      </m:dPr>
                      <m:e>
                        <m:r>
                          <a:rPr lang="en-US" i="1">
                            <a:effectLst/>
                            <a:latin typeface="Cambria Math" panose="02040503050406030204" pitchFamily="18" charset="0"/>
                            <a:ea typeface="Times New Roman" panose="02020603050405020304" pitchFamily="18" charset="0"/>
                            <a:cs typeface="Calibri" panose="020F0502020204030204" pitchFamily="34" charset="0"/>
                          </a:rPr>
                          <m:t>𝑓</m:t>
                        </m:r>
                      </m:e>
                    </m:d>
                  </m:oMath>
                </a14:m>
                <a:r>
                  <a:rPr lang="ru-RU" dirty="0">
                    <a:effectLst/>
                    <a:latin typeface="Times New Roman" panose="02020603050405020304" pitchFamily="18" charset="0"/>
                    <a:ea typeface="Times New Roman" panose="02020603050405020304" pitchFamily="18" charset="0"/>
                    <a:cs typeface="Calibri" panose="020F0502020204030204" pitchFamily="34" charset="0"/>
                  </a:rPr>
                  <a:t> от частоты настройки следует выбирать связи с антенной и нагрузкой либо мало зависящими от частоты, либо с противоположным характером зависимостей </a:t>
                </a:r>
                <a14:m>
                  <m:oMath xmlns:m="http://schemas.openxmlformats.org/officeDocument/2006/math">
                    <m:sSubSup>
                      <m:sSubSupPr>
                        <m:ctrlPr>
                          <a:rPr lang="ru-RU"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ru-RU" i="1">
                            <a:effectLst/>
                            <a:latin typeface="Cambria Math" panose="02040503050406030204" pitchFamily="18" charset="0"/>
                            <a:ea typeface="Times New Roman" panose="02020603050405020304" pitchFamily="18" charset="0"/>
                            <a:cs typeface="Calibri" panose="020F0502020204030204" pitchFamily="34" charset="0"/>
                          </a:rPr>
                          <m:t>𝐾</m:t>
                        </m:r>
                      </m:e>
                      <m:sub>
                        <m:r>
                          <a:rPr lang="ru-RU" i="1">
                            <a:effectLst/>
                            <a:latin typeface="Cambria Math" panose="02040503050406030204" pitchFamily="18" charset="0"/>
                            <a:ea typeface="Times New Roman" panose="02020603050405020304" pitchFamily="18" charset="0"/>
                            <a:cs typeface="Calibri" panose="020F0502020204030204" pitchFamily="34" charset="0"/>
                          </a:rPr>
                          <m:t>ВЦ0</m:t>
                        </m:r>
                      </m:sub>
                      <m:sup>
                        <m:r>
                          <a:rPr lang="ru-RU" i="1">
                            <a:effectLst/>
                            <a:latin typeface="Cambria Math" panose="02040503050406030204" pitchFamily="18" charset="0"/>
                            <a:ea typeface="Times New Roman" panose="02020603050405020304" pitchFamily="18" charset="0"/>
                            <a:cs typeface="Calibri" panose="020F0502020204030204" pitchFamily="34" charset="0"/>
                          </a:rPr>
                          <m:t>′</m:t>
                        </m:r>
                      </m:sup>
                    </m:sSubSup>
                    <m:d>
                      <m:dPr>
                        <m:ctrlPr>
                          <a:rPr lang="ru-RU" i="1">
                            <a:effectLst/>
                            <a:latin typeface="Cambria Math" panose="02040503050406030204" pitchFamily="18" charset="0"/>
                            <a:ea typeface="Times New Roman" panose="02020603050405020304" pitchFamily="18" charset="0"/>
                            <a:cs typeface="Calibri" panose="020F0502020204030204" pitchFamily="34" charset="0"/>
                          </a:rPr>
                        </m:ctrlPr>
                      </m:dPr>
                      <m:e>
                        <m:r>
                          <a:rPr lang="en-US" i="1">
                            <a:effectLst/>
                            <a:latin typeface="Cambria Math" panose="02040503050406030204" pitchFamily="18" charset="0"/>
                            <a:ea typeface="Times New Roman" panose="02020603050405020304" pitchFamily="18" charset="0"/>
                            <a:cs typeface="Calibri" panose="020F0502020204030204" pitchFamily="34" charset="0"/>
                          </a:rPr>
                          <m:t>𝑓</m:t>
                        </m:r>
                      </m:e>
                    </m:d>
                    <m:r>
                      <a:rPr lang="ru-RU" i="1">
                        <a:effectLst/>
                        <a:latin typeface="Cambria Math" panose="02040503050406030204" pitchFamily="18" charset="0"/>
                        <a:ea typeface="Times New Roman" panose="02020603050405020304" pitchFamily="18" charset="0"/>
                        <a:cs typeface="Calibri" panose="020F0502020204030204" pitchFamily="34" charset="0"/>
                      </a:rPr>
                      <m:t>, </m:t>
                    </m:r>
                    <m:sSub>
                      <m:sSubPr>
                        <m:ctrlPr>
                          <a:rPr lang="ru-RU" i="1">
                            <a:effectLst/>
                            <a:latin typeface="Cambria Math" panose="02040503050406030204" pitchFamily="18" charset="0"/>
                            <a:ea typeface="Times New Roman" panose="02020603050405020304" pitchFamily="18" charset="0"/>
                            <a:cs typeface="Calibri" panose="020F0502020204030204" pitchFamily="34" charset="0"/>
                          </a:rPr>
                        </m:ctrlPr>
                      </m:sSubPr>
                      <m:e>
                        <m:r>
                          <a:rPr lang="en-US" i="1">
                            <a:effectLst/>
                            <a:latin typeface="Cambria Math" panose="02040503050406030204" pitchFamily="18" charset="0"/>
                            <a:ea typeface="Times New Roman" panose="02020603050405020304" pitchFamily="18" charset="0"/>
                            <a:cs typeface="Calibri" panose="020F0502020204030204" pitchFamily="34" charset="0"/>
                          </a:rPr>
                          <m:t>𝑛</m:t>
                        </m:r>
                      </m:e>
                      <m:sub>
                        <m:r>
                          <a:rPr lang="ru-RU" i="1">
                            <a:effectLst/>
                            <a:latin typeface="Cambria Math" panose="02040503050406030204" pitchFamily="18" charset="0"/>
                            <a:ea typeface="Times New Roman" panose="02020603050405020304" pitchFamily="18" charset="0"/>
                            <a:cs typeface="Calibri" panose="020F0502020204030204" pitchFamily="34" charset="0"/>
                          </a:rPr>
                          <m:t>0</m:t>
                        </m:r>
                      </m:sub>
                    </m:sSub>
                    <m:d>
                      <m:dPr>
                        <m:ctrlPr>
                          <a:rPr lang="ru-RU" i="1">
                            <a:effectLst/>
                            <a:latin typeface="Cambria Math" panose="02040503050406030204" pitchFamily="18" charset="0"/>
                            <a:ea typeface="Times New Roman" panose="02020603050405020304" pitchFamily="18" charset="0"/>
                            <a:cs typeface="Calibri" panose="020F0502020204030204" pitchFamily="34" charset="0"/>
                          </a:rPr>
                        </m:ctrlPr>
                      </m:dPr>
                      <m:e>
                        <m:r>
                          <a:rPr lang="en-US" i="1">
                            <a:effectLst/>
                            <a:latin typeface="Cambria Math" panose="02040503050406030204" pitchFamily="18" charset="0"/>
                            <a:ea typeface="Times New Roman" panose="02020603050405020304" pitchFamily="18" charset="0"/>
                            <a:cs typeface="Calibri" panose="020F0502020204030204" pitchFamily="34" charset="0"/>
                          </a:rPr>
                          <m:t>𝑓</m:t>
                        </m:r>
                      </m:e>
                    </m:d>
                  </m:oMath>
                </a14:m>
                <a:r>
                  <a:rPr lang="ru-RU" dirty="0">
                    <a:effectLst/>
                    <a:latin typeface="Times New Roman" panose="02020603050405020304" pitchFamily="18" charset="0"/>
                    <a:ea typeface="Times New Roman" panose="02020603050405020304" pitchFamily="18" charset="0"/>
                    <a:cs typeface="Calibri" panose="020F0502020204030204" pitchFamily="34" charset="0"/>
                  </a:rPr>
                  <a:t>.</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mc:Choice>
        <mc:Fallback xmlns="">
          <p:sp>
            <p:nvSpPr>
              <p:cNvPr id="6" name="Прямоугольник 5"/>
              <p:cNvSpPr>
                <a:spLocks noRot="1" noChangeAspect="1" noMove="1" noResize="1" noEditPoints="1" noAdjustHandles="1" noChangeArrowheads="1" noChangeShapeType="1" noTextEdit="1"/>
              </p:cNvSpPr>
              <p:nvPr/>
            </p:nvSpPr>
            <p:spPr>
              <a:xfrm>
                <a:off x="563299" y="4452336"/>
                <a:ext cx="11057683" cy="1362040"/>
              </a:xfrm>
              <a:prstGeom prst="rect">
                <a:avLst/>
              </a:prstGeom>
              <a:blipFill rotWithShape="0">
                <a:blip r:embed="rId4"/>
                <a:stretch>
                  <a:fillRect l="-441" t="-893" r="-496" b="-4018"/>
                </a:stretch>
              </a:blipFill>
            </p:spPr>
            <p:txBody>
              <a:bodyPr/>
              <a:lstStyle/>
              <a:p>
                <a:r>
                  <a:rPr lang="ru-RU">
                    <a:noFill/>
                  </a:rPr>
                  <a:t> </a:t>
                </a:r>
              </a:p>
            </p:txBody>
          </p:sp>
        </mc:Fallback>
      </mc:AlternateContent>
    </p:spTree>
    <p:extLst>
      <p:ext uri="{BB962C8B-B14F-4D97-AF65-F5344CB8AC3E}">
        <p14:creationId xmlns:p14="http://schemas.microsoft.com/office/powerpoint/2010/main" val="681409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524719" y="328765"/>
            <a:ext cx="6096000" cy="3352328"/>
          </a:xfrm>
          <a:prstGeom prst="rect">
            <a:avLst/>
          </a:prstGeom>
        </p:spPr>
        <p:txBody>
          <a:bodyPr>
            <a:spAutoFit/>
          </a:bodyPr>
          <a:lstStyle/>
          <a:p>
            <a:pPr algn="just">
              <a:lnSpc>
                <a:spcPct val="107000"/>
              </a:lnSpc>
              <a:spcAft>
                <a:spcPts val="800"/>
              </a:spcAft>
              <a:tabLst>
                <a:tab pos="3362325" algn="l"/>
              </a:tabLst>
            </a:pPr>
            <a:r>
              <a:rPr lang="ru-RU" dirty="0">
                <a:latin typeface="Times New Roman" panose="02020603050405020304" pitchFamily="18" charset="0"/>
                <a:ea typeface="Times New Roman" panose="02020603050405020304" pitchFamily="18" charset="0"/>
                <a:cs typeface="Calibri" panose="020F0502020204030204" pitchFamily="34" charset="0"/>
              </a:rPr>
              <a:t>Трансформаторная (автотрансформаторная) связь контура и нагрузки (рис. а, б) отличается постоянством коэффициента включения </a:t>
            </a:r>
            <a:r>
              <a:rPr lang="ru-RU" i="1" dirty="0">
                <a:latin typeface="Times New Roman" panose="02020603050405020304" pitchFamily="18" charset="0"/>
                <a:ea typeface="Times New Roman" panose="02020603050405020304" pitchFamily="18" charset="0"/>
                <a:cs typeface="Calibri" panose="020F0502020204030204" pitchFamily="34" charset="0"/>
              </a:rPr>
              <a:t>n</a:t>
            </a:r>
            <a:r>
              <a:rPr lang="ru-RU" baseline="-25000" dirty="0">
                <a:latin typeface="Times New Roman" panose="02020603050405020304" pitchFamily="18" charset="0"/>
                <a:ea typeface="Times New Roman" panose="02020603050405020304" pitchFamily="18" charset="0"/>
                <a:cs typeface="Calibri" panose="020F0502020204030204" pitchFamily="34" charset="0"/>
              </a:rPr>
              <a:t>Н0</a:t>
            </a:r>
            <a:r>
              <a:rPr lang="ru-RU" dirty="0">
                <a:latin typeface="Times New Roman" panose="02020603050405020304" pitchFamily="18" charset="0"/>
                <a:ea typeface="Times New Roman" panose="02020603050405020304" pitchFamily="18" charset="0"/>
                <a:cs typeface="Calibri" panose="020F0502020204030204" pitchFamily="34" charset="0"/>
                <a:sym typeface="Symbol" panose="05050102010706020507" pitchFamily="18" charset="2"/>
              </a:rPr>
              <a:t></a:t>
            </a:r>
            <a:r>
              <a:rPr lang="ru-RU" i="1" dirty="0">
                <a:latin typeface="Times New Roman" panose="02020603050405020304" pitchFamily="18" charset="0"/>
                <a:ea typeface="Times New Roman" panose="02020603050405020304" pitchFamily="18" charset="0"/>
                <a:cs typeface="Calibri" panose="020F0502020204030204" pitchFamily="34" charset="0"/>
              </a:rPr>
              <a:t>f</a:t>
            </a:r>
            <a:r>
              <a:rPr lang="ru-RU" dirty="0">
                <a:latin typeface="Times New Roman" panose="02020603050405020304" pitchFamily="18" charset="0"/>
                <a:ea typeface="Times New Roman" panose="02020603050405020304" pitchFamily="18" charset="0"/>
                <a:cs typeface="Calibri" panose="020F0502020204030204" pitchFamily="34" charset="0"/>
                <a:sym typeface="Symbol" panose="05050102010706020507" pitchFamily="18" charset="2"/>
              </a:rPr>
              <a:t></a:t>
            </a:r>
            <a:r>
              <a:rPr lang="ru-RU" dirty="0">
                <a:latin typeface="Times New Roman" panose="02020603050405020304" pitchFamily="18" charset="0"/>
                <a:ea typeface="Times New Roman" panose="02020603050405020304" pitchFamily="18" charset="0"/>
                <a:cs typeface="Calibri" panose="020F0502020204030204" pitchFamily="34" charset="0"/>
              </a:rPr>
              <a:t>. Недостатком этого включения является наличие паразитного резонанса, обусловленного </a:t>
            </a:r>
            <a:r>
              <a:rPr lang="ru-RU" i="1" dirty="0">
                <a:latin typeface="Times New Roman" panose="02020603050405020304" pitchFamily="18" charset="0"/>
                <a:ea typeface="Times New Roman" panose="02020603050405020304" pitchFamily="18" charset="0"/>
                <a:cs typeface="Calibri" panose="020F0502020204030204" pitchFamily="34" charset="0"/>
              </a:rPr>
              <a:t>L</a:t>
            </a:r>
            <a:r>
              <a:rPr lang="ru-RU" baseline="-25000" dirty="0">
                <a:latin typeface="Times New Roman" panose="02020603050405020304" pitchFamily="18" charset="0"/>
                <a:ea typeface="Times New Roman" panose="02020603050405020304" pitchFamily="18" charset="0"/>
                <a:cs typeface="Calibri" panose="020F0502020204030204" pitchFamily="34" charset="0"/>
              </a:rPr>
              <a:t>СВ.</a:t>
            </a:r>
            <a:r>
              <a:rPr lang="ru-RU" dirty="0">
                <a:latin typeface="Times New Roman" panose="02020603050405020304" pitchFamily="18" charset="0"/>
                <a:ea typeface="Times New Roman" panose="02020603050405020304" pitchFamily="18" charset="0"/>
                <a:cs typeface="Calibri" panose="020F0502020204030204" pitchFamily="34" charset="0"/>
              </a:rPr>
              <a:t> и </a:t>
            </a:r>
            <a:r>
              <a:rPr lang="ru-RU" i="1" dirty="0">
                <a:latin typeface="Times New Roman" panose="02020603050405020304" pitchFamily="18" charset="0"/>
                <a:ea typeface="Times New Roman" panose="02020603050405020304" pitchFamily="18" charset="0"/>
                <a:cs typeface="Calibri" panose="020F0502020204030204" pitchFamily="34" charset="0"/>
              </a:rPr>
              <a:t>C</a:t>
            </a:r>
            <a:r>
              <a:rPr lang="ru-RU" baseline="-25000" dirty="0">
                <a:latin typeface="Times New Roman" panose="02020603050405020304" pitchFamily="18" charset="0"/>
                <a:ea typeface="Times New Roman" panose="02020603050405020304" pitchFamily="18" charset="0"/>
                <a:cs typeface="Calibri" panose="020F0502020204030204" pitchFamily="34" charset="0"/>
              </a:rPr>
              <a:t>Н</a:t>
            </a:r>
            <a:r>
              <a:rPr lang="ru-RU" dirty="0">
                <a:latin typeface="Times New Roman" panose="02020603050405020304" pitchFamily="18" charset="0"/>
                <a:ea typeface="Times New Roman" panose="02020603050405020304" pitchFamily="18" charset="0"/>
                <a:cs typeface="Calibri" panose="020F0502020204030204" pitchFamily="34" charset="0"/>
              </a:rPr>
              <a:t>, что приводит к возникновению паразитного канала приема. Схема с </a:t>
            </a:r>
            <a:r>
              <a:rPr lang="ru-RU" dirty="0" err="1">
                <a:latin typeface="Times New Roman" panose="02020603050405020304" pitchFamily="18" charset="0"/>
                <a:ea typeface="Times New Roman" panose="02020603050405020304" pitchFamily="18" charset="0"/>
                <a:cs typeface="Calibri" panose="020F0502020204030204" pitchFamily="34" charset="0"/>
              </a:rPr>
              <a:t>внутреннеемкостной</a:t>
            </a:r>
            <a:r>
              <a:rPr lang="ru-RU" dirty="0">
                <a:latin typeface="Times New Roman" panose="02020603050405020304" pitchFamily="18" charset="0"/>
                <a:ea typeface="Times New Roman" panose="02020603050405020304" pitchFamily="18" charset="0"/>
                <a:cs typeface="Calibri" panose="020F0502020204030204" pitchFamily="34" charset="0"/>
              </a:rPr>
              <a:t> связью (рис в) более помехоустойчива: свободна от паразитных настроек, коэффициент передачи по комбинационным помехам убывает с ростом частоты. При предъявлении высоких требования к постоянству параметров выбирают комбинированную связь (рис. г).</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pic>
        <p:nvPicPr>
          <p:cNvPr id="3" name="Рисунок 2" descr="Изображение выглядит как диаграмма, зарисовка, Технический чертеж, План&#10;&#10;Контент, сгенерированный ИИ, может содержать ошибки."/>
          <p:cNvPicPr/>
          <p:nvPr/>
        </p:nvPicPr>
        <p:blipFill>
          <a:blip r:embed="rId2"/>
          <a:stretch>
            <a:fillRect/>
          </a:stretch>
        </p:blipFill>
        <p:spPr>
          <a:xfrm>
            <a:off x="6759615" y="328765"/>
            <a:ext cx="5308922" cy="3103736"/>
          </a:xfrm>
          <a:prstGeom prst="rect">
            <a:avLst/>
          </a:prstGeom>
        </p:spPr>
      </p:pic>
      <p:sp>
        <p:nvSpPr>
          <p:cNvPr id="4" name="Прямоугольник 3"/>
          <p:cNvSpPr/>
          <p:nvPr/>
        </p:nvSpPr>
        <p:spPr>
          <a:xfrm>
            <a:off x="524719" y="3681093"/>
            <a:ext cx="11142562" cy="685059"/>
          </a:xfrm>
          <a:prstGeom prst="rect">
            <a:avLst/>
          </a:prstGeom>
        </p:spPr>
        <p:txBody>
          <a:bodyPr wrap="square">
            <a:spAutoFit/>
          </a:bodyPr>
          <a:lstStyle/>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Зависимости резонансного коэффициента передачи колебательного контура входной цепи с индуктивной связью с </a:t>
            </a:r>
            <a:r>
              <a:rPr lang="ru-RU" dirty="0" err="1">
                <a:latin typeface="Times New Roman" panose="02020603050405020304" pitchFamily="18" charset="0"/>
                <a:ea typeface="Times New Roman" panose="02020603050405020304" pitchFamily="18" charset="0"/>
                <a:cs typeface="Calibri" panose="020F0502020204030204" pitchFamily="34" charset="0"/>
              </a:rPr>
              <a:t>внутриемкостной</a:t>
            </a:r>
            <a:r>
              <a:rPr lang="ru-RU" dirty="0">
                <a:latin typeface="Times New Roman" panose="02020603050405020304" pitchFamily="18" charset="0"/>
                <a:ea typeface="Times New Roman" panose="02020603050405020304" pitchFamily="18" charset="0"/>
                <a:cs typeface="Calibri" panose="020F0502020204030204" pitchFamily="34" charset="0"/>
              </a:rPr>
              <a:t> и комбинированной связью с нагрузкой показаны на следующем рисунке</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pic>
        <p:nvPicPr>
          <p:cNvPr id="5" name="Рисунок 4" descr="Изображение выглядит как линия, диаграмма, График, Шрифт&#10;&#10;Контент, сгенерированный ИИ, может содержать ошибки."/>
          <p:cNvPicPr/>
          <p:nvPr/>
        </p:nvPicPr>
        <p:blipFill>
          <a:blip r:embed="rId3"/>
          <a:stretch>
            <a:fillRect/>
          </a:stretch>
        </p:blipFill>
        <p:spPr>
          <a:xfrm>
            <a:off x="3206810" y="4366152"/>
            <a:ext cx="5940425" cy="1315720"/>
          </a:xfrm>
          <a:prstGeom prst="rect">
            <a:avLst/>
          </a:prstGeom>
        </p:spPr>
      </p:pic>
      <p:sp>
        <p:nvSpPr>
          <p:cNvPr id="6" name="Прямоугольник 5"/>
          <p:cNvSpPr/>
          <p:nvPr/>
        </p:nvSpPr>
        <p:spPr>
          <a:xfrm>
            <a:off x="3318076" y="5580214"/>
            <a:ext cx="6096000" cy="1277786"/>
          </a:xfrm>
          <a:prstGeom prst="rect">
            <a:avLst/>
          </a:prstGeom>
        </p:spPr>
        <p:txBody>
          <a:bodyPr>
            <a:spAutoFit/>
          </a:bodyPr>
          <a:lstStyle/>
          <a:p>
            <a:pPr algn="ctr">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Зависимости резонансного коэффициента передачи колебательного контура входной цепи с индуктивной связью (а, б) </a:t>
            </a:r>
            <a:r>
              <a:rPr lang="ru-RU" dirty="0" err="1">
                <a:latin typeface="Times New Roman" panose="02020603050405020304" pitchFamily="18" charset="0"/>
                <a:ea typeface="Times New Roman" panose="02020603050405020304" pitchFamily="18" charset="0"/>
                <a:cs typeface="Calibri" panose="020F0502020204030204" pitchFamily="34" charset="0"/>
              </a:rPr>
              <a:t>внутриемкостной</a:t>
            </a:r>
            <a:r>
              <a:rPr lang="ru-RU" dirty="0">
                <a:latin typeface="Times New Roman" panose="02020603050405020304" pitchFamily="18" charset="0"/>
                <a:ea typeface="Times New Roman" panose="02020603050405020304" pitchFamily="18" charset="0"/>
                <a:cs typeface="Calibri" panose="020F0502020204030204" pitchFamily="34" charset="0"/>
              </a:rPr>
              <a:t> (в) и комбинированной связью (в) с нагрузкой от частоты настройки входной цепи</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659655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048000" y="1308291"/>
            <a:ext cx="6096000" cy="4241418"/>
          </a:xfrm>
          <a:prstGeom prst="rect">
            <a:avLst/>
          </a:prstGeom>
        </p:spPr>
        <p:txBody>
          <a:bodyPr>
            <a:spAutoFit/>
          </a:bodyPr>
          <a:lstStyle/>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Для входных цепей коротких волн характерно применение растянутых и </a:t>
            </a:r>
            <a:r>
              <a:rPr lang="ru-RU" dirty="0" err="1">
                <a:latin typeface="Times New Roman" panose="02020603050405020304" pitchFamily="18" charset="0"/>
                <a:ea typeface="Times New Roman" panose="02020603050405020304" pitchFamily="18" charset="0"/>
                <a:cs typeface="Calibri" panose="020F0502020204030204" pitchFamily="34" charset="0"/>
              </a:rPr>
              <a:t>полурастянутых</a:t>
            </a:r>
            <a:r>
              <a:rPr lang="ru-RU" dirty="0">
                <a:latin typeface="Times New Roman" panose="02020603050405020304" pitchFamily="18" charset="0"/>
                <a:ea typeface="Times New Roman" panose="02020603050405020304" pitchFamily="18" charset="0"/>
                <a:cs typeface="Calibri" panose="020F0502020204030204" pitchFamily="34" charset="0"/>
              </a:rPr>
              <a:t> диапазонов, поэтому для уменьшения коэффициентов перекрытия характерно использование дополнительных последовательного и параллельного конденсаторов. Радиоприемные устройства КВ диапазона, работающие на одной фиксированной частоте (в относительно узком диапазоне частот) используют настроенные антенны, работающие в режиме бегущей волны в фидере (коаксиальном кабеле). Для обеспечения этого режима используют согласующие устройства: трансформаторы, автотрансформаторы, делители. Поскольку в этом случае перестройки входной цепи не требуется, то выбор связи входной цепи с антенной и с нагрузкой особой роли не играет.</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10435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860384" y="580957"/>
            <a:ext cx="6096000" cy="4620432"/>
          </a:xfrm>
          <a:prstGeom prst="rect">
            <a:avLst/>
          </a:prstGeom>
        </p:spPr>
        <p:txBody>
          <a:bodyPr>
            <a:spAutoFit/>
          </a:bodyPr>
          <a:lstStyle/>
          <a:p>
            <a:pPr algn="just">
              <a:lnSpc>
                <a:spcPct val="107000"/>
              </a:lnSpc>
              <a:spcAft>
                <a:spcPts val="800"/>
              </a:spcAft>
            </a:pPr>
            <a:r>
              <a:rPr lang="ru-RU" b="1" dirty="0">
                <a:latin typeface="Times New Roman" panose="02020603050405020304" pitchFamily="18" charset="0"/>
                <a:ea typeface="Times New Roman" panose="02020603050405020304" pitchFamily="18" charset="0"/>
                <a:cs typeface="Calibri" panose="020F0502020204030204" pitchFamily="34" charset="0"/>
              </a:rPr>
              <a:t>Входная цепь с двухконтурным полосовым фильтром и трансформаторной связью с антенной</a:t>
            </a:r>
            <a:endParaRPr lang="ru-RU" dirty="0">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Схема входной цепи приведена на рисунке. Элементы схемы: настроечные конденсаторы </a:t>
            </a:r>
            <a:r>
              <a:rPr lang="ru-RU" i="1" dirty="0" err="1">
                <a:latin typeface="Times New Roman" panose="02020603050405020304" pitchFamily="18" charset="0"/>
                <a:ea typeface="Times New Roman" panose="02020603050405020304" pitchFamily="18" charset="0"/>
                <a:cs typeface="Calibri" panose="020F0502020204030204" pitchFamily="34" charset="0"/>
              </a:rPr>
              <a:t>С</a:t>
            </a:r>
            <a:r>
              <a:rPr lang="ru-RU" baseline="-25000" dirty="0" err="1">
                <a:latin typeface="Times New Roman" panose="02020603050405020304" pitchFamily="18" charset="0"/>
                <a:ea typeface="Times New Roman" panose="02020603050405020304" pitchFamily="18" charset="0"/>
                <a:cs typeface="Calibri" panose="020F0502020204030204" pitchFamily="34" charset="0"/>
              </a:rPr>
              <a:t>н</a:t>
            </a:r>
            <a:r>
              <a:rPr lang="ru-RU" dirty="0">
                <a:latin typeface="Times New Roman" panose="02020603050405020304" pitchFamily="18" charset="0"/>
                <a:ea typeface="Times New Roman" panose="02020603050405020304" pitchFamily="18" charset="0"/>
                <a:cs typeface="Calibri" panose="020F0502020204030204" pitchFamily="34" charset="0"/>
              </a:rPr>
              <a:t>, подстрочные конденсаторы </a:t>
            </a:r>
            <a:r>
              <a:rPr lang="ru-RU" i="1" dirty="0" err="1">
                <a:latin typeface="Times New Roman" panose="02020603050405020304" pitchFamily="18" charset="0"/>
                <a:ea typeface="Times New Roman" panose="02020603050405020304" pitchFamily="18" charset="0"/>
                <a:cs typeface="Calibri" panose="020F0502020204030204" pitchFamily="34" charset="0"/>
              </a:rPr>
              <a:t>С</a:t>
            </a:r>
            <a:r>
              <a:rPr lang="ru-RU" baseline="-25000" dirty="0" err="1">
                <a:latin typeface="Times New Roman" panose="02020603050405020304" pitchFamily="18" charset="0"/>
                <a:ea typeface="Times New Roman" panose="02020603050405020304" pitchFamily="18" charset="0"/>
                <a:cs typeface="Calibri" panose="020F0502020204030204" pitchFamily="34" charset="0"/>
              </a:rPr>
              <a:t>п</a:t>
            </a:r>
            <a:r>
              <a:rPr lang="ru-RU" dirty="0">
                <a:latin typeface="Times New Roman" panose="02020603050405020304" pitchFamily="18" charset="0"/>
                <a:ea typeface="Times New Roman" panose="02020603050405020304" pitchFamily="18" charset="0"/>
                <a:cs typeface="Calibri" panose="020F0502020204030204" pitchFamily="34" charset="0"/>
              </a:rPr>
              <a:t>, катушки индуктивности </a:t>
            </a:r>
            <a:r>
              <a:rPr lang="ru-RU" i="1" dirty="0">
                <a:latin typeface="Times New Roman" panose="02020603050405020304" pitchFamily="18" charset="0"/>
                <a:ea typeface="Times New Roman" panose="02020603050405020304" pitchFamily="18" charset="0"/>
                <a:cs typeface="Calibri" panose="020F0502020204030204" pitchFamily="34" charset="0"/>
              </a:rPr>
              <a:t>L</a:t>
            </a:r>
            <a:r>
              <a:rPr lang="ru-RU" dirty="0">
                <a:latin typeface="Times New Roman" panose="02020603050405020304" pitchFamily="18" charset="0"/>
                <a:ea typeface="Times New Roman" panose="02020603050405020304" pitchFamily="18" charset="0"/>
                <a:cs typeface="Calibri" panose="020F0502020204030204" pitchFamily="34" charset="0"/>
              </a:rPr>
              <a:t>, конденсатор </a:t>
            </a:r>
            <a:r>
              <a:rPr lang="ru-RU" dirty="0" err="1">
                <a:latin typeface="Times New Roman" panose="02020603050405020304" pitchFamily="18" charset="0"/>
                <a:ea typeface="Times New Roman" panose="02020603050405020304" pitchFamily="18" charset="0"/>
                <a:cs typeface="Calibri" panose="020F0502020204030204" pitchFamily="34" charset="0"/>
              </a:rPr>
              <a:t>внутриемкостной</a:t>
            </a:r>
            <a:r>
              <a:rPr lang="ru-RU" dirty="0">
                <a:latin typeface="Times New Roman" panose="02020603050405020304" pitchFamily="18" charset="0"/>
                <a:ea typeface="Times New Roman" panose="02020603050405020304" pitchFamily="18" charset="0"/>
                <a:cs typeface="Calibri" panose="020F0502020204030204" pitchFamily="34" charset="0"/>
              </a:rPr>
              <a:t> связи между контурами </a:t>
            </a:r>
            <a:r>
              <a:rPr lang="ru-RU" i="1" dirty="0" err="1">
                <a:latin typeface="Times New Roman" panose="02020603050405020304" pitchFamily="18" charset="0"/>
                <a:ea typeface="Times New Roman" panose="02020603050405020304" pitchFamily="18" charset="0"/>
                <a:cs typeface="Calibri" panose="020F0502020204030204" pitchFamily="34" charset="0"/>
              </a:rPr>
              <a:t>С</a:t>
            </a:r>
            <a:r>
              <a:rPr lang="ru-RU" baseline="-25000" dirty="0" err="1">
                <a:latin typeface="Times New Roman" panose="02020603050405020304" pitchFamily="18" charset="0"/>
                <a:ea typeface="Times New Roman" panose="02020603050405020304" pitchFamily="18" charset="0"/>
                <a:cs typeface="Calibri" panose="020F0502020204030204" pitchFamily="34" charset="0"/>
              </a:rPr>
              <a:t>с</a:t>
            </a:r>
            <a:r>
              <a:rPr lang="ru-RU" dirty="0">
                <a:latin typeface="Times New Roman" panose="02020603050405020304" pitchFamily="18" charset="0"/>
                <a:ea typeface="Times New Roman" panose="02020603050405020304" pitchFamily="18" charset="0"/>
                <a:cs typeface="Calibri" panose="020F0502020204030204" pitchFamily="34" charset="0"/>
              </a:rPr>
              <a:t>, индуктивность связи между контурами </a:t>
            </a:r>
            <a:r>
              <a:rPr lang="ru-RU" i="1" dirty="0">
                <a:latin typeface="Times New Roman" panose="02020603050405020304" pitchFamily="18" charset="0"/>
                <a:ea typeface="Times New Roman" panose="02020603050405020304" pitchFamily="18" charset="0"/>
                <a:cs typeface="Calibri" panose="020F0502020204030204" pitchFamily="34" charset="0"/>
              </a:rPr>
              <a:t>L</a:t>
            </a:r>
            <a:r>
              <a:rPr lang="ru-RU" baseline="-25000" dirty="0">
                <a:latin typeface="Times New Roman" panose="02020603050405020304" pitchFamily="18" charset="0"/>
                <a:ea typeface="Times New Roman" panose="02020603050405020304" pitchFamily="18" charset="0"/>
                <a:cs typeface="Calibri" panose="020F0502020204030204" pitchFamily="34" charset="0"/>
              </a:rPr>
              <a:t>c2</a:t>
            </a:r>
            <a:r>
              <a:rPr lang="ru-RU" dirty="0">
                <a:latin typeface="Times New Roman" panose="02020603050405020304" pitchFamily="18" charset="0"/>
                <a:ea typeface="Times New Roman" panose="02020603050405020304" pitchFamily="18" charset="0"/>
                <a:cs typeface="Calibri" panose="020F0502020204030204" pitchFamily="34" charset="0"/>
              </a:rPr>
              <a:t>, индуктивность связи с антенной </a:t>
            </a:r>
            <a:r>
              <a:rPr lang="ru-RU" i="1" dirty="0">
                <a:latin typeface="Times New Roman" panose="02020603050405020304" pitchFamily="18" charset="0"/>
                <a:ea typeface="Times New Roman" panose="02020603050405020304" pitchFamily="18" charset="0"/>
                <a:cs typeface="Calibri" panose="020F0502020204030204" pitchFamily="34" charset="0"/>
              </a:rPr>
              <a:t>L</a:t>
            </a:r>
            <a:r>
              <a:rPr lang="ru-RU" baseline="-25000" dirty="0">
                <a:latin typeface="Times New Roman" panose="02020603050405020304" pitchFamily="18" charset="0"/>
                <a:ea typeface="Times New Roman" panose="02020603050405020304" pitchFamily="18" charset="0"/>
                <a:cs typeface="Calibri" panose="020F0502020204030204" pitchFamily="34" charset="0"/>
              </a:rPr>
              <a:t>c1</a:t>
            </a:r>
            <a:r>
              <a:rPr lang="ru-RU" dirty="0">
                <a:latin typeface="Times New Roman" panose="02020603050405020304" pitchFamily="18" charset="0"/>
                <a:ea typeface="Times New Roman" panose="02020603050405020304" pitchFamily="18" charset="0"/>
                <a:cs typeface="Calibri" panose="020F0502020204030204" pitchFamily="34" charset="0"/>
              </a:rPr>
              <a:t>, индуктивность связи с следующим каскадом </a:t>
            </a:r>
            <a:r>
              <a:rPr lang="ru-RU" i="1" dirty="0">
                <a:latin typeface="Times New Roman" panose="02020603050405020304" pitchFamily="18" charset="0"/>
                <a:ea typeface="Times New Roman" panose="02020603050405020304" pitchFamily="18" charset="0"/>
                <a:cs typeface="Calibri" panose="020F0502020204030204" pitchFamily="34" charset="0"/>
              </a:rPr>
              <a:t>L</a:t>
            </a:r>
            <a:r>
              <a:rPr lang="ru-RU" baseline="-25000" dirty="0">
                <a:latin typeface="Times New Roman" panose="02020603050405020304" pitchFamily="18" charset="0"/>
                <a:ea typeface="Times New Roman" panose="02020603050405020304" pitchFamily="18" charset="0"/>
                <a:cs typeface="Calibri" panose="020F0502020204030204" pitchFamily="34" charset="0"/>
              </a:rPr>
              <a:t>c3</a:t>
            </a:r>
            <a:r>
              <a:rPr lang="ru-RU" dirty="0">
                <a:latin typeface="Times New Roman" panose="02020603050405020304" pitchFamily="18" charset="0"/>
                <a:ea typeface="Times New Roman" panose="02020603050405020304" pitchFamily="18" charset="0"/>
                <a:cs typeface="Calibri" panose="020F0502020204030204" pitchFamily="34" charset="0"/>
              </a:rPr>
              <a:t>. Комбинированная связь между контурами обеспечивает постоянство полосы пропускания входной цепи при ее перестройке в пределах диапазона. Это объясняется тем, что полоса пропускания двухконтурного полосового фильтра зависит от частоты настройки и коэффициента связи между контурами: чем выше частота и чем сильнее связь, тем шире полоса пропускания. </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pic>
        <p:nvPicPr>
          <p:cNvPr id="3" name="Рисунок 2" descr="Изображение выглядит как диаграмма, текст, План, Технический чертеж&#10;&#10;Контент, сгенерированный ИИ, может содержать ошибки."/>
          <p:cNvPicPr/>
          <p:nvPr/>
        </p:nvPicPr>
        <p:blipFill>
          <a:blip r:embed="rId2"/>
          <a:stretch>
            <a:fillRect/>
          </a:stretch>
        </p:blipFill>
        <p:spPr>
          <a:xfrm>
            <a:off x="7558027" y="1757698"/>
            <a:ext cx="4229100" cy="2266950"/>
          </a:xfrm>
          <a:prstGeom prst="rect">
            <a:avLst/>
          </a:prstGeom>
        </p:spPr>
      </p:pic>
      <p:sp>
        <p:nvSpPr>
          <p:cNvPr id="4" name="Прямоугольник 3"/>
          <p:cNvSpPr/>
          <p:nvPr/>
        </p:nvSpPr>
        <p:spPr>
          <a:xfrm>
            <a:off x="7974957" y="4436923"/>
            <a:ext cx="3812170" cy="1200329"/>
          </a:xfrm>
          <a:prstGeom prst="rect">
            <a:avLst/>
          </a:prstGeom>
        </p:spPr>
        <p:txBody>
          <a:bodyPr wrap="square">
            <a:spAutoFit/>
          </a:bodyPr>
          <a:lstStyle/>
          <a:p>
            <a:r>
              <a:rPr lang="ru-RU" dirty="0">
                <a:latin typeface="Times New Roman" panose="02020603050405020304" pitchFamily="18" charset="0"/>
                <a:ea typeface="Times New Roman" panose="02020603050405020304" pitchFamily="18" charset="0"/>
                <a:cs typeface="Calibri" panose="020F0502020204030204" pitchFamily="34" charset="0"/>
              </a:rPr>
              <a:t>Двухконтурная входная цепь с комбинированной связью между контурами и трансформаторной связью с антенной</a:t>
            </a:r>
            <a:endParaRPr lang="ru-RU" dirty="0"/>
          </a:p>
        </p:txBody>
      </p:sp>
    </p:spTree>
    <p:extLst>
      <p:ext uri="{BB962C8B-B14F-4D97-AF65-F5344CB8AC3E}">
        <p14:creationId xmlns:p14="http://schemas.microsoft.com/office/powerpoint/2010/main" val="5331174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080304" y="759960"/>
            <a:ext cx="6304344" cy="685059"/>
          </a:xfrm>
          <a:prstGeom prst="rect">
            <a:avLst/>
          </a:prstGeom>
        </p:spPr>
        <p:txBody>
          <a:bodyPr wrap="square">
            <a:spAutoFit/>
          </a:bodyPr>
          <a:lstStyle/>
          <a:p>
            <a:pPr>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Коэффициент связи между контурами </a:t>
            </a:r>
            <a:r>
              <a:rPr lang="ru-RU" dirty="0" smtClean="0">
                <a:latin typeface="Times New Roman" panose="02020603050405020304" pitchFamily="18" charset="0"/>
                <a:ea typeface="Times New Roman" panose="02020603050405020304" pitchFamily="18" charset="0"/>
                <a:cs typeface="Calibri" panose="020F0502020204030204" pitchFamily="34" charset="0"/>
              </a:rPr>
              <a:t>при комбинированной </a:t>
            </a:r>
            <a:r>
              <a:rPr lang="ru-RU" dirty="0">
                <a:latin typeface="Times New Roman" panose="02020603050405020304" pitchFamily="18" charset="0"/>
                <a:ea typeface="Times New Roman" panose="02020603050405020304" pitchFamily="18" charset="0"/>
                <a:cs typeface="Calibri" panose="020F0502020204030204" pitchFamily="34" charset="0"/>
              </a:rPr>
              <a:t>связи равен</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3" name="Прямоугольник 2"/>
              <p:cNvSpPr/>
              <p:nvPr/>
            </p:nvSpPr>
            <p:spPr>
              <a:xfrm>
                <a:off x="2580919" y="1445019"/>
                <a:ext cx="147431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ru-RU" i="1">
                          <a:latin typeface="Cambria Math" panose="02040503050406030204" pitchFamily="18" charset="0"/>
                        </a:rPr>
                        <m:t>𝑘</m:t>
                      </m:r>
                      <m:r>
                        <a:rPr lang="ru-RU" i="0">
                          <a:latin typeface="Cambria Math" panose="02040503050406030204" pitchFamily="18" charset="0"/>
                        </a:rPr>
                        <m:t>=</m:t>
                      </m:r>
                      <m:sSub>
                        <m:sSubPr>
                          <m:ctrlPr>
                            <a:rPr lang="ru-RU" i="1">
                              <a:latin typeface="Cambria Math" panose="02040503050406030204" pitchFamily="18" charset="0"/>
                            </a:rPr>
                          </m:ctrlPr>
                        </m:sSubPr>
                        <m:e>
                          <m:r>
                            <a:rPr lang="ru-RU" i="1">
                              <a:latin typeface="Cambria Math" panose="02040503050406030204" pitchFamily="18" charset="0"/>
                            </a:rPr>
                            <m:t>𝑘</m:t>
                          </m:r>
                        </m:e>
                        <m:sub>
                          <m:r>
                            <a:rPr lang="ru-RU" i="1">
                              <a:latin typeface="Cambria Math" panose="02040503050406030204" pitchFamily="18" charset="0"/>
                            </a:rPr>
                            <m:t>𝐿</m:t>
                          </m:r>
                        </m:sub>
                      </m:sSub>
                      <m:r>
                        <a:rPr lang="ru-RU" i="0">
                          <a:latin typeface="Cambria Math" panose="02040503050406030204" pitchFamily="18" charset="0"/>
                        </a:rPr>
                        <m:t>+</m:t>
                      </m:r>
                      <m:sSub>
                        <m:sSubPr>
                          <m:ctrlPr>
                            <a:rPr lang="ru-RU" i="1">
                              <a:latin typeface="Cambria Math" panose="02040503050406030204" pitchFamily="18" charset="0"/>
                            </a:rPr>
                          </m:ctrlPr>
                        </m:sSubPr>
                        <m:e>
                          <m:r>
                            <a:rPr lang="ru-RU" i="1">
                              <a:latin typeface="Cambria Math" panose="02040503050406030204" pitchFamily="18" charset="0"/>
                            </a:rPr>
                            <m:t>𝑘</m:t>
                          </m:r>
                        </m:e>
                        <m:sub>
                          <m:r>
                            <a:rPr lang="ru-RU" i="1">
                              <a:latin typeface="Cambria Math" panose="02040503050406030204" pitchFamily="18" charset="0"/>
                            </a:rPr>
                            <m:t>𝐶</m:t>
                          </m:r>
                        </m:sub>
                      </m:sSub>
                      <m:r>
                        <a:rPr lang="ru-RU" i="0">
                          <a:latin typeface="Cambria Math" panose="02040503050406030204" pitchFamily="18" charset="0"/>
                        </a:rPr>
                        <m:t>,</m:t>
                      </m:r>
                    </m:oMath>
                  </m:oMathPara>
                </a14:m>
                <a:endParaRPr lang="ru-RU" dirty="0"/>
              </a:p>
            </p:txBody>
          </p:sp>
        </mc:Choice>
        <mc:Fallback xmlns="">
          <p:sp>
            <p:nvSpPr>
              <p:cNvPr id="3" name="Прямоугольник 2"/>
              <p:cNvSpPr>
                <a:spLocks noRot="1" noChangeAspect="1" noMove="1" noResize="1" noEditPoints="1" noAdjustHandles="1" noChangeArrowheads="1" noChangeShapeType="1" noTextEdit="1"/>
              </p:cNvSpPr>
              <p:nvPr/>
            </p:nvSpPr>
            <p:spPr>
              <a:xfrm>
                <a:off x="2580919" y="1445019"/>
                <a:ext cx="1474314" cy="369332"/>
              </a:xfrm>
              <a:prstGeom prst="rect">
                <a:avLst/>
              </a:prstGeom>
              <a:blipFill rotWithShape="0">
                <a:blip r:embed="rId2"/>
                <a:stretch>
                  <a:fillRect/>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4" name="Прямоугольник 3"/>
              <p:cNvSpPr/>
              <p:nvPr/>
            </p:nvSpPr>
            <p:spPr>
              <a:xfrm>
                <a:off x="1007232" y="2499410"/>
                <a:ext cx="6377415" cy="1870512"/>
              </a:xfrm>
              <a:prstGeom prst="rect">
                <a:avLst/>
              </a:prstGeom>
            </p:spPr>
            <p:txBody>
              <a:bodyPr wrap="square">
                <a:spAutoFit/>
              </a:bodyPr>
              <a:lstStyle/>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где </a:t>
                </a:r>
                <a14:m>
                  <m:oMath xmlns:m="http://schemas.openxmlformats.org/officeDocument/2006/math">
                    <m:sSub>
                      <m:sSubPr>
                        <m:ctrlPr>
                          <a:rPr lang="ru-RU" i="1">
                            <a:effectLst/>
                            <a:latin typeface="Cambria Math" panose="02040503050406030204" pitchFamily="18" charset="0"/>
                            <a:ea typeface="Calibri" panose="020F0502020204030204" pitchFamily="34" charset="0"/>
                            <a:cs typeface="Calibri" panose="020F0502020204030204" pitchFamily="34" charset="0"/>
                          </a:rPr>
                        </m:ctrlPr>
                      </m:sSubPr>
                      <m:e>
                        <m:r>
                          <a:rPr lang="ru-RU" i="1">
                            <a:effectLst/>
                            <a:latin typeface="Cambria Math" panose="02040503050406030204" pitchFamily="18" charset="0"/>
                            <a:ea typeface="Calibri" panose="020F0502020204030204" pitchFamily="34" charset="0"/>
                            <a:cs typeface="Calibri" panose="020F0502020204030204" pitchFamily="34" charset="0"/>
                          </a:rPr>
                          <m:t>𝑘</m:t>
                        </m:r>
                      </m:e>
                      <m:sub>
                        <m:r>
                          <a:rPr lang="ru-RU" i="1">
                            <a:effectLst/>
                            <a:latin typeface="Cambria Math" panose="02040503050406030204" pitchFamily="18" charset="0"/>
                            <a:ea typeface="Calibri" panose="020F0502020204030204" pitchFamily="34" charset="0"/>
                            <a:cs typeface="Calibri" panose="020F0502020204030204" pitchFamily="34" charset="0"/>
                          </a:rPr>
                          <m:t>𝐿</m:t>
                        </m:r>
                      </m:sub>
                    </m:sSub>
                  </m:oMath>
                </a14:m>
                <a:r>
                  <a:rPr lang="ru-RU" dirty="0">
                    <a:effectLst/>
                    <a:latin typeface="Times New Roman" panose="02020603050405020304" pitchFamily="18" charset="0"/>
                    <a:ea typeface="Times New Roman" panose="02020603050405020304" pitchFamily="18" charset="0"/>
                    <a:cs typeface="Calibri" panose="020F0502020204030204" pitchFamily="34" charset="0"/>
                  </a:rPr>
                  <a:t> – коэффициент индуктивной связи, </a:t>
                </a:r>
                <a14:m>
                  <m:oMath xmlns:m="http://schemas.openxmlformats.org/officeDocument/2006/math">
                    <m:sSub>
                      <m:sSubPr>
                        <m:ctrlPr>
                          <a:rPr lang="ru-RU" i="1">
                            <a:effectLst/>
                            <a:latin typeface="Cambria Math" panose="02040503050406030204" pitchFamily="18" charset="0"/>
                            <a:ea typeface="Calibri" panose="020F0502020204030204" pitchFamily="34" charset="0"/>
                            <a:cs typeface="Calibri" panose="020F0502020204030204" pitchFamily="34" charset="0"/>
                          </a:rPr>
                        </m:ctrlPr>
                      </m:sSubPr>
                      <m:e>
                        <m:r>
                          <a:rPr lang="ru-RU" i="1">
                            <a:effectLst/>
                            <a:latin typeface="Cambria Math" panose="02040503050406030204" pitchFamily="18" charset="0"/>
                            <a:ea typeface="Calibri" panose="020F0502020204030204" pitchFamily="34" charset="0"/>
                            <a:cs typeface="Calibri" panose="020F0502020204030204" pitchFamily="34" charset="0"/>
                          </a:rPr>
                          <m:t>𝑘</m:t>
                        </m:r>
                      </m:e>
                      <m:sub>
                        <m:r>
                          <a:rPr lang="ru-RU" i="1">
                            <a:effectLst/>
                            <a:latin typeface="Cambria Math" panose="02040503050406030204" pitchFamily="18" charset="0"/>
                            <a:ea typeface="Calibri" panose="020F0502020204030204" pitchFamily="34" charset="0"/>
                            <a:cs typeface="Calibri" panose="020F0502020204030204" pitchFamily="34" charset="0"/>
                          </a:rPr>
                          <m:t>𝐶</m:t>
                        </m:r>
                      </m:sub>
                    </m:sSub>
                    <m:r>
                      <a:rPr lang="ru-RU" i="1">
                        <a:effectLst/>
                        <a:latin typeface="Cambria Math" panose="02040503050406030204" pitchFamily="18" charset="0"/>
                        <a:ea typeface="Calibri" panose="020F0502020204030204" pitchFamily="34" charset="0"/>
                        <a:cs typeface="Calibri" panose="020F0502020204030204" pitchFamily="34" charset="0"/>
                      </a:rPr>
                      <m:t>=</m:t>
                    </m:r>
                    <m:f>
                      <m:fPr>
                        <m:type m:val="lin"/>
                        <m:ctrlPr>
                          <a:rPr lang="ru-RU" i="1">
                            <a:effectLst/>
                            <a:latin typeface="Cambria Math" panose="02040503050406030204" pitchFamily="18" charset="0"/>
                            <a:ea typeface="Calibri" panose="020F0502020204030204" pitchFamily="34" charset="0"/>
                            <a:cs typeface="Calibri" panose="020F0502020204030204" pitchFamily="34" charset="0"/>
                          </a:rPr>
                        </m:ctrlPr>
                      </m:fPr>
                      <m:num>
                        <m:sSub>
                          <m:sSubPr>
                            <m:ctrlPr>
                              <a:rPr lang="ru-RU" i="1">
                                <a:effectLst/>
                                <a:latin typeface="Cambria Math" panose="02040503050406030204" pitchFamily="18" charset="0"/>
                                <a:ea typeface="Calibri" panose="020F0502020204030204" pitchFamily="34" charset="0"/>
                                <a:cs typeface="Calibri" panose="020F0502020204030204" pitchFamily="34" charset="0"/>
                              </a:rPr>
                            </m:ctrlPr>
                          </m:sSubPr>
                          <m:e>
                            <m:r>
                              <a:rPr lang="en-US" i="1">
                                <a:effectLst/>
                                <a:latin typeface="Cambria Math" panose="02040503050406030204" pitchFamily="18" charset="0"/>
                                <a:ea typeface="Calibri" panose="020F0502020204030204" pitchFamily="34" charset="0"/>
                                <a:cs typeface="Calibri" panose="020F0502020204030204" pitchFamily="34" charset="0"/>
                              </a:rPr>
                              <m:t>𝐶</m:t>
                            </m:r>
                          </m:e>
                          <m:sub>
                            <m:r>
                              <a:rPr lang="ru-RU" i="1">
                                <a:effectLst/>
                                <a:latin typeface="Cambria Math" panose="02040503050406030204" pitchFamily="18" charset="0"/>
                                <a:ea typeface="Calibri" panose="020F0502020204030204" pitchFamily="34" charset="0"/>
                                <a:cs typeface="Calibri" panose="020F0502020204030204" pitchFamily="34" charset="0"/>
                              </a:rPr>
                              <m:t>Э</m:t>
                            </m:r>
                          </m:sub>
                        </m:sSub>
                      </m:num>
                      <m:den>
                        <m:sSub>
                          <m:sSubPr>
                            <m:ctrlPr>
                              <a:rPr lang="ru-RU" i="1">
                                <a:effectLst/>
                                <a:latin typeface="Cambria Math" panose="02040503050406030204" pitchFamily="18" charset="0"/>
                                <a:ea typeface="Calibri" panose="020F0502020204030204" pitchFamily="34" charset="0"/>
                                <a:cs typeface="Calibri" panose="020F0502020204030204" pitchFamily="34" charset="0"/>
                              </a:rPr>
                            </m:ctrlPr>
                          </m:sSubPr>
                          <m:e>
                            <m:r>
                              <a:rPr lang="en-US" i="1">
                                <a:effectLst/>
                                <a:latin typeface="Cambria Math" panose="02040503050406030204" pitchFamily="18" charset="0"/>
                                <a:ea typeface="Calibri" panose="020F0502020204030204" pitchFamily="34" charset="0"/>
                                <a:cs typeface="Calibri" panose="020F0502020204030204" pitchFamily="34" charset="0"/>
                              </a:rPr>
                              <m:t>𝐶</m:t>
                            </m:r>
                          </m:e>
                          <m:sub>
                            <m:r>
                              <a:rPr lang="ru-RU" i="1">
                                <a:effectLst/>
                                <a:latin typeface="Cambria Math" panose="02040503050406030204" pitchFamily="18" charset="0"/>
                                <a:ea typeface="Calibri" panose="020F0502020204030204" pitchFamily="34" charset="0"/>
                                <a:cs typeface="Calibri" panose="020F0502020204030204" pitchFamily="34" charset="0"/>
                              </a:rPr>
                              <m:t>СВ</m:t>
                            </m:r>
                          </m:sub>
                        </m:sSub>
                      </m:den>
                    </m:f>
                  </m:oMath>
                </a14:m>
                <a:r>
                  <a:rPr lang="ru-RU" dirty="0">
                    <a:effectLst/>
                    <a:latin typeface="Times New Roman" panose="02020603050405020304" pitchFamily="18" charset="0"/>
                    <a:ea typeface="Times New Roman" panose="02020603050405020304" pitchFamily="18" charset="0"/>
                    <a:cs typeface="Calibri" panose="020F0502020204030204" pitchFamily="34" charset="0"/>
                  </a:rPr>
                  <a:t> – коэффициент </a:t>
                </a:r>
                <a:r>
                  <a:rPr lang="ru-RU" dirty="0" err="1">
                    <a:effectLst/>
                    <a:latin typeface="Times New Roman" panose="02020603050405020304" pitchFamily="18" charset="0"/>
                    <a:ea typeface="Times New Roman" panose="02020603050405020304" pitchFamily="18" charset="0"/>
                    <a:cs typeface="Calibri" panose="020F0502020204030204" pitchFamily="34" charset="0"/>
                  </a:rPr>
                  <a:t>внутриемкостной</a:t>
                </a:r>
                <a:r>
                  <a:rPr lang="ru-RU" dirty="0">
                    <a:effectLst/>
                    <a:latin typeface="Times New Roman" panose="02020603050405020304" pitchFamily="18" charset="0"/>
                    <a:ea typeface="Times New Roman" panose="02020603050405020304" pitchFamily="18" charset="0"/>
                    <a:cs typeface="Calibri" panose="020F0502020204030204" pitchFamily="34" charset="0"/>
                  </a:rPr>
                  <a:t> связи, </a:t>
                </a:r>
                <a:r>
                  <a:rPr lang="ru-RU" i="1" dirty="0" err="1">
                    <a:effectLst/>
                    <a:latin typeface="Times New Roman" panose="02020603050405020304" pitchFamily="18" charset="0"/>
                    <a:ea typeface="Times New Roman" panose="02020603050405020304" pitchFamily="18" charset="0"/>
                    <a:cs typeface="Calibri" panose="020F0502020204030204" pitchFamily="34" charset="0"/>
                  </a:rPr>
                  <a:t>С</a:t>
                </a:r>
                <a:r>
                  <a:rPr lang="ru-RU" baseline="-25000" dirty="0" err="1">
                    <a:effectLst/>
                    <a:latin typeface="Times New Roman" panose="02020603050405020304" pitchFamily="18" charset="0"/>
                    <a:ea typeface="Times New Roman" panose="02020603050405020304" pitchFamily="18" charset="0"/>
                    <a:cs typeface="Calibri" panose="020F0502020204030204" pitchFamily="34" charset="0"/>
                  </a:rPr>
                  <a:t>э</a:t>
                </a:r>
                <a:r>
                  <a:rPr lang="ru-RU" dirty="0">
                    <a:effectLst/>
                    <a:latin typeface="Times New Roman" panose="02020603050405020304" pitchFamily="18" charset="0"/>
                    <a:ea typeface="Times New Roman" panose="02020603050405020304" pitchFamily="18" charset="0"/>
                    <a:cs typeface="Calibri" panose="020F0502020204030204" pitchFamily="34" charset="0"/>
                  </a:rPr>
                  <a:t> – эквивалентная емкость контура. Так как при увеличении частоты настройки </a:t>
                </a:r>
                <a:r>
                  <a:rPr lang="ru-RU" i="1" dirty="0" err="1">
                    <a:effectLst/>
                    <a:latin typeface="Times New Roman" panose="02020603050405020304" pitchFamily="18" charset="0"/>
                    <a:ea typeface="Times New Roman" panose="02020603050405020304" pitchFamily="18" charset="0"/>
                    <a:cs typeface="Calibri" panose="020F0502020204030204" pitchFamily="34" charset="0"/>
                  </a:rPr>
                  <a:t>Х</a:t>
                </a:r>
                <a:r>
                  <a:rPr lang="ru-RU" baseline="-25000" dirty="0" err="1">
                    <a:effectLst/>
                    <a:latin typeface="Times New Roman" panose="02020603050405020304" pitchFamily="18" charset="0"/>
                    <a:ea typeface="Times New Roman" panose="02020603050405020304" pitchFamily="18" charset="0"/>
                    <a:cs typeface="Calibri" panose="020F0502020204030204" pitchFamily="34" charset="0"/>
                  </a:rPr>
                  <a:t>сэ</a:t>
                </a:r>
                <a:r>
                  <a:rPr lang="ru-RU" dirty="0">
                    <a:effectLst/>
                    <a:latin typeface="Times New Roman" panose="02020603050405020304" pitchFamily="18" charset="0"/>
                    <a:ea typeface="Times New Roman" panose="02020603050405020304" pitchFamily="18" charset="0"/>
                    <a:cs typeface="Calibri" panose="020F0502020204030204" pitchFamily="34" charset="0"/>
                  </a:rPr>
                  <a:t> уменьшается, то возможно поддержание постоянства полосы пропускания входной цепи при ее перестройке в пределах диапазона.</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mc:Choice>
        <mc:Fallback xmlns="">
          <p:sp>
            <p:nvSpPr>
              <p:cNvPr id="4" name="Прямоугольник 3"/>
              <p:cNvSpPr>
                <a:spLocks noRot="1" noChangeAspect="1" noMove="1" noResize="1" noEditPoints="1" noAdjustHandles="1" noChangeArrowheads="1" noChangeShapeType="1" noTextEdit="1"/>
              </p:cNvSpPr>
              <p:nvPr/>
            </p:nvSpPr>
            <p:spPr>
              <a:xfrm>
                <a:off x="1007232" y="2499410"/>
                <a:ext cx="6377415" cy="1870512"/>
              </a:xfrm>
              <a:prstGeom prst="rect">
                <a:avLst/>
              </a:prstGeom>
              <a:blipFill rotWithShape="0">
                <a:blip r:embed="rId3"/>
                <a:stretch>
                  <a:fillRect l="-765" t="-22801" r="-860" b="-3257"/>
                </a:stretch>
              </a:blipFill>
            </p:spPr>
            <p:txBody>
              <a:bodyPr/>
              <a:lstStyle/>
              <a:p>
                <a:r>
                  <a:rPr lang="ru-RU">
                    <a:noFill/>
                  </a:rPr>
                  <a:t> </a:t>
                </a:r>
              </a:p>
            </p:txBody>
          </p:sp>
        </mc:Fallback>
      </mc:AlternateContent>
      <p:pic>
        <p:nvPicPr>
          <p:cNvPr id="5" name="Рисунок 4" descr="Изображение выглядит как диаграмма, текст, План, Технический чертеж&#10;&#10;Контент, сгенерированный ИИ, может содержать ошибки."/>
          <p:cNvPicPr/>
          <p:nvPr/>
        </p:nvPicPr>
        <p:blipFill>
          <a:blip r:embed="rId4"/>
          <a:stretch>
            <a:fillRect/>
          </a:stretch>
        </p:blipFill>
        <p:spPr>
          <a:xfrm>
            <a:off x="7639050" y="759960"/>
            <a:ext cx="4229100" cy="2266950"/>
          </a:xfrm>
          <a:prstGeom prst="rect">
            <a:avLst/>
          </a:prstGeom>
        </p:spPr>
      </p:pic>
    </p:spTree>
    <p:extLst>
      <p:ext uri="{BB962C8B-B14F-4D97-AF65-F5344CB8AC3E}">
        <p14:creationId xmlns:p14="http://schemas.microsoft.com/office/powerpoint/2010/main" val="38997688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601884" y="612973"/>
            <a:ext cx="10671858" cy="3557512"/>
          </a:xfrm>
          <a:prstGeom prst="rect">
            <a:avLst/>
          </a:prstGeom>
        </p:spPr>
        <p:txBody>
          <a:bodyPr wrap="square">
            <a:spAutoFit/>
          </a:bodyPr>
          <a:lstStyle/>
          <a:p>
            <a:pPr algn="just">
              <a:lnSpc>
                <a:spcPct val="107000"/>
              </a:lnSpc>
              <a:spcAft>
                <a:spcPts val="800"/>
              </a:spcAft>
            </a:pPr>
            <a:r>
              <a:rPr lang="ru-RU" b="1" dirty="0">
                <a:latin typeface="Times New Roman" panose="02020603050405020304" pitchFamily="18" charset="0"/>
                <a:ea typeface="Times New Roman" panose="02020603050405020304" pitchFamily="18" charset="0"/>
                <a:cs typeface="Calibri" panose="020F0502020204030204" pitchFamily="34" charset="0"/>
              </a:rPr>
              <a:t>Входная цепь с дискретным конденсатором</a:t>
            </a:r>
            <a:endParaRPr lang="ru-RU" dirty="0">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Схема одноконтурной входной цепи с дискретным конденсатором в качестве элемента настройки и функциональная схема дискретного конденсатора приведены на рисунке. Дискретный конденсатор состоит из переключаемых конденсаторов постоянной емкости, причем емкость каждого следующего конденсатора в две раза больше емкости предыдущего. Поэтому количество градаций емкости дискретного конденсатора, а значит, количество фиксированных частот настройки контура равно 2</a:t>
            </a:r>
            <a:r>
              <a:rPr lang="ru-RU" i="1" baseline="30000" dirty="0">
                <a:latin typeface="Times New Roman" panose="02020603050405020304" pitchFamily="18" charset="0"/>
                <a:ea typeface="Times New Roman" panose="02020603050405020304" pitchFamily="18" charset="0"/>
                <a:cs typeface="Calibri" panose="020F0502020204030204" pitchFamily="34" charset="0"/>
              </a:rPr>
              <a:t>m</a:t>
            </a:r>
            <a:r>
              <a:rPr lang="ru-RU" dirty="0">
                <a:latin typeface="Times New Roman" panose="02020603050405020304" pitchFamily="18" charset="0"/>
                <a:ea typeface="Times New Roman" panose="02020603050405020304" pitchFamily="18" charset="0"/>
                <a:cs typeface="Calibri" panose="020F0502020204030204" pitchFamily="34" charset="0"/>
              </a:rPr>
              <a:t>, где </a:t>
            </a:r>
            <a:r>
              <a:rPr lang="ru-RU" i="1" dirty="0">
                <a:latin typeface="Times New Roman" panose="02020603050405020304" pitchFamily="18" charset="0"/>
                <a:ea typeface="Times New Roman" panose="02020603050405020304" pitchFamily="18" charset="0"/>
                <a:cs typeface="Calibri" panose="020F0502020204030204" pitchFamily="34" charset="0"/>
              </a:rPr>
              <a:t>m</a:t>
            </a:r>
            <a:r>
              <a:rPr lang="ru-RU" dirty="0">
                <a:latin typeface="Times New Roman" panose="02020603050405020304" pitchFamily="18" charset="0"/>
                <a:ea typeface="Times New Roman" panose="02020603050405020304" pitchFamily="18" charset="0"/>
                <a:cs typeface="Calibri" panose="020F0502020204030204" pitchFamily="34" charset="0"/>
              </a:rPr>
              <a:t> – количество дискретных конденсаторов.</a:t>
            </a:r>
            <a:endParaRPr lang="ru-RU" dirty="0">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На вход блока управления электронными ключами поступает m – разрядная двоичная кодовая комбинация от микропроцессорной системы управления радиоприемником. Достоинство входной цепи с дискретным конденсатором – отсутствие механических элементов перестройки, недостаток – ограниченное количество частот фиксированной настройки.</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pic>
        <p:nvPicPr>
          <p:cNvPr id="3" name="Рисунок 2" descr="Изображение выглядит как диаграмма, текст, линия, План&#10;&#10;Контент, сгенерированный ИИ, может содержать ошибки."/>
          <p:cNvPicPr/>
          <p:nvPr/>
        </p:nvPicPr>
        <p:blipFill>
          <a:blip r:embed="rId2"/>
          <a:stretch>
            <a:fillRect/>
          </a:stretch>
        </p:blipFill>
        <p:spPr>
          <a:xfrm>
            <a:off x="4653264" y="4079895"/>
            <a:ext cx="3695700" cy="1800225"/>
          </a:xfrm>
          <a:prstGeom prst="rect">
            <a:avLst/>
          </a:prstGeom>
        </p:spPr>
      </p:pic>
      <p:sp>
        <p:nvSpPr>
          <p:cNvPr id="4" name="Прямоугольник 3"/>
          <p:cNvSpPr/>
          <p:nvPr/>
        </p:nvSpPr>
        <p:spPr>
          <a:xfrm>
            <a:off x="3805858" y="5880120"/>
            <a:ext cx="4696029" cy="388696"/>
          </a:xfrm>
          <a:prstGeom prst="rect">
            <a:avLst/>
          </a:prstGeom>
        </p:spPr>
        <p:txBody>
          <a:bodyPr wrap="none">
            <a:spAutoFit/>
          </a:bodyPr>
          <a:lstStyle/>
          <a:p>
            <a:pPr algn="ctr">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Входная цепь с дискретными конденсаторами</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552716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909978" y="398855"/>
            <a:ext cx="4233147" cy="388696"/>
          </a:xfrm>
          <a:prstGeom prst="rect">
            <a:avLst/>
          </a:prstGeom>
        </p:spPr>
        <p:txBody>
          <a:bodyPr wrap="none">
            <a:spAutoFit/>
          </a:bodyPr>
          <a:lstStyle/>
          <a:p>
            <a:pPr algn="just">
              <a:lnSpc>
                <a:spcPct val="107000"/>
              </a:lnSpc>
              <a:spcAft>
                <a:spcPts val="800"/>
              </a:spcAft>
            </a:pPr>
            <a:r>
              <a:rPr lang="ru-RU" b="1" dirty="0">
                <a:latin typeface="Times New Roman" panose="02020603050405020304" pitchFamily="18" charset="0"/>
                <a:ea typeface="Times New Roman" panose="02020603050405020304" pitchFamily="18" charset="0"/>
                <a:cs typeface="Calibri" panose="020F0502020204030204" pitchFamily="34" charset="0"/>
              </a:rPr>
              <a:t>Входная цепь с настройкой варикапом</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pic>
        <p:nvPicPr>
          <p:cNvPr id="3" name="Рисунок 2" descr="Изображение выглядит как диаграмма, План, Технический чертеж, схематичный&#10;&#10;Контент, сгенерированный ИИ, может содержать ошибки."/>
          <p:cNvPicPr/>
          <p:nvPr/>
        </p:nvPicPr>
        <p:blipFill>
          <a:blip r:embed="rId2"/>
          <a:stretch>
            <a:fillRect/>
          </a:stretch>
        </p:blipFill>
        <p:spPr>
          <a:xfrm>
            <a:off x="4164413" y="945928"/>
            <a:ext cx="3724275" cy="1933575"/>
          </a:xfrm>
          <a:prstGeom prst="rect">
            <a:avLst/>
          </a:prstGeom>
        </p:spPr>
      </p:pic>
      <p:sp>
        <p:nvSpPr>
          <p:cNvPr id="4" name="Прямоугольник 3"/>
          <p:cNvSpPr/>
          <p:nvPr/>
        </p:nvSpPr>
        <p:spPr>
          <a:xfrm>
            <a:off x="513144" y="3037880"/>
            <a:ext cx="10830045" cy="1482970"/>
          </a:xfrm>
          <a:prstGeom prst="rect">
            <a:avLst/>
          </a:prstGeom>
        </p:spPr>
        <p:txBody>
          <a:bodyPr wrap="square">
            <a:spAutoFit/>
          </a:bodyPr>
          <a:lstStyle/>
          <a:p>
            <a:pPr algn="ctr">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Входная цепь с настройкой варикапом. Что надо исправить на рисунке?</a:t>
            </a:r>
            <a:endParaRPr lang="ru-RU" dirty="0">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Элементом настройки является </a:t>
            </a:r>
            <a:r>
              <a:rPr lang="ru-RU" i="1" dirty="0">
                <a:latin typeface="Times New Roman" panose="02020603050405020304" pitchFamily="18" charset="0"/>
                <a:ea typeface="Times New Roman" panose="02020603050405020304" pitchFamily="18" charset="0"/>
                <a:cs typeface="Calibri" panose="020F0502020204030204" pitchFamily="34" charset="0"/>
              </a:rPr>
              <a:t>варикап</a:t>
            </a:r>
            <a:r>
              <a:rPr lang="ru-RU" dirty="0">
                <a:latin typeface="Times New Roman" panose="02020603050405020304" pitchFamily="18" charset="0"/>
                <a:ea typeface="Times New Roman" panose="02020603050405020304" pitchFamily="18" charset="0"/>
                <a:cs typeface="Calibri" panose="020F0502020204030204" pitchFamily="34" charset="0"/>
              </a:rPr>
              <a:t>. Запирающее напряжение поступает на варикап с потенциометра через фильтр </a:t>
            </a:r>
            <a:r>
              <a:rPr lang="ru-RU" i="1" dirty="0" err="1">
                <a:latin typeface="Times New Roman" panose="02020603050405020304" pitchFamily="18" charset="0"/>
                <a:ea typeface="Times New Roman" panose="02020603050405020304" pitchFamily="18" charset="0"/>
                <a:cs typeface="Calibri" panose="020F0502020204030204" pitchFamily="34" charset="0"/>
              </a:rPr>
              <a:t>R</a:t>
            </a:r>
            <a:r>
              <a:rPr lang="ru-RU" baseline="-25000" dirty="0" err="1">
                <a:latin typeface="Times New Roman" panose="02020603050405020304" pitchFamily="18" charset="0"/>
                <a:ea typeface="Times New Roman" panose="02020603050405020304" pitchFamily="18" charset="0"/>
                <a:cs typeface="Calibri" panose="020F0502020204030204" pitchFamily="34" charset="0"/>
              </a:rPr>
              <a:t>ф</a:t>
            </a:r>
            <a:r>
              <a:rPr lang="ru-RU" dirty="0">
                <a:latin typeface="Times New Roman" panose="02020603050405020304" pitchFamily="18" charset="0"/>
                <a:ea typeface="Times New Roman" panose="02020603050405020304" pitchFamily="18" charset="0"/>
                <a:cs typeface="Calibri" panose="020F0502020204030204" pitchFamily="34" charset="0"/>
              </a:rPr>
              <a:t>, </a:t>
            </a:r>
            <a:r>
              <a:rPr lang="ru-RU" i="1" dirty="0" err="1">
                <a:latin typeface="Times New Roman" panose="02020603050405020304" pitchFamily="18" charset="0"/>
                <a:ea typeface="Times New Roman" panose="02020603050405020304" pitchFamily="18" charset="0"/>
                <a:cs typeface="Calibri" panose="020F0502020204030204" pitchFamily="34" charset="0"/>
              </a:rPr>
              <a:t>С</a:t>
            </a:r>
            <a:r>
              <a:rPr lang="ru-RU" baseline="-25000" dirty="0" err="1">
                <a:latin typeface="Times New Roman" panose="02020603050405020304" pitchFamily="18" charset="0"/>
                <a:ea typeface="Times New Roman" panose="02020603050405020304" pitchFamily="18" charset="0"/>
                <a:cs typeface="Calibri" panose="020F0502020204030204" pitchFamily="34" charset="0"/>
              </a:rPr>
              <a:t>ф</a:t>
            </a:r>
            <a:r>
              <a:rPr lang="ru-RU" dirty="0">
                <a:latin typeface="Times New Roman" panose="02020603050405020304" pitchFamily="18" charset="0"/>
                <a:ea typeface="Times New Roman" panose="02020603050405020304" pitchFamily="18" charset="0"/>
                <a:cs typeface="Calibri" panose="020F0502020204030204" pitchFamily="34" charset="0"/>
              </a:rPr>
              <a:t>. Зависимость емкости варикапа от запирающего напряжения ?.</a:t>
            </a:r>
            <a:endParaRPr lang="ru-RU" dirty="0">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800"/>
              </a:spcAft>
            </a:pPr>
            <a:r>
              <a:rPr lang="ru-RU" dirty="0" err="1">
                <a:latin typeface="Times New Roman" panose="02020603050405020304" pitchFamily="18" charset="0"/>
                <a:ea typeface="Times New Roman" panose="02020603050405020304" pitchFamily="18" charset="0"/>
                <a:cs typeface="Calibri" panose="020F0502020204030204" pitchFamily="34" charset="0"/>
              </a:rPr>
              <a:t>Вольтфарадная</a:t>
            </a:r>
            <a:r>
              <a:rPr lang="ru-RU" dirty="0">
                <a:latin typeface="Times New Roman" panose="02020603050405020304" pitchFamily="18" charset="0"/>
                <a:ea typeface="Times New Roman" panose="02020603050405020304" pitchFamily="18" charset="0"/>
                <a:cs typeface="Calibri" panose="020F0502020204030204" pitchFamily="34" charset="0"/>
              </a:rPr>
              <a:t> характеристика варикапа описывается выражением</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90759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909978" y="398855"/>
            <a:ext cx="4233147" cy="388696"/>
          </a:xfrm>
          <a:prstGeom prst="rect">
            <a:avLst/>
          </a:prstGeom>
        </p:spPr>
        <p:txBody>
          <a:bodyPr wrap="none">
            <a:spAutoFit/>
          </a:bodyPr>
          <a:lstStyle/>
          <a:p>
            <a:pPr algn="just">
              <a:lnSpc>
                <a:spcPct val="107000"/>
              </a:lnSpc>
              <a:spcAft>
                <a:spcPts val="800"/>
              </a:spcAft>
            </a:pPr>
            <a:r>
              <a:rPr lang="ru-RU" b="1" dirty="0">
                <a:latin typeface="Times New Roman" panose="02020603050405020304" pitchFamily="18" charset="0"/>
                <a:ea typeface="Times New Roman" panose="02020603050405020304" pitchFamily="18" charset="0"/>
                <a:cs typeface="Calibri" panose="020F0502020204030204" pitchFamily="34" charset="0"/>
              </a:rPr>
              <a:t>Входная цепь с настройкой варикапом</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pic>
        <p:nvPicPr>
          <p:cNvPr id="3" name="Рисунок 2" descr="Изображение выглядит как диаграмма, План, Технический чертеж, схематичный&#10;&#10;Контент, сгенерированный ИИ, может содержать ошибки."/>
          <p:cNvPicPr/>
          <p:nvPr/>
        </p:nvPicPr>
        <p:blipFill>
          <a:blip r:embed="rId2"/>
          <a:stretch>
            <a:fillRect/>
          </a:stretch>
        </p:blipFill>
        <p:spPr>
          <a:xfrm>
            <a:off x="4164413" y="945928"/>
            <a:ext cx="3724275" cy="1933575"/>
          </a:xfrm>
          <a:prstGeom prst="rect">
            <a:avLst/>
          </a:prstGeom>
        </p:spPr>
      </p:pic>
      <p:sp>
        <p:nvSpPr>
          <p:cNvPr id="4" name="Прямоугольник 3"/>
          <p:cNvSpPr/>
          <p:nvPr/>
        </p:nvSpPr>
        <p:spPr>
          <a:xfrm>
            <a:off x="513144" y="3037880"/>
            <a:ext cx="10830045" cy="1482970"/>
          </a:xfrm>
          <a:prstGeom prst="rect">
            <a:avLst/>
          </a:prstGeom>
        </p:spPr>
        <p:txBody>
          <a:bodyPr wrap="square">
            <a:spAutoFit/>
          </a:bodyPr>
          <a:lstStyle/>
          <a:p>
            <a:pPr algn="ctr">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Входная цепь с настройкой варикапом. Что надо исправить на рисунке?</a:t>
            </a:r>
            <a:endParaRPr lang="ru-RU" dirty="0">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Элементом настройки является </a:t>
            </a:r>
            <a:r>
              <a:rPr lang="ru-RU" i="1" dirty="0">
                <a:latin typeface="Times New Roman" panose="02020603050405020304" pitchFamily="18" charset="0"/>
                <a:ea typeface="Times New Roman" panose="02020603050405020304" pitchFamily="18" charset="0"/>
                <a:cs typeface="Calibri" panose="020F0502020204030204" pitchFamily="34" charset="0"/>
              </a:rPr>
              <a:t>варикап</a:t>
            </a:r>
            <a:r>
              <a:rPr lang="ru-RU" dirty="0">
                <a:latin typeface="Times New Roman" panose="02020603050405020304" pitchFamily="18" charset="0"/>
                <a:ea typeface="Times New Roman" panose="02020603050405020304" pitchFamily="18" charset="0"/>
                <a:cs typeface="Calibri" panose="020F0502020204030204" pitchFamily="34" charset="0"/>
              </a:rPr>
              <a:t>. Запирающее напряжение поступает на варикап с потенциометра через фильтр </a:t>
            </a:r>
            <a:r>
              <a:rPr lang="ru-RU" i="1" dirty="0" err="1">
                <a:latin typeface="Times New Roman" panose="02020603050405020304" pitchFamily="18" charset="0"/>
                <a:ea typeface="Times New Roman" panose="02020603050405020304" pitchFamily="18" charset="0"/>
                <a:cs typeface="Calibri" panose="020F0502020204030204" pitchFamily="34" charset="0"/>
              </a:rPr>
              <a:t>R</a:t>
            </a:r>
            <a:r>
              <a:rPr lang="ru-RU" baseline="-25000" dirty="0" err="1">
                <a:latin typeface="Times New Roman" panose="02020603050405020304" pitchFamily="18" charset="0"/>
                <a:ea typeface="Times New Roman" panose="02020603050405020304" pitchFamily="18" charset="0"/>
                <a:cs typeface="Calibri" panose="020F0502020204030204" pitchFamily="34" charset="0"/>
              </a:rPr>
              <a:t>ф</a:t>
            </a:r>
            <a:r>
              <a:rPr lang="ru-RU" dirty="0">
                <a:latin typeface="Times New Roman" panose="02020603050405020304" pitchFamily="18" charset="0"/>
                <a:ea typeface="Times New Roman" panose="02020603050405020304" pitchFamily="18" charset="0"/>
                <a:cs typeface="Calibri" panose="020F0502020204030204" pitchFamily="34" charset="0"/>
              </a:rPr>
              <a:t>, </a:t>
            </a:r>
            <a:r>
              <a:rPr lang="ru-RU" i="1" dirty="0" err="1">
                <a:latin typeface="Times New Roman" panose="02020603050405020304" pitchFamily="18" charset="0"/>
                <a:ea typeface="Times New Roman" panose="02020603050405020304" pitchFamily="18" charset="0"/>
                <a:cs typeface="Calibri" panose="020F0502020204030204" pitchFamily="34" charset="0"/>
              </a:rPr>
              <a:t>С</a:t>
            </a:r>
            <a:r>
              <a:rPr lang="ru-RU" baseline="-25000" dirty="0" err="1">
                <a:latin typeface="Times New Roman" panose="02020603050405020304" pitchFamily="18" charset="0"/>
                <a:ea typeface="Times New Roman" panose="02020603050405020304" pitchFamily="18" charset="0"/>
                <a:cs typeface="Calibri" panose="020F0502020204030204" pitchFamily="34" charset="0"/>
              </a:rPr>
              <a:t>ф</a:t>
            </a:r>
            <a:r>
              <a:rPr lang="ru-RU" dirty="0">
                <a:latin typeface="Times New Roman" panose="02020603050405020304" pitchFamily="18" charset="0"/>
                <a:ea typeface="Times New Roman" panose="02020603050405020304" pitchFamily="18" charset="0"/>
                <a:cs typeface="Calibri" panose="020F0502020204030204" pitchFamily="34" charset="0"/>
              </a:rPr>
              <a:t>. Зависимость емкости варикапа от запирающего напряжения ?.</a:t>
            </a:r>
            <a:endParaRPr lang="ru-RU" dirty="0">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800"/>
              </a:spcAft>
            </a:pPr>
            <a:r>
              <a:rPr lang="ru-RU" dirty="0" err="1">
                <a:latin typeface="Times New Roman" panose="02020603050405020304" pitchFamily="18" charset="0"/>
                <a:ea typeface="Times New Roman" panose="02020603050405020304" pitchFamily="18" charset="0"/>
                <a:cs typeface="Calibri" panose="020F0502020204030204" pitchFamily="34" charset="0"/>
              </a:rPr>
              <a:t>Вольтфарадная</a:t>
            </a:r>
            <a:r>
              <a:rPr lang="ru-RU" dirty="0">
                <a:latin typeface="Times New Roman" panose="02020603050405020304" pitchFamily="18" charset="0"/>
                <a:ea typeface="Times New Roman" panose="02020603050405020304" pitchFamily="18" charset="0"/>
                <a:cs typeface="Calibri" panose="020F0502020204030204" pitchFamily="34" charset="0"/>
              </a:rPr>
              <a:t> характеристика варикапа описывается выражением</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pic>
        <p:nvPicPr>
          <p:cNvPr id="5" name="Рисунок 4" descr="Изображение выглядит как Шрифт, текст, белый, символ&#10;&#10;Контент, сгенерированный ИИ, может содержать ошибки."/>
          <p:cNvPicPr/>
          <p:nvPr/>
        </p:nvPicPr>
        <p:blipFill>
          <a:blip r:embed="rId3"/>
          <a:stretch>
            <a:fillRect/>
          </a:stretch>
        </p:blipFill>
        <p:spPr>
          <a:xfrm>
            <a:off x="6865026" y="4520850"/>
            <a:ext cx="1514475" cy="518795"/>
          </a:xfrm>
          <a:prstGeom prst="rect">
            <a:avLst/>
          </a:prstGeom>
        </p:spPr>
      </p:pic>
      <p:sp>
        <p:nvSpPr>
          <p:cNvPr id="6" name="Прямоугольник 5"/>
          <p:cNvSpPr/>
          <p:nvPr/>
        </p:nvSpPr>
        <p:spPr>
          <a:xfrm>
            <a:off x="513144" y="4860816"/>
            <a:ext cx="10644851" cy="1881925"/>
          </a:xfrm>
          <a:prstGeom prst="rect">
            <a:avLst/>
          </a:prstGeom>
        </p:spPr>
        <p:txBody>
          <a:bodyPr wrap="square">
            <a:spAutoFit/>
          </a:bodyPr>
          <a:lstStyle/>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где </a:t>
            </a:r>
            <a:r>
              <a:rPr lang="ru-RU" i="1" dirty="0">
                <a:latin typeface="Times New Roman" panose="02020603050405020304" pitchFamily="18" charset="0"/>
                <a:ea typeface="Times New Roman" panose="02020603050405020304" pitchFamily="18" charset="0"/>
                <a:cs typeface="Calibri" panose="020F0502020204030204" pitchFamily="34" charset="0"/>
              </a:rPr>
              <a:t>C</a:t>
            </a:r>
            <a:r>
              <a:rPr lang="ru-RU" baseline="-25000" dirty="0">
                <a:latin typeface="Times New Roman" panose="02020603050405020304" pitchFamily="18" charset="0"/>
                <a:ea typeface="Times New Roman" panose="02020603050405020304" pitchFamily="18" charset="0"/>
                <a:cs typeface="Calibri" panose="020F0502020204030204" pitchFamily="34" charset="0"/>
              </a:rPr>
              <a:t>СПР</a:t>
            </a:r>
            <a:r>
              <a:rPr lang="ru-RU" dirty="0">
                <a:latin typeface="Times New Roman" panose="02020603050405020304" pitchFamily="18" charset="0"/>
                <a:ea typeface="Times New Roman" panose="02020603050405020304" pitchFamily="18" charset="0"/>
                <a:cs typeface="Calibri" panose="020F0502020204030204" pitchFamily="34" charset="0"/>
              </a:rPr>
              <a:t> – справочное значение емкости варикапа;</a:t>
            </a:r>
            <a:endParaRPr lang="ru-RU" dirty="0">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800"/>
              </a:spcAft>
            </a:pPr>
            <a:r>
              <a:rPr lang="ru-RU" i="1" dirty="0">
                <a:latin typeface="Times New Roman" panose="02020603050405020304" pitchFamily="18" charset="0"/>
                <a:ea typeface="Times New Roman" panose="02020603050405020304" pitchFamily="18" charset="0"/>
                <a:cs typeface="Calibri" panose="020F0502020204030204" pitchFamily="34" charset="0"/>
              </a:rPr>
              <a:t>U</a:t>
            </a:r>
            <a:r>
              <a:rPr lang="ru-RU" baseline="-25000" dirty="0">
                <a:latin typeface="Times New Roman" panose="02020603050405020304" pitchFamily="18" charset="0"/>
                <a:ea typeface="Times New Roman" panose="02020603050405020304" pitchFamily="18" charset="0"/>
                <a:cs typeface="Calibri" panose="020F0502020204030204" pitchFamily="34" charset="0"/>
              </a:rPr>
              <a:t>СПР</a:t>
            </a:r>
            <a:r>
              <a:rPr lang="ru-RU" dirty="0">
                <a:latin typeface="Times New Roman" panose="02020603050405020304" pitchFamily="18" charset="0"/>
                <a:ea typeface="Times New Roman" panose="02020603050405020304" pitchFamily="18" charset="0"/>
                <a:cs typeface="Calibri" panose="020F0502020204030204" pitchFamily="34" charset="0"/>
              </a:rPr>
              <a:t> – напряжение, при котором дано справочное значение емкости;</a:t>
            </a:r>
            <a:endParaRPr lang="ru-RU" dirty="0">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800"/>
              </a:spcAft>
            </a:pPr>
            <a:r>
              <a:rPr lang="ru-RU" i="1" dirty="0">
                <a:latin typeface="Times New Roman" panose="02020603050405020304" pitchFamily="18" charset="0"/>
                <a:ea typeface="Times New Roman" panose="02020603050405020304" pitchFamily="18" charset="0"/>
                <a:cs typeface="Calibri" panose="020F0502020204030204" pitchFamily="34" charset="0"/>
              </a:rPr>
              <a:t>U</a:t>
            </a:r>
            <a:r>
              <a:rPr lang="ru-RU" baseline="-25000" dirty="0">
                <a:latin typeface="Times New Roman" panose="02020603050405020304" pitchFamily="18" charset="0"/>
                <a:ea typeface="Times New Roman" panose="02020603050405020304" pitchFamily="18" charset="0"/>
                <a:cs typeface="Calibri" panose="020F0502020204030204" pitchFamily="34" charset="0"/>
              </a:rPr>
              <a:t>УПР</a:t>
            </a:r>
            <a:r>
              <a:rPr lang="ru-RU" dirty="0">
                <a:latin typeface="Times New Roman" panose="02020603050405020304" pitchFamily="18" charset="0"/>
                <a:ea typeface="Times New Roman" panose="02020603050405020304" pitchFamily="18" charset="0"/>
                <a:cs typeface="Calibri" panose="020F0502020204030204" pitchFamily="34" charset="0"/>
              </a:rPr>
              <a:t> – управляющее напряжение на варикапе;</a:t>
            </a:r>
            <a:endParaRPr lang="ru-RU" dirty="0">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n – коэффициент, зависящий от технологии изготовления варикапа (для сплавной технологии n = 0,33; для диффузионной – n = 0,5).</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68200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451412" y="364941"/>
            <a:ext cx="11192719" cy="5757474"/>
          </a:xfrm>
          <a:prstGeom prst="rect">
            <a:avLst/>
          </a:prstGeom>
        </p:spPr>
        <p:txBody>
          <a:bodyPr wrap="square">
            <a:spAutoFit/>
          </a:bodyPr>
          <a:lstStyle/>
          <a:p>
            <a:pPr algn="just">
              <a:lnSpc>
                <a:spcPct val="107000"/>
              </a:lnSpc>
              <a:spcAft>
                <a:spcPts val="600"/>
              </a:spcAft>
            </a:pPr>
            <a:r>
              <a:rPr lang="ru-RU" b="1" dirty="0">
                <a:latin typeface="Times New Roman" panose="02020603050405020304" pitchFamily="18" charset="0"/>
                <a:ea typeface="Times New Roman" panose="02020603050405020304" pitchFamily="18" charset="0"/>
                <a:cs typeface="Calibri" panose="020F0502020204030204" pitchFamily="34" charset="0"/>
              </a:rPr>
              <a:t>Достоинствами варикапов являются:</a:t>
            </a:r>
            <a:endParaRPr lang="ru-RU" b="1" dirty="0">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600"/>
              </a:spcAft>
            </a:pPr>
            <a:r>
              <a:rPr lang="ru-RU" dirty="0">
                <a:latin typeface="Times New Roman" panose="02020603050405020304" pitchFamily="18" charset="0"/>
                <a:ea typeface="Times New Roman" panose="02020603050405020304" pitchFamily="18" charset="0"/>
                <a:cs typeface="Calibri" panose="020F0502020204030204" pitchFamily="34" charset="0"/>
                <a:sym typeface="Wingdings" panose="05000000000000000000" pitchFamily="2" charset="2"/>
              </a:rPr>
              <a:t></a:t>
            </a:r>
            <a:r>
              <a:rPr lang="ru-RU" dirty="0">
                <a:latin typeface="Times New Roman" panose="02020603050405020304" pitchFamily="18" charset="0"/>
                <a:ea typeface="Times New Roman" panose="02020603050405020304" pitchFamily="18" charset="0"/>
                <a:cs typeface="Calibri" panose="020F0502020204030204" pitchFamily="34" charset="0"/>
              </a:rPr>
              <a:t> малый расход мощности на управление;</a:t>
            </a:r>
            <a:endParaRPr lang="ru-RU" dirty="0">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600"/>
              </a:spcAft>
            </a:pPr>
            <a:r>
              <a:rPr lang="ru-RU" dirty="0">
                <a:latin typeface="Times New Roman" panose="02020603050405020304" pitchFamily="18" charset="0"/>
                <a:ea typeface="Times New Roman" panose="02020603050405020304" pitchFamily="18" charset="0"/>
                <a:cs typeface="Calibri" panose="020F0502020204030204" pitchFamily="34" charset="0"/>
                <a:sym typeface="Wingdings" panose="05000000000000000000" pitchFamily="2" charset="2"/>
              </a:rPr>
              <a:t></a:t>
            </a:r>
            <a:r>
              <a:rPr lang="ru-RU" dirty="0">
                <a:latin typeface="Times New Roman" panose="02020603050405020304" pitchFamily="18" charset="0"/>
                <a:ea typeface="Times New Roman" panose="02020603050405020304" pitchFamily="18" charset="0"/>
                <a:cs typeface="Calibri" panose="020F0502020204030204" pitchFamily="34" charset="0"/>
              </a:rPr>
              <a:t> высокая стабильность емкости n-p перехода при изменении температуры окружающей среды;</a:t>
            </a:r>
            <a:endParaRPr lang="ru-RU" dirty="0">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600"/>
              </a:spcAft>
            </a:pPr>
            <a:r>
              <a:rPr lang="ru-RU" dirty="0">
                <a:latin typeface="Times New Roman" panose="02020603050405020304" pitchFamily="18" charset="0"/>
                <a:ea typeface="Times New Roman" panose="02020603050405020304" pitchFamily="18" charset="0"/>
                <a:cs typeface="Calibri" panose="020F0502020204030204" pitchFamily="34" charset="0"/>
                <a:sym typeface="Wingdings" panose="05000000000000000000" pitchFamily="2" charset="2"/>
              </a:rPr>
              <a:t></a:t>
            </a:r>
            <a:r>
              <a:rPr lang="ru-RU" dirty="0">
                <a:latin typeface="Times New Roman" panose="02020603050405020304" pitchFamily="18" charset="0"/>
                <a:ea typeface="Times New Roman" panose="02020603050405020304" pitchFamily="18" charset="0"/>
                <a:cs typeface="Calibri" panose="020F0502020204030204" pitchFamily="34" charset="0"/>
              </a:rPr>
              <a:t> практически безынерционное изменение емкости n-p перехода;</a:t>
            </a:r>
            <a:endParaRPr lang="ru-RU" dirty="0">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600"/>
              </a:spcAft>
            </a:pPr>
            <a:r>
              <a:rPr lang="ru-RU" dirty="0">
                <a:latin typeface="Times New Roman" panose="02020603050405020304" pitchFamily="18" charset="0"/>
                <a:ea typeface="Times New Roman" panose="02020603050405020304" pitchFamily="18" charset="0"/>
                <a:cs typeface="Calibri" panose="020F0502020204030204" pitchFamily="34" charset="0"/>
                <a:sym typeface="Wingdings" panose="05000000000000000000" pitchFamily="2" charset="2"/>
              </a:rPr>
              <a:t></a:t>
            </a:r>
            <a:r>
              <a:rPr lang="ru-RU" dirty="0">
                <a:latin typeface="Times New Roman" panose="02020603050405020304" pitchFamily="18" charset="0"/>
                <a:ea typeface="Times New Roman" panose="02020603050405020304" pitchFamily="18" charset="0"/>
                <a:cs typeface="Calibri" panose="020F0502020204030204" pitchFamily="34" charset="0"/>
              </a:rPr>
              <a:t> относительно высокая добротность;</a:t>
            </a:r>
            <a:endParaRPr lang="ru-RU" dirty="0">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600"/>
              </a:spcAft>
            </a:pPr>
            <a:r>
              <a:rPr lang="ru-RU" dirty="0">
                <a:latin typeface="Times New Roman" panose="02020603050405020304" pitchFamily="18" charset="0"/>
                <a:ea typeface="Times New Roman" panose="02020603050405020304" pitchFamily="18" charset="0"/>
                <a:cs typeface="Calibri" panose="020F0502020204030204" pitchFamily="34" charset="0"/>
                <a:sym typeface="Wingdings" panose="05000000000000000000" pitchFamily="2" charset="2"/>
              </a:rPr>
              <a:t></a:t>
            </a:r>
            <a:r>
              <a:rPr lang="ru-RU" dirty="0">
                <a:latin typeface="Times New Roman" panose="02020603050405020304" pitchFamily="18" charset="0"/>
                <a:ea typeface="Times New Roman" panose="02020603050405020304" pitchFamily="18" charset="0"/>
                <a:cs typeface="Calibri" panose="020F0502020204030204" pitchFamily="34" charset="0"/>
              </a:rPr>
              <a:t> широкий частотный диапазон применения варикапов;</a:t>
            </a:r>
            <a:endParaRPr lang="ru-RU" dirty="0">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600"/>
              </a:spcAft>
            </a:pPr>
            <a:r>
              <a:rPr lang="ru-RU" dirty="0">
                <a:latin typeface="Times New Roman" panose="02020603050405020304" pitchFamily="18" charset="0"/>
                <a:ea typeface="Times New Roman" panose="02020603050405020304" pitchFamily="18" charset="0"/>
                <a:cs typeface="Calibri" panose="020F0502020204030204" pitchFamily="34" charset="0"/>
                <a:sym typeface="Wingdings" panose="05000000000000000000" pitchFamily="2" charset="2"/>
              </a:rPr>
              <a:t></a:t>
            </a:r>
            <a:r>
              <a:rPr lang="ru-RU" dirty="0">
                <a:latin typeface="Times New Roman" panose="02020603050405020304" pitchFamily="18" charset="0"/>
                <a:ea typeface="Times New Roman" panose="02020603050405020304" pitchFamily="18" charset="0"/>
                <a:cs typeface="Calibri" panose="020F0502020204030204" pitchFamily="34" charset="0"/>
              </a:rPr>
              <a:t> низкий уровень собственных шумов;</a:t>
            </a:r>
            <a:endParaRPr lang="ru-RU" dirty="0">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600"/>
              </a:spcAft>
            </a:pPr>
            <a:r>
              <a:rPr lang="ru-RU" dirty="0">
                <a:latin typeface="Times New Roman" panose="02020603050405020304" pitchFamily="18" charset="0"/>
                <a:ea typeface="Times New Roman" panose="02020603050405020304" pitchFamily="18" charset="0"/>
                <a:cs typeface="Calibri" panose="020F0502020204030204" pitchFamily="34" charset="0"/>
                <a:sym typeface="Wingdings" panose="05000000000000000000" pitchFamily="2" charset="2"/>
              </a:rPr>
              <a:t></a:t>
            </a:r>
            <a:r>
              <a:rPr lang="ru-RU" dirty="0">
                <a:latin typeface="Times New Roman" panose="02020603050405020304" pitchFamily="18" charset="0"/>
                <a:ea typeface="Times New Roman" panose="02020603050405020304" pitchFamily="18" charset="0"/>
                <a:cs typeface="Calibri" panose="020F0502020204030204" pitchFamily="34" charset="0"/>
              </a:rPr>
              <a:t> высокая надежность и долговечность;</a:t>
            </a:r>
            <a:endParaRPr lang="ru-RU" dirty="0">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600"/>
              </a:spcAft>
            </a:pPr>
            <a:r>
              <a:rPr lang="ru-RU" dirty="0">
                <a:latin typeface="Times New Roman" panose="02020603050405020304" pitchFamily="18" charset="0"/>
                <a:ea typeface="Times New Roman" panose="02020603050405020304" pitchFamily="18" charset="0"/>
                <a:cs typeface="Calibri" panose="020F0502020204030204" pitchFamily="34" charset="0"/>
                <a:sym typeface="Wingdings" panose="05000000000000000000" pitchFamily="2" charset="2"/>
              </a:rPr>
              <a:t></a:t>
            </a:r>
            <a:r>
              <a:rPr lang="ru-RU" dirty="0">
                <a:latin typeface="Times New Roman" panose="02020603050405020304" pitchFamily="18" charset="0"/>
                <a:ea typeface="Times New Roman" panose="02020603050405020304" pitchFamily="18" charset="0"/>
                <a:cs typeface="Calibri" panose="020F0502020204030204" pitchFamily="34" charset="0"/>
              </a:rPr>
              <a:t> небольшие размеры и вес;</a:t>
            </a:r>
            <a:endParaRPr lang="ru-RU" dirty="0">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600"/>
              </a:spcAft>
            </a:pPr>
            <a:r>
              <a:rPr lang="ru-RU" dirty="0">
                <a:latin typeface="Times New Roman" panose="02020603050405020304" pitchFamily="18" charset="0"/>
                <a:ea typeface="Times New Roman" panose="02020603050405020304" pitchFamily="18" charset="0"/>
                <a:cs typeface="Calibri" panose="020F0502020204030204" pitchFamily="34" charset="0"/>
                <a:sym typeface="Wingdings" panose="05000000000000000000" pitchFamily="2" charset="2"/>
              </a:rPr>
              <a:t></a:t>
            </a:r>
            <a:r>
              <a:rPr lang="ru-RU" dirty="0">
                <a:latin typeface="Times New Roman" panose="02020603050405020304" pitchFamily="18" charset="0"/>
                <a:ea typeface="Times New Roman" panose="02020603050405020304" pitchFamily="18" charset="0"/>
                <a:cs typeface="Calibri" panose="020F0502020204030204" pitchFamily="34" charset="0"/>
              </a:rPr>
              <a:t> нечувствительность к вибрациям и нагрузкам.</a:t>
            </a:r>
            <a:endParaRPr lang="ru-RU" dirty="0">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600"/>
              </a:spcAft>
            </a:pPr>
            <a:r>
              <a:rPr lang="ru-RU" i="1" dirty="0">
                <a:latin typeface="Times New Roman" panose="02020603050405020304" pitchFamily="18" charset="0"/>
                <a:ea typeface="Times New Roman" panose="02020603050405020304" pitchFamily="18" charset="0"/>
                <a:cs typeface="Calibri" panose="020F0502020204030204" pitchFamily="34" charset="0"/>
              </a:rPr>
              <a:t>Недостатки избирательных цепей, использующих варикапы:</a:t>
            </a:r>
            <a:endParaRPr lang="ru-RU" i="1" dirty="0">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600"/>
              </a:spcAft>
            </a:pPr>
            <a:r>
              <a:rPr lang="ru-RU" dirty="0">
                <a:latin typeface="Times New Roman" panose="02020603050405020304" pitchFamily="18" charset="0"/>
                <a:ea typeface="Times New Roman" panose="02020603050405020304" pitchFamily="18" charset="0"/>
                <a:cs typeface="Calibri" panose="020F0502020204030204" pitchFamily="34" charset="0"/>
                <a:sym typeface="Wingdings" panose="05000000000000000000" pitchFamily="2" charset="2"/>
              </a:rPr>
              <a:t></a:t>
            </a:r>
            <a:r>
              <a:rPr lang="ru-RU" dirty="0">
                <a:latin typeface="Times New Roman" panose="02020603050405020304" pitchFamily="18" charset="0"/>
                <a:ea typeface="Times New Roman" panose="02020603050405020304" pitchFamily="18" charset="0"/>
                <a:cs typeface="Calibri" panose="020F0502020204030204" pitchFamily="34" charset="0"/>
              </a:rPr>
              <a:t> нелинейность </a:t>
            </a:r>
            <a:r>
              <a:rPr lang="ru-RU" dirty="0" err="1">
                <a:latin typeface="Times New Roman" panose="02020603050405020304" pitchFamily="18" charset="0"/>
                <a:ea typeface="Times New Roman" panose="02020603050405020304" pitchFamily="18" charset="0"/>
                <a:cs typeface="Calibri" panose="020F0502020204030204" pitchFamily="34" charset="0"/>
              </a:rPr>
              <a:t>вольтфарадной</a:t>
            </a:r>
            <a:r>
              <a:rPr lang="ru-RU" dirty="0">
                <a:latin typeface="Times New Roman" panose="02020603050405020304" pitchFamily="18" charset="0"/>
                <a:ea typeface="Times New Roman" panose="02020603050405020304" pitchFamily="18" charset="0"/>
                <a:cs typeface="Calibri" panose="020F0502020204030204" pitchFamily="34" charset="0"/>
              </a:rPr>
              <a:t> характеристики, что приводит при больших уровнях воздействия на вход радиоприемника сигналов к нелинейным явлениям вида блокирования, </a:t>
            </a:r>
            <a:r>
              <a:rPr lang="ru-RU" dirty="0" smtClean="0">
                <a:latin typeface="Times New Roman" panose="02020603050405020304" pitchFamily="18" charset="0"/>
                <a:ea typeface="Times New Roman" panose="02020603050405020304" pitchFamily="18" charset="0"/>
                <a:cs typeface="Calibri" panose="020F0502020204030204" pitchFamily="34" charset="0"/>
              </a:rPr>
              <a:t>перекрестным </a:t>
            </a:r>
            <a:r>
              <a:rPr lang="ru-RU" dirty="0">
                <a:latin typeface="Times New Roman" panose="02020603050405020304" pitchFamily="18" charset="0"/>
                <a:ea typeface="Times New Roman" panose="02020603050405020304" pitchFamily="18" charset="0"/>
                <a:cs typeface="Calibri" panose="020F0502020204030204" pitchFamily="34" charset="0"/>
              </a:rPr>
              <a:t>и </a:t>
            </a:r>
            <a:r>
              <a:rPr lang="ru-RU" dirty="0" smtClean="0">
                <a:latin typeface="Times New Roman" panose="02020603050405020304" pitchFamily="18" charset="0"/>
                <a:ea typeface="Times New Roman" panose="02020603050405020304" pitchFamily="18" charset="0"/>
                <a:cs typeface="Calibri" panose="020F0502020204030204" pitchFamily="34" charset="0"/>
              </a:rPr>
              <a:t>интермодуляционным искажениям, гармоническим искажениям;</a:t>
            </a:r>
            <a:endParaRPr lang="ru-RU" dirty="0">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600"/>
              </a:spcAft>
            </a:pPr>
            <a:r>
              <a:rPr lang="ru-RU" dirty="0">
                <a:latin typeface="Times New Roman" panose="02020603050405020304" pitchFamily="18" charset="0"/>
                <a:ea typeface="Times New Roman" panose="02020603050405020304" pitchFamily="18" charset="0"/>
                <a:cs typeface="Calibri" panose="020F0502020204030204" pitchFamily="34" charset="0"/>
                <a:sym typeface="Wingdings" panose="05000000000000000000" pitchFamily="2" charset="2"/>
              </a:rPr>
              <a:t></a:t>
            </a:r>
            <a:r>
              <a:rPr lang="ru-RU" dirty="0">
                <a:latin typeface="Times New Roman" panose="02020603050405020304" pitchFamily="18" charset="0"/>
                <a:ea typeface="Times New Roman" panose="02020603050405020304" pitchFamily="18" charset="0"/>
                <a:cs typeface="Calibri" panose="020F0502020204030204" pitchFamily="34" charset="0"/>
              </a:rPr>
              <a:t> зависимость добротности варикапа от частоты (падает с ростом частоты) и от приложенного напряжения (возрастает при увеличении управляющего напряжения).</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039315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594167" y="528466"/>
            <a:ext cx="6096000" cy="685059"/>
          </a:xfrm>
          <a:prstGeom prst="rect">
            <a:avLst/>
          </a:prstGeom>
        </p:spPr>
        <p:txBody>
          <a:bodyPr>
            <a:spAutoFit/>
          </a:bodyPr>
          <a:lstStyle/>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sym typeface="Wingdings" panose="05000000000000000000" pitchFamily="2" charset="2"/>
              </a:rPr>
              <a:t></a:t>
            </a:r>
            <a:r>
              <a:rPr lang="ru-RU" dirty="0">
                <a:latin typeface="Times New Roman" panose="02020603050405020304" pitchFamily="18" charset="0"/>
                <a:ea typeface="Times New Roman" panose="02020603050405020304" pitchFamily="18" charset="0"/>
                <a:cs typeface="Calibri" panose="020F0502020204030204" pitchFamily="34" charset="0"/>
              </a:rPr>
              <a:t> зависимость емкости варикапа от напряжения сильной помехи. Эта зависимость иллюстрируется рисунком</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pic>
        <p:nvPicPr>
          <p:cNvPr id="3" name="Рисунок 2" descr="Изображение выглядит как диаграмма, зарисовка, рисунок, линия&#10;&#10;Контент, сгенерированный ИИ, может содержать ошибки."/>
          <p:cNvPicPr/>
          <p:nvPr/>
        </p:nvPicPr>
        <p:blipFill>
          <a:blip r:embed="rId2"/>
          <a:stretch>
            <a:fillRect/>
          </a:stretch>
        </p:blipFill>
        <p:spPr>
          <a:xfrm>
            <a:off x="6967960" y="528466"/>
            <a:ext cx="4868894" cy="3372202"/>
          </a:xfrm>
          <a:prstGeom prst="rect">
            <a:avLst/>
          </a:prstGeom>
        </p:spPr>
      </p:pic>
      <p:sp>
        <p:nvSpPr>
          <p:cNvPr id="4" name="Прямоугольник 3"/>
          <p:cNvSpPr/>
          <p:nvPr/>
        </p:nvSpPr>
        <p:spPr>
          <a:xfrm>
            <a:off x="594167" y="1551360"/>
            <a:ext cx="6096000" cy="4241418"/>
          </a:xfrm>
          <a:prstGeom prst="rect">
            <a:avLst/>
          </a:prstGeom>
        </p:spPr>
        <p:txBody>
          <a:bodyPr>
            <a:spAutoFit/>
          </a:bodyPr>
          <a:lstStyle/>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При отсутствии помехи емкость варикапа определяется напряжением постоянного смещения </a:t>
            </a:r>
            <a:r>
              <a:rPr lang="ru-RU" i="1" dirty="0">
                <a:latin typeface="Times New Roman" panose="02020603050405020304" pitchFamily="18" charset="0"/>
                <a:ea typeface="Times New Roman" panose="02020603050405020304" pitchFamily="18" charset="0"/>
                <a:cs typeface="Calibri" panose="020F0502020204030204" pitchFamily="34" charset="0"/>
              </a:rPr>
              <a:t>Е</a:t>
            </a:r>
            <a:r>
              <a:rPr lang="ru-RU" dirty="0">
                <a:latin typeface="Times New Roman" panose="02020603050405020304" pitchFamily="18" charset="0"/>
                <a:ea typeface="Times New Roman" panose="02020603050405020304" pitchFamily="18" charset="0"/>
                <a:cs typeface="Calibri" panose="020F0502020204030204" pitchFamily="34" charset="0"/>
              </a:rPr>
              <a:t> и равна </a:t>
            </a:r>
            <a:r>
              <a:rPr lang="ru-RU" i="1" dirty="0">
                <a:latin typeface="Times New Roman" panose="02020603050405020304" pitchFamily="18" charset="0"/>
                <a:ea typeface="Times New Roman" panose="02020603050405020304" pitchFamily="18" charset="0"/>
                <a:cs typeface="Calibri" panose="020F0502020204030204" pitchFamily="34" charset="0"/>
              </a:rPr>
              <a:t>С</a:t>
            </a:r>
            <a:r>
              <a:rPr lang="ru-RU" baseline="-25000" dirty="0">
                <a:latin typeface="Times New Roman" panose="02020603050405020304" pitchFamily="18" charset="0"/>
                <a:ea typeface="Times New Roman" panose="02020603050405020304" pitchFamily="18" charset="0"/>
                <a:cs typeface="Calibri" panose="020F0502020204030204" pitchFamily="34" charset="0"/>
              </a:rPr>
              <a:t>0</a:t>
            </a:r>
            <a:r>
              <a:rPr lang="ru-RU" dirty="0">
                <a:latin typeface="Times New Roman" panose="02020603050405020304" pitchFamily="18" charset="0"/>
                <a:ea typeface="Times New Roman" panose="02020603050405020304" pitchFamily="18" charset="0"/>
                <a:cs typeface="Calibri" panose="020F0502020204030204" pitchFamily="34" charset="0"/>
              </a:rPr>
              <a:t>. При этой емкости контур настроен на резонансную частоту, равную частоте принимаемого сигнала </a:t>
            </a:r>
            <a:r>
              <a:rPr lang="ru-RU" i="1" dirty="0" err="1">
                <a:latin typeface="Times New Roman" panose="02020603050405020304" pitchFamily="18" charset="0"/>
                <a:ea typeface="Times New Roman" panose="02020603050405020304" pitchFamily="18" charset="0"/>
                <a:cs typeface="Calibri" panose="020F0502020204030204" pitchFamily="34" charset="0"/>
              </a:rPr>
              <a:t>f</a:t>
            </a:r>
            <a:r>
              <a:rPr lang="ru-RU" baseline="-25000" dirty="0" err="1">
                <a:latin typeface="Times New Roman" panose="02020603050405020304" pitchFamily="18" charset="0"/>
                <a:ea typeface="Times New Roman" panose="02020603050405020304" pitchFamily="18" charset="0"/>
                <a:cs typeface="Calibri" panose="020F0502020204030204" pitchFamily="34" charset="0"/>
              </a:rPr>
              <a:t>c</a:t>
            </a:r>
            <a:r>
              <a:rPr lang="ru-RU" dirty="0">
                <a:latin typeface="Times New Roman" panose="02020603050405020304" pitchFamily="18" charset="0"/>
                <a:ea typeface="Times New Roman" panose="02020603050405020304" pitchFamily="18" charset="0"/>
                <a:cs typeface="Calibri" panose="020F0502020204030204" pitchFamily="34" charset="0"/>
              </a:rPr>
              <a:t>. При появлении сильной синусоидальной помехи с амплитудой </a:t>
            </a:r>
            <a:r>
              <a:rPr lang="ru-RU" i="1" dirty="0" err="1">
                <a:latin typeface="Times New Roman" panose="02020603050405020304" pitchFamily="18" charset="0"/>
                <a:ea typeface="Times New Roman" panose="02020603050405020304" pitchFamily="18" charset="0"/>
                <a:cs typeface="Calibri" panose="020F0502020204030204" pitchFamily="34" charset="0"/>
              </a:rPr>
              <a:t>U</a:t>
            </a:r>
            <a:r>
              <a:rPr lang="ru-RU" baseline="-25000" dirty="0" err="1">
                <a:latin typeface="Times New Roman" panose="02020603050405020304" pitchFamily="18" charset="0"/>
                <a:ea typeface="Times New Roman" panose="02020603050405020304" pitchFamily="18" charset="0"/>
                <a:cs typeface="Calibri" panose="020F0502020204030204" pitchFamily="34" charset="0"/>
              </a:rPr>
              <a:t>п</a:t>
            </a:r>
            <a:r>
              <a:rPr lang="ru-RU" dirty="0">
                <a:latin typeface="Times New Roman" panose="02020603050405020304" pitchFamily="18" charset="0"/>
                <a:ea typeface="Times New Roman" panose="02020603050405020304" pitchFamily="18" charset="0"/>
                <a:cs typeface="Calibri" panose="020F0502020204030204" pitchFamily="34" charset="0"/>
              </a:rPr>
              <a:t> емкость варикапа изменяется во времени с частотой помехи, постоянная составляющая этой емкости </a:t>
            </a:r>
            <a:r>
              <a:rPr lang="ru-RU" i="1" dirty="0">
                <a:latin typeface="Times New Roman" panose="02020603050405020304" pitchFamily="18" charset="0"/>
                <a:ea typeface="Times New Roman" panose="02020603050405020304" pitchFamily="18" charset="0"/>
                <a:cs typeface="Calibri" panose="020F0502020204030204" pitchFamily="34" charset="0"/>
              </a:rPr>
              <a:t>С</a:t>
            </a:r>
            <a:r>
              <a:rPr lang="ru-RU" baseline="-25000" dirty="0">
                <a:latin typeface="Times New Roman" panose="02020603050405020304" pitchFamily="18" charset="0"/>
                <a:ea typeface="Times New Roman" panose="02020603050405020304" pitchFamily="18" charset="0"/>
                <a:cs typeface="Calibri" panose="020F0502020204030204" pitchFamily="34" charset="0"/>
              </a:rPr>
              <a:t>1</a:t>
            </a:r>
            <a:r>
              <a:rPr lang="ru-RU" dirty="0">
                <a:latin typeface="Times New Roman" panose="02020603050405020304" pitchFamily="18" charset="0"/>
                <a:ea typeface="Times New Roman" panose="02020603050405020304" pitchFamily="18" charset="0"/>
                <a:cs typeface="Calibri" panose="020F0502020204030204" pitchFamily="34" charset="0"/>
              </a:rPr>
              <a:t> &gt; </a:t>
            </a:r>
            <a:r>
              <a:rPr lang="ru-RU" i="1" dirty="0">
                <a:latin typeface="Times New Roman" panose="02020603050405020304" pitchFamily="18" charset="0"/>
                <a:ea typeface="Times New Roman" panose="02020603050405020304" pitchFamily="18" charset="0"/>
                <a:cs typeface="Calibri" panose="020F0502020204030204" pitchFamily="34" charset="0"/>
              </a:rPr>
              <a:t>C</a:t>
            </a:r>
            <a:r>
              <a:rPr lang="ru-RU" baseline="-25000" dirty="0">
                <a:latin typeface="Times New Roman" panose="02020603050405020304" pitchFamily="18" charset="0"/>
                <a:ea typeface="Times New Roman" panose="02020603050405020304" pitchFamily="18" charset="0"/>
                <a:cs typeface="Calibri" panose="020F0502020204030204" pitchFamily="34" charset="0"/>
              </a:rPr>
              <a:t>0</a:t>
            </a:r>
            <a:r>
              <a:rPr lang="ru-RU" dirty="0">
                <a:latin typeface="Times New Roman" panose="02020603050405020304" pitchFamily="18" charset="0"/>
                <a:ea typeface="Times New Roman" panose="02020603050405020304" pitchFamily="18" charset="0"/>
                <a:cs typeface="Calibri" panose="020F0502020204030204" pitchFamily="34" charset="0"/>
              </a:rPr>
              <a:t>, резонансная характеристика контура смещается в область более низких частот, контур оказывается расстроенным относительно частоты принимаемого сигнала. При изменении амплитуды помехи коэффициент передачи входной цепи для сигнала будет изменяться, что приводит к перекрестной модуляции. Относительный сдвиг квазирезонансной частоты контура с варикапом при воздействии с амплитудой </a:t>
            </a:r>
            <a:r>
              <a:rPr lang="ru-RU" i="1" dirty="0" err="1">
                <a:latin typeface="Times New Roman" panose="02020603050405020304" pitchFamily="18" charset="0"/>
                <a:ea typeface="Times New Roman" panose="02020603050405020304" pitchFamily="18" charset="0"/>
                <a:cs typeface="Calibri" panose="020F0502020204030204" pitchFamily="34" charset="0"/>
              </a:rPr>
              <a:t>U</a:t>
            </a:r>
            <a:r>
              <a:rPr lang="ru-RU" baseline="-25000" dirty="0" err="1">
                <a:latin typeface="Times New Roman" panose="02020603050405020304" pitchFamily="18" charset="0"/>
                <a:ea typeface="Times New Roman" panose="02020603050405020304" pitchFamily="18" charset="0"/>
                <a:cs typeface="Calibri" panose="020F0502020204030204" pitchFamily="34" charset="0"/>
              </a:rPr>
              <a:t>mC</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pic>
        <p:nvPicPr>
          <p:cNvPr id="5" name="Рисунок 4" descr="Изображение выглядит как Шрифт, белый, рукописный текст, текст&#10;&#10;Контент, сгенерированный ИИ, может содержать ошибки."/>
          <p:cNvPicPr/>
          <p:nvPr/>
        </p:nvPicPr>
        <p:blipFill>
          <a:blip r:embed="rId3"/>
          <a:stretch>
            <a:fillRect/>
          </a:stretch>
        </p:blipFill>
        <p:spPr>
          <a:xfrm>
            <a:off x="2527441" y="5913214"/>
            <a:ext cx="1813066" cy="695931"/>
          </a:xfrm>
          <a:prstGeom prst="rect">
            <a:avLst/>
          </a:prstGeom>
        </p:spPr>
      </p:pic>
    </p:spTree>
    <p:extLst>
      <p:ext uri="{BB962C8B-B14F-4D97-AF65-F5344CB8AC3E}">
        <p14:creationId xmlns:p14="http://schemas.microsoft.com/office/powerpoint/2010/main" val="5603703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663615" y="623353"/>
            <a:ext cx="6096000" cy="981423"/>
          </a:xfrm>
          <a:prstGeom prst="rect">
            <a:avLst/>
          </a:prstGeom>
        </p:spPr>
        <p:txBody>
          <a:bodyPr>
            <a:spAutoFit/>
          </a:bodyPr>
          <a:lstStyle/>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Ослабить влияние помехи можно, используя встречно-последовательным включение варикапов, как это показано на рисунке</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sp>
        <p:nvSpPr>
          <p:cNvPr id="4" name="Прямоугольник 3"/>
          <p:cNvSpPr/>
          <p:nvPr/>
        </p:nvSpPr>
        <p:spPr>
          <a:xfrm>
            <a:off x="7608425" y="2590613"/>
            <a:ext cx="4167549" cy="981423"/>
          </a:xfrm>
          <a:prstGeom prst="rect">
            <a:avLst/>
          </a:prstGeom>
        </p:spPr>
        <p:txBody>
          <a:bodyPr wrap="square">
            <a:spAutoFit/>
          </a:bodyPr>
          <a:lstStyle/>
          <a:p>
            <a:pPr algn="ctr">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Входная цепь с встречно-последовательным включением варикапов</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pic>
        <p:nvPicPr>
          <p:cNvPr id="5" name="Рисунок 4" descr="Изображение выглядит как диаграмма, зарисовка, линия, рисунок&#10;&#10;Контент, сгенерированный ИИ, может содержать ошибки."/>
          <p:cNvPicPr/>
          <p:nvPr/>
        </p:nvPicPr>
        <p:blipFill>
          <a:blip r:embed="rId2"/>
          <a:stretch>
            <a:fillRect/>
          </a:stretch>
        </p:blipFill>
        <p:spPr>
          <a:xfrm>
            <a:off x="1970409" y="1830424"/>
            <a:ext cx="3019425" cy="1831340"/>
          </a:xfrm>
          <a:prstGeom prst="rect">
            <a:avLst/>
          </a:prstGeom>
        </p:spPr>
      </p:pic>
      <p:sp>
        <p:nvSpPr>
          <p:cNvPr id="6" name="Прямоугольник 5"/>
          <p:cNvSpPr/>
          <p:nvPr/>
        </p:nvSpPr>
        <p:spPr>
          <a:xfrm>
            <a:off x="547869" y="3661764"/>
            <a:ext cx="6096000" cy="685059"/>
          </a:xfrm>
          <a:prstGeom prst="rect">
            <a:avLst/>
          </a:prstGeom>
        </p:spPr>
        <p:txBody>
          <a:bodyPr>
            <a:spAutoFit/>
          </a:bodyPr>
          <a:lstStyle/>
          <a:p>
            <a:pPr algn="ctr">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Изменение емкости встречно последовательно</a:t>
            </a:r>
            <a:br>
              <a:rPr lang="ru-RU" dirty="0">
                <a:latin typeface="Times New Roman" panose="02020603050405020304" pitchFamily="18" charset="0"/>
                <a:ea typeface="Times New Roman" panose="02020603050405020304" pitchFamily="18" charset="0"/>
                <a:cs typeface="Calibri" panose="020F0502020204030204" pitchFamily="34" charset="0"/>
              </a:rPr>
            </a:br>
            <a:r>
              <a:rPr lang="ru-RU" dirty="0">
                <a:latin typeface="Times New Roman" panose="02020603050405020304" pitchFamily="18" charset="0"/>
                <a:ea typeface="Times New Roman" panose="02020603050405020304" pitchFamily="18" charset="0"/>
                <a:cs typeface="Calibri" panose="020F0502020204030204" pitchFamily="34" charset="0"/>
              </a:rPr>
              <a:t>включенных варикапов при действии помехи</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sp>
        <p:nvSpPr>
          <p:cNvPr id="7" name="Прямоугольник 6"/>
          <p:cNvSpPr/>
          <p:nvPr/>
        </p:nvSpPr>
        <p:spPr>
          <a:xfrm>
            <a:off x="964557" y="4604014"/>
            <a:ext cx="6096000" cy="1574149"/>
          </a:xfrm>
          <a:prstGeom prst="rect">
            <a:avLst/>
          </a:prstGeom>
        </p:spPr>
        <p:txBody>
          <a:bodyPr>
            <a:spAutoFit/>
          </a:bodyPr>
          <a:lstStyle/>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Зависимость таких основных параметров варикапов, как емкость и добротность, от частоты, начального смещения и уровня воздействующего сигнала приводит к соответствующим изменениям характеристик колебательного контура.</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pic>
        <p:nvPicPr>
          <p:cNvPr id="8" name="Рисунок 7"/>
          <p:cNvPicPr>
            <a:picLocks noChangeAspect="1"/>
          </p:cNvPicPr>
          <p:nvPr/>
        </p:nvPicPr>
        <p:blipFill>
          <a:blip r:embed="rId3"/>
          <a:stretch>
            <a:fillRect/>
          </a:stretch>
        </p:blipFill>
        <p:spPr>
          <a:xfrm>
            <a:off x="6794338" y="191632"/>
            <a:ext cx="4864109" cy="2270386"/>
          </a:xfrm>
          <a:prstGeom prst="rect">
            <a:avLst/>
          </a:prstGeom>
        </p:spPr>
      </p:pic>
    </p:spTree>
    <p:extLst>
      <p:ext uri="{BB962C8B-B14F-4D97-AF65-F5344CB8AC3E}">
        <p14:creationId xmlns:p14="http://schemas.microsoft.com/office/powerpoint/2010/main" val="32198100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617316" y="435868"/>
            <a:ext cx="6489540" cy="388696"/>
          </a:xfrm>
          <a:prstGeom prst="rect">
            <a:avLst/>
          </a:prstGeom>
        </p:spPr>
        <p:txBody>
          <a:bodyPr wrap="square">
            <a:spAutoFit/>
          </a:bodyPr>
          <a:lstStyle/>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Добротность контура с варикапом определяется выражением</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pic>
        <p:nvPicPr>
          <p:cNvPr id="3" name="Рисунок 2" descr="Изображение выглядит как диаграмма, зарисовка, Шрифт, дизайн&#10;&#10;Контент, сгенерированный ИИ, может содержать ошибки."/>
          <p:cNvPicPr/>
          <p:nvPr/>
        </p:nvPicPr>
        <p:blipFill>
          <a:blip r:embed="rId2"/>
          <a:stretch>
            <a:fillRect/>
          </a:stretch>
        </p:blipFill>
        <p:spPr>
          <a:xfrm>
            <a:off x="7106856" y="310792"/>
            <a:ext cx="1308723" cy="638848"/>
          </a:xfrm>
          <a:prstGeom prst="rect">
            <a:avLst/>
          </a:prstGeom>
        </p:spPr>
      </p:pic>
      <p:sp>
        <p:nvSpPr>
          <p:cNvPr id="4" name="Прямоугольник 3"/>
          <p:cNvSpPr/>
          <p:nvPr/>
        </p:nvSpPr>
        <p:spPr>
          <a:xfrm>
            <a:off x="617316" y="1074716"/>
            <a:ext cx="6894654" cy="388696"/>
          </a:xfrm>
          <a:prstGeom prst="rect">
            <a:avLst/>
          </a:prstGeom>
        </p:spPr>
        <p:txBody>
          <a:bodyPr wrap="square">
            <a:spAutoFit/>
          </a:bodyPr>
          <a:lstStyle/>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где </a:t>
            </a:r>
            <a:r>
              <a:rPr lang="ru-RU" i="1" dirty="0">
                <a:latin typeface="Times New Roman" panose="02020603050405020304" pitchFamily="18" charset="0"/>
                <a:ea typeface="Times New Roman" panose="02020603050405020304" pitchFamily="18" charset="0"/>
                <a:cs typeface="Calibri" panose="020F0502020204030204" pitchFamily="34" charset="0"/>
              </a:rPr>
              <a:t>Q</a:t>
            </a:r>
            <a:r>
              <a:rPr lang="ru-RU" baseline="-25000" dirty="0">
                <a:latin typeface="Times New Roman" panose="02020603050405020304" pitchFamily="18" charset="0"/>
                <a:ea typeface="Times New Roman" panose="02020603050405020304" pitchFamily="18" charset="0"/>
                <a:cs typeface="Calibri" panose="020F0502020204030204" pitchFamily="34" charset="0"/>
              </a:rPr>
              <a:t>L</a:t>
            </a:r>
            <a:r>
              <a:rPr lang="ru-RU" dirty="0">
                <a:latin typeface="Times New Roman" panose="02020603050405020304" pitchFamily="18" charset="0"/>
                <a:ea typeface="Times New Roman" panose="02020603050405020304" pitchFamily="18" charset="0"/>
                <a:cs typeface="Calibri" panose="020F0502020204030204" pitchFamily="34" charset="0"/>
              </a:rPr>
              <a:t>, </a:t>
            </a:r>
            <a:r>
              <a:rPr lang="ru-RU" i="1" dirty="0">
                <a:latin typeface="Times New Roman" panose="02020603050405020304" pitchFamily="18" charset="0"/>
                <a:ea typeface="Times New Roman" panose="02020603050405020304" pitchFamily="18" charset="0"/>
                <a:cs typeface="Calibri" panose="020F0502020204030204" pitchFamily="34" charset="0"/>
              </a:rPr>
              <a:t>Q</a:t>
            </a:r>
            <a:r>
              <a:rPr lang="ru-RU" baseline="-25000" dirty="0">
                <a:latin typeface="Times New Roman" panose="02020603050405020304" pitchFamily="18" charset="0"/>
                <a:ea typeface="Times New Roman" panose="02020603050405020304" pitchFamily="18" charset="0"/>
                <a:cs typeface="Calibri" panose="020F0502020204030204" pitchFamily="34" charset="0"/>
              </a:rPr>
              <a:t>C</a:t>
            </a:r>
            <a:r>
              <a:rPr lang="ru-RU" dirty="0">
                <a:latin typeface="Times New Roman" panose="02020603050405020304" pitchFamily="18" charset="0"/>
                <a:ea typeface="Times New Roman" panose="02020603050405020304" pitchFamily="18" charset="0"/>
                <a:cs typeface="Calibri" panose="020F0502020204030204" pitchFamily="34" charset="0"/>
              </a:rPr>
              <a:t> – добротность индуктивности и емкости соответственно.</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pic>
        <p:nvPicPr>
          <p:cNvPr id="5" name="Рисунок 4" descr="Изображение выглядит как диаграмма, зарисовка, белый, План&#10;&#10;Контент, сгенерированный ИИ, может содержать ошибки."/>
          <p:cNvPicPr/>
          <p:nvPr/>
        </p:nvPicPr>
        <p:blipFill>
          <a:blip r:embed="rId3"/>
          <a:stretch>
            <a:fillRect/>
          </a:stretch>
        </p:blipFill>
        <p:spPr>
          <a:xfrm>
            <a:off x="3442622" y="1588488"/>
            <a:ext cx="5296263" cy="1619945"/>
          </a:xfrm>
          <a:prstGeom prst="rect">
            <a:avLst/>
          </a:prstGeom>
        </p:spPr>
      </p:pic>
      <p:sp>
        <p:nvSpPr>
          <p:cNvPr id="6" name="Прямоугольник 5"/>
          <p:cNvSpPr/>
          <p:nvPr/>
        </p:nvSpPr>
        <p:spPr>
          <a:xfrm>
            <a:off x="3048000" y="3086471"/>
            <a:ext cx="6096000" cy="685059"/>
          </a:xfrm>
          <a:prstGeom prst="rect">
            <a:avLst/>
          </a:prstGeom>
        </p:spPr>
        <p:txBody>
          <a:bodyPr>
            <a:spAutoFit/>
          </a:bodyPr>
          <a:lstStyle/>
          <a:p>
            <a:pPr algn="ctr">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Эквивалентные схемы колебательных контуров входной цепи с электронной перестройкой частоты.</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sp>
        <p:nvSpPr>
          <p:cNvPr id="7" name="Прямоугольник 6"/>
          <p:cNvSpPr/>
          <p:nvPr/>
        </p:nvSpPr>
        <p:spPr>
          <a:xfrm>
            <a:off x="617316" y="3847281"/>
            <a:ext cx="2303066" cy="646331"/>
          </a:xfrm>
          <a:prstGeom prst="rect">
            <a:avLst/>
          </a:prstGeom>
        </p:spPr>
        <p:txBody>
          <a:bodyPr wrap="none">
            <a:spAutoFit/>
          </a:bodyPr>
          <a:lstStyle/>
          <a:p>
            <a:r>
              <a:rPr lang="ru-RU" dirty="0">
                <a:latin typeface="Times New Roman" panose="02020603050405020304" pitchFamily="18" charset="0"/>
                <a:ea typeface="Times New Roman" panose="02020603050405020304" pitchFamily="18" charset="0"/>
                <a:cs typeface="Calibri" panose="020F0502020204030204" pitchFamily="34" charset="0"/>
              </a:rPr>
              <a:t>добротность контура </a:t>
            </a:r>
            <a:endParaRPr lang="ru-RU" dirty="0"/>
          </a:p>
          <a:p>
            <a:r>
              <a:rPr lang="ru-RU" dirty="0" smtClean="0">
                <a:latin typeface="Times New Roman" panose="02020603050405020304" pitchFamily="18" charset="0"/>
                <a:ea typeface="Times New Roman" panose="02020603050405020304" pitchFamily="18" charset="0"/>
                <a:cs typeface="Calibri" panose="020F0502020204030204" pitchFamily="34" charset="0"/>
              </a:rPr>
              <a:t>на </a:t>
            </a:r>
            <a:r>
              <a:rPr lang="ru-RU" dirty="0">
                <a:latin typeface="Times New Roman" panose="02020603050405020304" pitchFamily="18" charset="0"/>
                <a:ea typeface="Times New Roman" panose="02020603050405020304" pitchFamily="18" charset="0"/>
                <a:cs typeface="Calibri" panose="020F0502020204030204" pitchFamily="34" charset="0"/>
              </a:rPr>
              <a:t>рисунке а</a:t>
            </a:r>
            <a:r>
              <a:rPr lang="ru-RU" dirty="0" smtClean="0">
                <a:latin typeface="Times New Roman" panose="02020603050405020304" pitchFamily="18" charset="0"/>
                <a:ea typeface="Times New Roman" panose="02020603050405020304" pitchFamily="18" charset="0"/>
                <a:cs typeface="Calibri" panose="020F0502020204030204" pitchFamily="34" charset="0"/>
              </a:rPr>
              <a:t>)</a:t>
            </a:r>
            <a:endParaRPr lang="ru-RU" dirty="0"/>
          </a:p>
        </p:txBody>
      </p:sp>
      <p:pic>
        <p:nvPicPr>
          <p:cNvPr id="8" name="Рисунок 7" descr="Изображение выглядит как Шрифт, диаграмма, дизайн&#10;&#10;Контент, сгенерированный ИИ, может содержать ошибки."/>
          <p:cNvPicPr/>
          <p:nvPr/>
        </p:nvPicPr>
        <p:blipFill>
          <a:blip r:embed="rId4"/>
          <a:stretch>
            <a:fillRect/>
          </a:stretch>
        </p:blipFill>
        <p:spPr>
          <a:xfrm>
            <a:off x="3048000" y="3958543"/>
            <a:ext cx="1176759" cy="535070"/>
          </a:xfrm>
          <a:prstGeom prst="rect">
            <a:avLst/>
          </a:prstGeom>
        </p:spPr>
      </p:pic>
      <p:sp>
        <p:nvSpPr>
          <p:cNvPr id="9" name="Прямоугольник 8"/>
          <p:cNvSpPr/>
          <p:nvPr/>
        </p:nvSpPr>
        <p:spPr>
          <a:xfrm>
            <a:off x="617316" y="4773256"/>
            <a:ext cx="2303066" cy="646331"/>
          </a:xfrm>
          <a:prstGeom prst="rect">
            <a:avLst/>
          </a:prstGeom>
        </p:spPr>
        <p:txBody>
          <a:bodyPr wrap="none">
            <a:spAutoFit/>
          </a:bodyPr>
          <a:lstStyle/>
          <a:p>
            <a:r>
              <a:rPr lang="ru-RU" dirty="0">
                <a:latin typeface="Times New Roman" panose="02020603050405020304" pitchFamily="18" charset="0"/>
                <a:ea typeface="Times New Roman" panose="02020603050405020304" pitchFamily="18" charset="0"/>
                <a:cs typeface="Calibri" panose="020F0502020204030204" pitchFamily="34" charset="0"/>
              </a:rPr>
              <a:t>добротность контура </a:t>
            </a:r>
            <a:endParaRPr lang="ru-RU" dirty="0"/>
          </a:p>
          <a:p>
            <a:r>
              <a:rPr lang="ru-RU" dirty="0" smtClean="0">
                <a:latin typeface="Times New Roman" panose="02020603050405020304" pitchFamily="18" charset="0"/>
                <a:ea typeface="Times New Roman" panose="02020603050405020304" pitchFamily="18" charset="0"/>
                <a:cs typeface="Calibri" panose="020F0502020204030204" pitchFamily="34" charset="0"/>
              </a:rPr>
              <a:t>на </a:t>
            </a:r>
            <a:r>
              <a:rPr lang="ru-RU" dirty="0">
                <a:latin typeface="Times New Roman" panose="02020603050405020304" pitchFamily="18" charset="0"/>
                <a:ea typeface="Times New Roman" panose="02020603050405020304" pitchFamily="18" charset="0"/>
                <a:cs typeface="Calibri" panose="020F0502020204030204" pitchFamily="34" charset="0"/>
              </a:rPr>
              <a:t>рисунке </a:t>
            </a:r>
            <a:r>
              <a:rPr lang="ru-RU" dirty="0" smtClean="0">
                <a:latin typeface="Times New Roman" panose="02020603050405020304" pitchFamily="18" charset="0"/>
                <a:ea typeface="Times New Roman" panose="02020603050405020304" pitchFamily="18" charset="0"/>
                <a:cs typeface="Calibri" panose="020F0502020204030204" pitchFamily="34" charset="0"/>
              </a:rPr>
              <a:t>б)</a:t>
            </a:r>
            <a:endParaRPr lang="ru-RU" dirty="0"/>
          </a:p>
        </p:txBody>
      </p:sp>
      <p:pic>
        <p:nvPicPr>
          <p:cNvPr id="10" name="Рисунок 9" descr="Изображение выглядит как Шрифт, белый, символ, дизайн&#10;&#10;Контент, сгенерированный ИИ, может содержать ошибки."/>
          <p:cNvPicPr/>
          <p:nvPr/>
        </p:nvPicPr>
        <p:blipFill>
          <a:blip r:embed="rId5"/>
          <a:stretch>
            <a:fillRect/>
          </a:stretch>
        </p:blipFill>
        <p:spPr>
          <a:xfrm>
            <a:off x="3047999" y="4858295"/>
            <a:ext cx="1373529" cy="561291"/>
          </a:xfrm>
          <a:prstGeom prst="rect">
            <a:avLst/>
          </a:prstGeom>
        </p:spPr>
      </p:pic>
      <p:sp>
        <p:nvSpPr>
          <p:cNvPr id="11" name="Прямоугольник 10"/>
          <p:cNvSpPr/>
          <p:nvPr/>
        </p:nvSpPr>
        <p:spPr>
          <a:xfrm>
            <a:off x="617316" y="5699231"/>
            <a:ext cx="3486917" cy="388696"/>
          </a:xfrm>
          <a:prstGeom prst="rect">
            <a:avLst/>
          </a:prstGeom>
        </p:spPr>
        <p:txBody>
          <a:bodyPr wrap="none">
            <a:spAutoFit/>
          </a:bodyPr>
          <a:lstStyle/>
          <a:p>
            <a:pPr algn="just">
              <a:lnSpc>
                <a:spcPct val="107000"/>
              </a:lnSpc>
              <a:spcAft>
                <a:spcPts val="800"/>
              </a:spcAft>
            </a:pPr>
            <a:r>
              <a:rPr lang="ru-RU" i="1" dirty="0">
                <a:latin typeface="Times New Roman" panose="02020603050405020304" pitchFamily="18" charset="0"/>
                <a:ea typeface="Times New Roman" panose="02020603050405020304" pitchFamily="18" charset="0"/>
                <a:cs typeface="Calibri" panose="020F0502020204030204" pitchFamily="34" charset="0"/>
              </a:rPr>
              <a:t>C</a:t>
            </a:r>
            <a:r>
              <a:rPr lang="ru-RU" baseline="-25000" dirty="0">
                <a:latin typeface="Times New Roman" panose="02020603050405020304" pitchFamily="18" charset="0"/>
                <a:ea typeface="Times New Roman" panose="02020603050405020304" pitchFamily="18" charset="0"/>
                <a:cs typeface="Calibri" panose="020F0502020204030204" pitchFamily="34" charset="0"/>
              </a:rPr>
              <a:t>0</a:t>
            </a:r>
            <a:r>
              <a:rPr lang="ru-RU" dirty="0">
                <a:latin typeface="Times New Roman" panose="02020603050405020304" pitchFamily="18" charset="0"/>
                <a:ea typeface="Times New Roman" panose="02020603050405020304" pitchFamily="18" charset="0"/>
                <a:cs typeface="Calibri" panose="020F0502020204030204" pitchFamily="34" charset="0"/>
              </a:rPr>
              <a:t> – постоянная емкость контура.</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sp>
        <p:nvSpPr>
          <p:cNvPr id="12" name="Прямоугольник 11"/>
          <p:cNvSpPr/>
          <p:nvPr/>
        </p:nvSpPr>
        <p:spPr>
          <a:xfrm>
            <a:off x="5594430" y="3861154"/>
            <a:ext cx="6096000" cy="1277786"/>
          </a:xfrm>
          <a:prstGeom prst="rect">
            <a:avLst/>
          </a:prstGeom>
        </p:spPr>
        <p:txBody>
          <a:bodyPr>
            <a:spAutoFit/>
          </a:bodyPr>
          <a:lstStyle/>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Добротность контура рисунок в) определяется добротностью индуктивной и емкостной ветвей контура. Добротность емкостной ветви контура определяется выражением</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pic>
        <p:nvPicPr>
          <p:cNvPr id="13" name="Рисунок 12" descr="Изображение выглядит как Шрифт, рукописный текст, линия, белый&#10;&#10;Контент, сгенерированный ИИ, может содержать ошибки."/>
          <p:cNvPicPr/>
          <p:nvPr/>
        </p:nvPicPr>
        <p:blipFill>
          <a:blip r:embed="rId6"/>
          <a:stretch>
            <a:fillRect/>
          </a:stretch>
        </p:blipFill>
        <p:spPr>
          <a:xfrm>
            <a:off x="7106856" y="5356135"/>
            <a:ext cx="2326511" cy="581677"/>
          </a:xfrm>
          <a:prstGeom prst="rect">
            <a:avLst/>
          </a:prstGeom>
        </p:spPr>
      </p:pic>
    </p:spTree>
    <p:extLst>
      <p:ext uri="{BB962C8B-B14F-4D97-AF65-F5344CB8AC3E}">
        <p14:creationId xmlns:p14="http://schemas.microsoft.com/office/powerpoint/2010/main" val="26766151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048000" y="1701540"/>
            <a:ext cx="6096000" cy="3158557"/>
          </a:xfrm>
          <a:prstGeom prst="rect">
            <a:avLst/>
          </a:prstGeom>
        </p:spPr>
        <p:txBody>
          <a:bodyPr>
            <a:spAutoFit/>
          </a:bodyPr>
          <a:lstStyle/>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Включение последовательного конденсатора </a:t>
            </a:r>
            <a:r>
              <a:rPr lang="ru-RU" i="1" dirty="0">
                <a:latin typeface="Times New Roman" panose="02020603050405020304" pitchFamily="18" charset="0"/>
                <a:ea typeface="Times New Roman" panose="02020603050405020304" pitchFamily="18" charset="0"/>
                <a:cs typeface="Calibri" panose="020F0502020204030204" pitchFamily="34" charset="0"/>
              </a:rPr>
              <a:t>C</a:t>
            </a:r>
            <a:r>
              <a:rPr lang="ru-RU" baseline="-25000" dirty="0">
                <a:latin typeface="Times New Roman" panose="02020603050405020304" pitchFamily="18" charset="0"/>
                <a:ea typeface="Times New Roman" panose="02020603050405020304" pitchFamily="18" charset="0"/>
                <a:cs typeface="Calibri" panose="020F0502020204030204" pitchFamily="34" charset="0"/>
              </a:rPr>
              <a:t>2</a:t>
            </a:r>
            <a:r>
              <a:rPr lang="ru-RU" dirty="0">
                <a:latin typeface="Times New Roman" panose="02020603050405020304" pitchFamily="18" charset="0"/>
                <a:ea typeface="Times New Roman" panose="02020603050405020304" pitchFamily="18" charset="0"/>
                <a:cs typeface="Calibri" panose="020F0502020204030204" pitchFamily="34" charset="0"/>
              </a:rPr>
              <a:t> позволяет уменьшить потери, вносимые в контур варикапом. Однако такое включение емкости связи (рисунки </a:t>
            </a:r>
            <a:r>
              <a:rPr lang="ru-RU" dirty="0" smtClean="0">
                <a:latin typeface="Times New Roman" panose="02020603050405020304" pitchFamily="18" charset="0"/>
                <a:ea typeface="Times New Roman" panose="02020603050405020304" pitchFamily="18" charset="0"/>
                <a:cs typeface="Calibri" panose="020F0502020204030204" pitchFamily="34" charset="0"/>
              </a:rPr>
              <a:t>в) </a:t>
            </a:r>
            <a:r>
              <a:rPr lang="ru-RU" dirty="0">
                <a:latin typeface="Times New Roman" panose="02020603050405020304" pitchFamily="18" charset="0"/>
                <a:ea typeface="Times New Roman" panose="02020603050405020304" pitchFamily="18" charset="0"/>
                <a:cs typeface="Calibri" panose="020F0502020204030204" pitchFamily="34" charset="0"/>
              </a:rPr>
              <a:t>и а</a:t>
            </a:r>
            <a:r>
              <a:rPr lang="ru-RU" dirty="0" smtClean="0">
                <a:latin typeface="Times New Roman" panose="02020603050405020304" pitchFamily="18" charset="0"/>
                <a:ea typeface="Times New Roman" panose="02020603050405020304" pitchFamily="18" charset="0"/>
                <a:cs typeface="Calibri" panose="020F0502020204030204" pitchFamily="34" charset="0"/>
              </a:rPr>
              <a:t>)) </a:t>
            </a:r>
            <a:r>
              <a:rPr lang="ru-RU" dirty="0">
                <a:latin typeface="Times New Roman" panose="02020603050405020304" pitchFamily="18" charset="0"/>
                <a:ea typeface="Times New Roman" panose="02020603050405020304" pitchFamily="18" charset="0"/>
                <a:cs typeface="Calibri" panose="020F0502020204030204" pitchFamily="34" charset="0"/>
              </a:rPr>
              <a:t>приводит к уменьшению коэффициента перекрытия по частоте. Для устранения этого недостатка используют схему с встречно- последовательным соединением варикапов, называемых </a:t>
            </a:r>
            <a:r>
              <a:rPr lang="ru-RU" dirty="0" err="1">
                <a:latin typeface="Times New Roman" panose="02020603050405020304" pitchFamily="18" charset="0"/>
                <a:ea typeface="Times New Roman" panose="02020603050405020304" pitchFamily="18" charset="0"/>
                <a:cs typeface="Calibri" panose="020F0502020204030204" pitchFamily="34" charset="0"/>
              </a:rPr>
              <a:t>варикапными</a:t>
            </a:r>
            <a:r>
              <a:rPr lang="ru-RU" dirty="0">
                <a:latin typeface="Times New Roman" panose="02020603050405020304" pitchFamily="18" charset="0"/>
                <a:ea typeface="Times New Roman" panose="02020603050405020304" pitchFamily="18" charset="0"/>
                <a:cs typeface="Calibri" panose="020F0502020204030204" pitchFamily="34" charset="0"/>
              </a:rPr>
              <a:t> матрицами.</a:t>
            </a:r>
            <a:endParaRPr lang="ru-RU" dirty="0">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Добротность современных варикапов, предназначенных для</a:t>
            </a:r>
            <a:br>
              <a:rPr lang="ru-RU" dirty="0">
                <a:latin typeface="Times New Roman" panose="02020603050405020304" pitchFamily="18" charset="0"/>
                <a:ea typeface="Times New Roman" panose="02020603050405020304" pitchFamily="18" charset="0"/>
                <a:cs typeface="Calibri" panose="020F0502020204030204" pitchFamily="34" charset="0"/>
              </a:rPr>
            </a:br>
            <a:r>
              <a:rPr lang="ru-RU" dirty="0">
                <a:latin typeface="Times New Roman" panose="02020603050405020304" pitchFamily="18" charset="0"/>
                <a:ea typeface="Times New Roman" panose="02020603050405020304" pitchFamily="18" charset="0"/>
                <a:cs typeface="Calibri" panose="020F0502020204030204" pitchFamily="34" charset="0"/>
              </a:rPr>
              <a:t>перестройки частоты достигает 200…600, а </a:t>
            </a:r>
            <a:r>
              <a:rPr lang="ru-RU" dirty="0" smtClean="0">
                <a:latin typeface="Times New Roman" panose="02020603050405020304" pitchFamily="18" charset="0"/>
                <a:ea typeface="Times New Roman" panose="02020603050405020304" pitchFamily="18" charset="0"/>
                <a:cs typeface="Calibri" panose="020F0502020204030204" pitchFamily="34" charset="0"/>
              </a:rPr>
              <a:t>изменение емкости (</a:t>
            </a:r>
            <a:r>
              <a:rPr lang="ru-RU" dirty="0">
                <a:latin typeface="Times New Roman" panose="02020603050405020304" pitchFamily="18" charset="0"/>
                <a:ea typeface="Times New Roman" panose="02020603050405020304" pitchFamily="18" charset="0"/>
                <a:cs typeface="Calibri" panose="020F0502020204030204" pitchFamily="34" charset="0"/>
              </a:rPr>
              <a:t>коэффициент перекрытия) более 10 раз.</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049096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709913" y="490905"/>
            <a:ext cx="10320759" cy="1676741"/>
          </a:xfrm>
          <a:prstGeom prst="rect">
            <a:avLst/>
          </a:prstGeom>
        </p:spPr>
        <p:txBody>
          <a:bodyPr wrap="square">
            <a:spAutoFit/>
          </a:bodyPr>
          <a:lstStyle/>
          <a:p>
            <a:pPr algn="ctr">
              <a:lnSpc>
                <a:spcPct val="107000"/>
              </a:lnSpc>
              <a:spcAft>
                <a:spcPts val="800"/>
              </a:spcAft>
            </a:pPr>
            <a:r>
              <a:rPr lang="ru-RU" b="1" dirty="0">
                <a:latin typeface="Times New Roman" panose="02020603050405020304" pitchFamily="18" charset="0"/>
                <a:ea typeface="Times New Roman" panose="02020603050405020304" pitchFamily="18" charset="0"/>
                <a:cs typeface="Calibri" panose="020F0502020204030204" pitchFamily="34" charset="0"/>
              </a:rPr>
              <a:t>Входная цепь с магнитной антенной</a:t>
            </a:r>
            <a:endParaRPr lang="ru-RU" dirty="0">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Магнитная антенна представляет собой круглый или прямоугольный ферритовый стержень, на котором размещен каркас с катушкой входного контура (рисунок). Контурная катушка может быть выполнена в однослойном или многослойном секционированном исполнении. Секционирование контурной катушки производится для уменьшения межвитковой емкости.</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pic>
        <p:nvPicPr>
          <p:cNvPr id="3" name="Рисунок 2" descr="Изображение выглядит как линия, снимок экрана, зарисовка, текст&#10;&#10;Контент, сгенерированный ИИ, может содержать ошибки."/>
          <p:cNvPicPr/>
          <p:nvPr/>
        </p:nvPicPr>
        <p:blipFill>
          <a:blip r:embed="rId2"/>
          <a:stretch>
            <a:fillRect/>
          </a:stretch>
        </p:blipFill>
        <p:spPr>
          <a:xfrm>
            <a:off x="4327263" y="2167646"/>
            <a:ext cx="3444875" cy="1242060"/>
          </a:xfrm>
          <a:prstGeom prst="rect">
            <a:avLst/>
          </a:prstGeom>
        </p:spPr>
      </p:pic>
      <p:sp>
        <p:nvSpPr>
          <p:cNvPr id="4" name="Прямоугольник 3"/>
          <p:cNvSpPr/>
          <p:nvPr/>
        </p:nvSpPr>
        <p:spPr>
          <a:xfrm>
            <a:off x="709913" y="3559628"/>
            <a:ext cx="10505955" cy="1200329"/>
          </a:xfrm>
          <a:prstGeom prst="rect">
            <a:avLst/>
          </a:prstGeom>
        </p:spPr>
        <p:txBody>
          <a:bodyPr wrap="square">
            <a:spAutoFit/>
          </a:bodyPr>
          <a:lstStyle/>
          <a:p>
            <a:r>
              <a:rPr lang="ru-RU" dirty="0">
                <a:latin typeface="Times New Roman" panose="02020603050405020304" pitchFamily="18" charset="0"/>
                <a:ea typeface="Times New Roman" panose="02020603050405020304" pitchFamily="18" charset="0"/>
                <a:cs typeface="Calibri" panose="020F0502020204030204" pitchFamily="34" charset="0"/>
              </a:rPr>
              <a:t>Эквивалентная схема ВЦ с магнитной антенной, которая используется как индуктивность входного контура, показана на рисунке а), где </a:t>
            </a:r>
            <a:r>
              <a:rPr lang="ru-RU" i="1" dirty="0" err="1">
                <a:latin typeface="Times New Roman" panose="02020603050405020304" pitchFamily="18" charset="0"/>
                <a:ea typeface="Times New Roman" panose="02020603050405020304" pitchFamily="18" charset="0"/>
                <a:cs typeface="Calibri" panose="020F0502020204030204" pitchFamily="34" charset="0"/>
              </a:rPr>
              <a:t>L</a:t>
            </a:r>
            <a:r>
              <a:rPr lang="ru-RU" baseline="-25000" dirty="0" err="1">
                <a:latin typeface="Times New Roman" panose="02020603050405020304" pitchFamily="18" charset="0"/>
                <a:ea typeface="Times New Roman" panose="02020603050405020304" pitchFamily="18" charset="0"/>
                <a:cs typeface="Calibri" panose="020F0502020204030204" pitchFamily="34" charset="0"/>
              </a:rPr>
              <a:t>к</a:t>
            </a:r>
            <a:r>
              <a:rPr lang="ru-RU" dirty="0">
                <a:latin typeface="Times New Roman" panose="02020603050405020304" pitchFamily="18" charset="0"/>
                <a:ea typeface="Times New Roman" panose="02020603050405020304" pitchFamily="18" charset="0"/>
                <a:cs typeface="Calibri" panose="020F0502020204030204" pitchFamily="34" charset="0"/>
              </a:rPr>
              <a:t> , </a:t>
            </a:r>
            <a:r>
              <a:rPr lang="ru-RU" i="1" dirty="0">
                <a:latin typeface="Times New Roman" panose="02020603050405020304" pitchFamily="18" charset="0"/>
                <a:ea typeface="Times New Roman" panose="02020603050405020304" pitchFamily="18" charset="0"/>
                <a:cs typeface="Calibri" panose="020F0502020204030204" pitchFamily="34" charset="0"/>
              </a:rPr>
              <a:t>С</a:t>
            </a:r>
            <a:r>
              <a:rPr lang="ru-RU" baseline="-25000" dirty="0">
                <a:latin typeface="Times New Roman" panose="02020603050405020304" pitchFamily="18" charset="0"/>
                <a:ea typeface="Times New Roman" panose="02020603050405020304" pitchFamily="18" charset="0"/>
                <a:cs typeface="Calibri" panose="020F0502020204030204" pitchFamily="34" charset="0"/>
              </a:rPr>
              <a:t>L</a:t>
            </a:r>
            <a:r>
              <a:rPr lang="ru-RU" dirty="0">
                <a:latin typeface="Times New Roman" panose="02020603050405020304" pitchFamily="18" charset="0"/>
                <a:ea typeface="Times New Roman" panose="02020603050405020304" pitchFamily="18" charset="0"/>
                <a:cs typeface="Calibri" panose="020F0502020204030204" pitchFamily="34" charset="0"/>
              </a:rPr>
              <a:t>, </a:t>
            </a:r>
            <a:r>
              <a:rPr lang="ru-RU" i="1" dirty="0" err="1">
                <a:latin typeface="Times New Roman" panose="02020603050405020304" pitchFamily="18" charset="0"/>
                <a:ea typeface="Times New Roman" panose="02020603050405020304" pitchFamily="18" charset="0"/>
                <a:cs typeface="Calibri" panose="020F0502020204030204" pitchFamily="34" charset="0"/>
              </a:rPr>
              <a:t>r</a:t>
            </a:r>
            <a:r>
              <a:rPr lang="ru-RU" baseline="-25000" dirty="0" err="1">
                <a:latin typeface="Times New Roman" panose="02020603050405020304" pitchFamily="18" charset="0"/>
                <a:ea typeface="Times New Roman" panose="02020603050405020304" pitchFamily="18" charset="0"/>
                <a:cs typeface="Calibri" panose="020F0502020204030204" pitchFamily="34" charset="0"/>
              </a:rPr>
              <a:t>к</a:t>
            </a:r>
            <a:r>
              <a:rPr lang="ru-RU" dirty="0">
                <a:latin typeface="Times New Roman" panose="02020603050405020304" pitchFamily="18" charset="0"/>
                <a:ea typeface="Times New Roman" panose="02020603050405020304" pitchFamily="18" charset="0"/>
                <a:cs typeface="Calibri" panose="020F0502020204030204" pitchFamily="34" charset="0"/>
              </a:rPr>
              <a:t> – параметры катушки магнитной антенны. Наводимая </a:t>
            </a:r>
            <a:r>
              <a:rPr lang="ru-RU" dirty="0" err="1">
                <a:latin typeface="Times New Roman" panose="02020603050405020304" pitchFamily="18" charset="0"/>
                <a:ea typeface="Times New Roman" panose="02020603050405020304" pitchFamily="18" charset="0"/>
                <a:cs typeface="Calibri" panose="020F0502020204030204" pitchFamily="34" charset="0"/>
              </a:rPr>
              <a:t>э.д.с</a:t>
            </a:r>
            <a:r>
              <a:rPr lang="ru-RU" dirty="0">
                <a:latin typeface="Times New Roman" panose="02020603050405020304" pitchFamily="18" charset="0"/>
                <a:ea typeface="Times New Roman" panose="02020603050405020304" pitchFamily="18" charset="0"/>
                <a:cs typeface="Calibri" panose="020F0502020204030204" pitchFamily="34" charset="0"/>
              </a:rPr>
              <a:t>. в магнитной антенне определяется выражением </a:t>
            </a:r>
            <a:r>
              <a:rPr lang="ru-RU" i="1" dirty="0">
                <a:latin typeface="Times New Roman" panose="02020603050405020304" pitchFamily="18" charset="0"/>
                <a:ea typeface="Times New Roman" panose="02020603050405020304" pitchFamily="18" charset="0"/>
                <a:cs typeface="Calibri" panose="020F0502020204030204" pitchFamily="34" charset="0"/>
              </a:rPr>
              <a:t>E</a:t>
            </a:r>
            <a:r>
              <a:rPr lang="ru-RU" baseline="-25000" dirty="0">
                <a:latin typeface="Times New Roman" panose="02020603050405020304" pitchFamily="18" charset="0"/>
                <a:ea typeface="Times New Roman" panose="02020603050405020304" pitchFamily="18" charset="0"/>
                <a:cs typeface="Calibri" panose="020F0502020204030204" pitchFamily="34" charset="0"/>
              </a:rPr>
              <a:t>А</a:t>
            </a:r>
            <a:r>
              <a:rPr lang="ru-RU" dirty="0">
                <a:latin typeface="Times New Roman" panose="02020603050405020304" pitchFamily="18" charset="0"/>
                <a:ea typeface="Times New Roman" panose="02020603050405020304" pitchFamily="18" charset="0"/>
                <a:cs typeface="Calibri" panose="020F0502020204030204" pitchFamily="34" charset="0"/>
              </a:rPr>
              <a:t> </a:t>
            </a:r>
            <a:r>
              <a:rPr lang="ru-RU" dirty="0">
                <a:latin typeface="Times New Roman" panose="02020603050405020304" pitchFamily="18" charset="0"/>
                <a:ea typeface="Times New Roman" panose="02020603050405020304" pitchFamily="18" charset="0"/>
                <a:cs typeface="Calibri" panose="020F0502020204030204" pitchFamily="34" charset="0"/>
                <a:sym typeface="Symbol" panose="05050102010706020507" pitchFamily="18" charset="2"/>
              </a:rPr>
              <a:t></a:t>
            </a:r>
            <a:r>
              <a:rPr lang="ru-RU" dirty="0">
                <a:latin typeface="Times New Roman" panose="02020603050405020304" pitchFamily="18" charset="0"/>
                <a:ea typeface="Times New Roman" panose="02020603050405020304" pitchFamily="18" charset="0"/>
                <a:cs typeface="Calibri" panose="020F0502020204030204" pitchFamily="34" charset="0"/>
              </a:rPr>
              <a:t> </a:t>
            </a:r>
            <a:r>
              <a:rPr lang="ru-RU" i="1" dirty="0" err="1">
                <a:latin typeface="Times New Roman" panose="02020603050405020304" pitchFamily="18" charset="0"/>
                <a:ea typeface="Times New Roman" panose="02020603050405020304" pitchFamily="18" charset="0"/>
                <a:cs typeface="Calibri" panose="020F0502020204030204" pitchFamily="34" charset="0"/>
              </a:rPr>
              <a:t>h</a:t>
            </a:r>
            <a:r>
              <a:rPr lang="ru-RU" baseline="-25000" dirty="0" err="1">
                <a:latin typeface="Times New Roman" panose="02020603050405020304" pitchFamily="18" charset="0"/>
                <a:ea typeface="Times New Roman" panose="02020603050405020304" pitchFamily="18" charset="0"/>
                <a:cs typeface="Calibri" panose="020F0502020204030204" pitchFamily="34" charset="0"/>
              </a:rPr>
              <a:t>Д</a:t>
            </a:r>
            <a:r>
              <a:rPr lang="ru-RU" dirty="0">
                <a:latin typeface="Times New Roman" panose="02020603050405020304" pitchFamily="18" charset="0"/>
                <a:ea typeface="Times New Roman" panose="02020603050405020304" pitchFamily="18" charset="0"/>
                <a:cs typeface="Calibri" panose="020F0502020204030204" pitchFamily="34" charset="0"/>
              </a:rPr>
              <a:t> </a:t>
            </a:r>
            <a:r>
              <a:rPr lang="ru-RU" dirty="0">
                <a:latin typeface="Times New Roman" panose="02020603050405020304" pitchFamily="18" charset="0"/>
                <a:ea typeface="Times New Roman" panose="02020603050405020304" pitchFamily="18" charset="0"/>
                <a:cs typeface="Calibri" panose="020F0502020204030204" pitchFamily="34" charset="0"/>
                <a:sym typeface="Symbol" panose="05050102010706020507" pitchFamily="18" charset="2"/>
              </a:rPr>
              <a:t></a:t>
            </a:r>
            <a:r>
              <a:rPr lang="ru-RU" dirty="0">
                <a:latin typeface="Times New Roman" panose="02020603050405020304" pitchFamily="18" charset="0"/>
                <a:ea typeface="Times New Roman" panose="02020603050405020304" pitchFamily="18" charset="0"/>
                <a:cs typeface="Calibri" panose="020F0502020204030204" pitchFamily="34" charset="0"/>
              </a:rPr>
              <a:t> </a:t>
            </a:r>
            <a:r>
              <a:rPr lang="ru-RU" i="1" dirty="0">
                <a:latin typeface="Times New Roman" panose="02020603050405020304" pitchFamily="18" charset="0"/>
                <a:ea typeface="Times New Roman" panose="02020603050405020304" pitchFamily="18" charset="0"/>
                <a:cs typeface="Calibri" panose="020F0502020204030204" pitchFamily="34" charset="0"/>
              </a:rPr>
              <a:t>E</a:t>
            </a:r>
            <a:r>
              <a:rPr lang="ru-RU" dirty="0">
                <a:latin typeface="Times New Roman" panose="02020603050405020304" pitchFamily="18" charset="0"/>
                <a:ea typeface="Times New Roman" panose="02020603050405020304" pitchFamily="18" charset="0"/>
                <a:cs typeface="Calibri" panose="020F0502020204030204" pitchFamily="34" charset="0"/>
              </a:rPr>
              <a:t>, (3.4) где </a:t>
            </a:r>
            <a:r>
              <a:rPr lang="ru-RU" i="1" dirty="0" err="1">
                <a:latin typeface="Times New Roman" panose="02020603050405020304" pitchFamily="18" charset="0"/>
                <a:ea typeface="Times New Roman" panose="02020603050405020304" pitchFamily="18" charset="0"/>
                <a:cs typeface="Calibri" panose="020F0502020204030204" pitchFamily="34" charset="0"/>
              </a:rPr>
              <a:t>h</a:t>
            </a:r>
            <a:r>
              <a:rPr lang="ru-RU" baseline="-25000" dirty="0" err="1">
                <a:latin typeface="Times New Roman" panose="02020603050405020304" pitchFamily="18" charset="0"/>
                <a:ea typeface="Times New Roman" panose="02020603050405020304" pitchFamily="18" charset="0"/>
                <a:cs typeface="Calibri" panose="020F0502020204030204" pitchFamily="34" charset="0"/>
              </a:rPr>
              <a:t>Д</a:t>
            </a:r>
            <a:r>
              <a:rPr lang="ru-RU" dirty="0">
                <a:latin typeface="Times New Roman" panose="02020603050405020304" pitchFamily="18" charset="0"/>
                <a:ea typeface="Times New Roman" panose="02020603050405020304" pitchFamily="18" charset="0"/>
                <a:cs typeface="Calibri" panose="020F0502020204030204" pitchFamily="34" charset="0"/>
              </a:rPr>
              <a:t> – действующая высота антенны, </a:t>
            </a:r>
            <a:r>
              <a:rPr lang="ru-RU" i="1" dirty="0">
                <a:latin typeface="Times New Roman" panose="02020603050405020304" pitchFamily="18" charset="0"/>
                <a:ea typeface="Times New Roman" panose="02020603050405020304" pitchFamily="18" charset="0"/>
                <a:cs typeface="Calibri" panose="020F0502020204030204" pitchFamily="34" charset="0"/>
              </a:rPr>
              <a:t>E</a:t>
            </a:r>
            <a:r>
              <a:rPr lang="ru-RU" dirty="0">
                <a:latin typeface="Times New Roman" panose="02020603050405020304" pitchFamily="18" charset="0"/>
                <a:ea typeface="Times New Roman" panose="02020603050405020304" pitchFamily="18" charset="0"/>
                <a:cs typeface="Calibri" panose="020F0502020204030204" pitchFamily="34" charset="0"/>
              </a:rPr>
              <a:t> – напряженность электрической составляющей поля, наводимого возле антенны. </a:t>
            </a:r>
            <a:endParaRPr lang="ru-RU" dirty="0"/>
          </a:p>
        </p:txBody>
      </p:sp>
      <p:pic>
        <p:nvPicPr>
          <p:cNvPr id="5" name="Рисунок 4" descr="Изображение выглядит как диаграмма, линия, План, Шрифт&#10;&#10;Контент, сгенерированный ИИ, может содержать ошибки."/>
          <p:cNvPicPr/>
          <p:nvPr/>
        </p:nvPicPr>
        <p:blipFill>
          <a:blip r:embed="rId3"/>
          <a:stretch>
            <a:fillRect/>
          </a:stretch>
        </p:blipFill>
        <p:spPr>
          <a:xfrm>
            <a:off x="3732072" y="4801688"/>
            <a:ext cx="4959350" cy="1524635"/>
          </a:xfrm>
          <a:prstGeom prst="rect">
            <a:avLst/>
          </a:prstGeom>
        </p:spPr>
      </p:pic>
    </p:spTree>
    <p:extLst>
      <p:ext uri="{BB962C8B-B14F-4D97-AF65-F5344CB8AC3E}">
        <p14:creationId xmlns:p14="http://schemas.microsoft.com/office/powerpoint/2010/main" val="5542750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941408" y="597914"/>
            <a:ext cx="7021974" cy="388696"/>
          </a:xfrm>
          <a:prstGeom prst="rect">
            <a:avLst/>
          </a:prstGeom>
        </p:spPr>
        <p:txBody>
          <a:bodyPr wrap="square">
            <a:spAutoFit/>
          </a:bodyPr>
          <a:lstStyle/>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Действующая высота магнитной антенны определяется выражением</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pic>
        <p:nvPicPr>
          <p:cNvPr id="3" name="Рисунок 2" descr="Изображение выглядит как Шрифт, рукописный текст, текст, число&#10;&#10;Контент, сгенерированный ИИ, может содержать ошибки."/>
          <p:cNvPicPr/>
          <p:nvPr/>
        </p:nvPicPr>
        <p:blipFill>
          <a:blip r:embed="rId2"/>
          <a:stretch>
            <a:fillRect/>
          </a:stretch>
        </p:blipFill>
        <p:spPr>
          <a:xfrm>
            <a:off x="8507393" y="510639"/>
            <a:ext cx="1810976" cy="649905"/>
          </a:xfrm>
          <a:prstGeom prst="rect">
            <a:avLst/>
          </a:prstGeom>
        </p:spPr>
      </p:pic>
      <p:pic>
        <p:nvPicPr>
          <p:cNvPr id="5" name="Рисунок 4"/>
          <p:cNvPicPr>
            <a:picLocks noChangeAspect="1"/>
          </p:cNvPicPr>
          <p:nvPr/>
        </p:nvPicPr>
        <p:blipFill>
          <a:blip r:embed="rId3"/>
          <a:stretch>
            <a:fillRect/>
          </a:stretch>
        </p:blipFill>
        <p:spPr>
          <a:xfrm>
            <a:off x="941408" y="1160544"/>
            <a:ext cx="5812278" cy="1420609"/>
          </a:xfrm>
          <a:prstGeom prst="rect">
            <a:avLst/>
          </a:prstGeom>
        </p:spPr>
      </p:pic>
      <p:sp>
        <p:nvSpPr>
          <p:cNvPr id="6" name="Прямоугольник 5"/>
          <p:cNvSpPr/>
          <p:nvPr/>
        </p:nvSpPr>
        <p:spPr>
          <a:xfrm>
            <a:off x="799547" y="2755087"/>
            <a:ext cx="6096000" cy="685059"/>
          </a:xfrm>
          <a:prstGeom prst="rect">
            <a:avLst/>
          </a:prstGeom>
        </p:spPr>
        <p:txBody>
          <a:bodyPr>
            <a:spAutoFit/>
          </a:bodyPr>
          <a:lstStyle/>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Эту схему можно привести к схеме с последовательным резонансным контуром с параметрами, рисунок б)</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pic>
        <p:nvPicPr>
          <p:cNvPr id="7" name="Рисунок 6" descr="Изображение выглядит как текст, Шрифт, рукописный текст, каллиграфия&#10;&#10;Контент, сгенерированный ИИ, может содержать ошибки."/>
          <p:cNvPicPr/>
          <p:nvPr/>
        </p:nvPicPr>
        <p:blipFill>
          <a:blip r:embed="rId4"/>
          <a:stretch>
            <a:fillRect/>
          </a:stretch>
        </p:blipFill>
        <p:spPr>
          <a:xfrm>
            <a:off x="941408" y="3614079"/>
            <a:ext cx="2924536" cy="1883895"/>
          </a:xfrm>
          <a:prstGeom prst="rect">
            <a:avLst/>
          </a:prstGeom>
        </p:spPr>
      </p:pic>
      <p:sp>
        <p:nvSpPr>
          <p:cNvPr id="8" name="Прямоугольник 7"/>
          <p:cNvSpPr/>
          <p:nvPr/>
        </p:nvSpPr>
        <p:spPr>
          <a:xfrm>
            <a:off x="941407" y="5671907"/>
            <a:ext cx="7172445" cy="388696"/>
          </a:xfrm>
          <a:prstGeom prst="rect">
            <a:avLst/>
          </a:prstGeom>
        </p:spPr>
        <p:txBody>
          <a:bodyPr wrap="square">
            <a:spAutoFit/>
          </a:bodyPr>
          <a:lstStyle/>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где </a:t>
            </a:r>
            <a:r>
              <a:rPr lang="ru-RU" i="1" dirty="0">
                <a:latin typeface="Times New Roman" panose="02020603050405020304" pitchFamily="18" charset="0"/>
                <a:ea typeface="Times New Roman" panose="02020603050405020304" pitchFamily="18" charset="0"/>
                <a:cs typeface="Calibri" panose="020F0502020204030204" pitchFamily="34" charset="0"/>
              </a:rPr>
              <a:t>Q</a:t>
            </a:r>
            <a:r>
              <a:rPr lang="ru-RU" dirty="0">
                <a:latin typeface="Times New Roman" panose="02020603050405020304" pitchFamily="18" charset="0"/>
                <a:ea typeface="Times New Roman" panose="02020603050405020304" pitchFamily="18" charset="0"/>
                <a:cs typeface="Calibri" panose="020F0502020204030204" pitchFamily="34" charset="0"/>
              </a:rPr>
              <a:t>, </a:t>
            </a:r>
            <a:r>
              <a:rPr lang="ru-RU" i="1" dirty="0">
                <a:latin typeface="Times New Roman" panose="02020603050405020304" pitchFamily="18" charset="0"/>
                <a:ea typeface="Times New Roman" panose="02020603050405020304" pitchFamily="18" charset="0"/>
                <a:cs typeface="Calibri" panose="020F0502020204030204" pitchFamily="34" charset="0"/>
              </a:rPr>
              <a:t>R</a:t>
            </a:r>
            <a:r>
              <a:rPr lang="ru-RU" baseline="-25000" dirty="0">
                <a:latin typeface="Times New Roman" panose="02020603050405020304" pitchFamily="18" charset="0"/>
                <a:ea typeface="Times New Roman" panose="02020603050405020304" pitchFamily="18" charset="0"/>
                <a:cs typeface="Calibri" panose="020F0502020204030204" pitchFamily="34" charset="0"/>
              </a:rPr>
              <a:t>0</a:t>
            </a:r>
            <a:r>
              <a:rPr lang="ru-RU" dirty="0">
                <a:latin typeface="Times New Roman" panose="02020603050405020304" pitchFamily="18" charset="0"/>
                <a:ea typeface="Times New Roman" panose="02020603050405020304" pitchFamily="18" charset="0"/>
                <a:cs typeface="Calibri" panose="020F0502020204030204" pitchFamily="34" charset="0"/>
              </a:rPr>
              <a:t> – параметры ненагруженного контура с магнитной антенной.</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pic>
        <p:nvPicPr>
          <p:cNvPr id="9" name="Рисунок 8" descr="Изображение выглядит как диаграмма, линия, План, Шрифт&#10;&#10;Контент, сгенерированный ИИ, может содержать ошибки."/>
          <p:cNvPicPr/>
          <p:nvPr/>
        </p:nvPicPr>
        <p:blipFill>
          <a:blip r:embed="rId5"/>
          <a:stretch>
            <a:fillRect/>
          </a:stretch>
        </p:blipFill>
        <p:spPr>
          <a:xfrm>
            <a:off x="5977560" y="3793708"/>
            <a:ext cx="4959350" cy="1524635"/>
          </a:xfrm>
          <a:prstGeom prst="rect">
            <a:avLst/>
          </a:prstGeom>
        </p:spPr>
      </p:pic>
      <p:sp>
        <p:nvSpPr>
          <p:cNvPr id="10" name="Прямоугольник 9"/>
          <p:cNvSpPr/>
          <p:nvPr/>
        </p:nvSpPr>
        <p:spPr>
          <a:xfrm>
            <a:off x="941407" y="6202590"/>
            <a:ext cx="2863733" cy="388696"/>
          </a:xfrm>
          <a:prstGeom prst="rect">
            <a:avLst/>
          </a:prstGeom>
        </p:spPr>
        <p:txBody>
          <a:bodyPr wrap="none">
            <a:spAutoFit/>
          </a:bodyPr>
          <a:lstStyle/>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Коэффициент передачи ВЦ</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pic>
        <p:nvPicPr>
          <p:cNvPr id="12" name="Рисунок 11"/>
          <p:cNvPicPr>
            <a:picLocks noChangeAspect="1"/>
          </p:cNvPicPr>
          <p:nvPr/>
        </p:nvPicPr>
        <p:blipFill>
          <a:blip r:embed="rId6"/>
          <a:stretch>
            <a:fillRect/>
          </a:stretch>
        </p:blipFill>
        <p:spPr>
          <a:xfrm>
            <a:off x="4174883" y="6247244"/>
            <a:ext cx="2857460" cy="344042"/>
          </a:xfrm>
          <a:prstGeom prst="rect">
            <a:avLst/>
          </a:prstGeom>
        </p:spPr>
      </p:pic>
    </p:spTree>
    <p:extLst>
      <p:ext uri="{BB962C8B-B14F-4D97-AF65-F5344CB8AC3E}">
        <p14:creationId xmlns:p14="http://schemas.microsoft.com/office/powerpoint/2010/main" val="35449445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883534" y="683622"/>
            <a:ext cx="3561144" cy="768287"/>
          </a:xfrm>
          <a:prstGeom prst="rect">
            <a:avLst/>
          </a:prstGeom>
        </p:spPr>
        <p:txBody>
          <a:bodyPr wrap="square">
            <a:spAutoFit/>
          </a:bodyPr>
          <a:lstStyle/>
          <a:p>
            <a:pPr algn="just">
              <a:lnSpc>
                <a:spcPct val="107000"/>
              </a:lnSpc>
              <a:spcAft>
                <a:spcPts val="800"/>
              </a:spcAft>
            </a:pPr>
            <a:r>
              <a:rPr lang="ru-RU" b="1" dirty="0">
                <a:latin typeface="Times New Roman" panose="02020603050405020304" pitchFamily="18" charset="0"/>
                <a:ea typeface="Times New Roman" panose="02020603050405020304" pitchFamily="18" charset="0"/>
                <a:cs typeface="Calibri" panose="020F0502020204030204" pitchFamily="34" charset="0"/>
              </a:rPr>
              <a:t>Примеры схем входных цепей</a:t>
            </a:r>
            <a:endParaRPr lang="ru-RU" dirty="0">
              <a:latin typeface="Times New Roman" panose="02020603050405020304" pitchFamily="18" charset="0"/>
              <a:ea typeface="Calibri" panose="020F0502020204030204" pitchFamily="34" charset="0"/>
              <a:cs typeface="Calibri" panose="020F0502020204030204" pitchFamily="34" charset="0"/>
            </a:endParaRPr>
          </a:p>
          <a:p>
            <a:r>
              <a:rPr lang="ru-RU" dirty="0">
                <a:latin typeface="Times New Roman" panose="02020603050405020304" pitchFamily="18" charset="0"/>
                <a:ea typeface="Times New Roman" panose="02020603050405020304" pitchFamily="18" charset="0"/>
                <a:cs typeface="Calibri" panose="020F0502020204030204" pitchFamily="34" charset="0"/>
              </a:rPr>
              <a:t>а) трансформаторная связь</a:t>
            </a:r>
            <a:endParaRPr lang="ru-RU" dirty="0"/>
          </a:p>
        </p:txBody>
      </p:sp>
      <p:pic>
        <p:nvPicPr>
          <p:cNvPr id="3" name="Рисунок 2"/>
          <p:cNvPicPr/>
          <p:nvPr/>
        </p:nvPicPr>
        <p:blipFill>
          <a:blip r:embed="rId2"/>
          <a:stretch>
            <a:fillRect/>
          </a:stretch>
        </p:blipFill>
        <p:spPr>
          <a:xfrm>
            <a:off x="4343641" y="231493"/>
            <a:ext cx="4152900" cy="2266950"/>
          </a:xfrm>
          <a:prstGeom prst="rect">
            <a:avLst/>
          </a:prstGeom>
        </p:spPr>
      </p:pic>
      <p:sp>
        <p:nvSpPr>
          <p:cNvPr id="4" name="Прямоугольник 3"/>
          <p:cNvSpPr/>
          <p:nvPr/>
        </p:nvSpPr>
        <p:spPr>
          <a:xfrm>
            <a:off x="863520" y="1904038"/>
            <a:ext cx="3480121" cy="981423"/>
          </a:xfrm>
          <a:prstGeom prst="rect">
            <a:avLst/>
          </a:prstGeom>
        </p:spPr>
        <p:txBody>
          <a:bodyPr wrap="square">
            <a:spAutoFit/>
          </a:bodyPr>
          <a:lstStyle/>
          <a:p>
            <a:pPr algn="just">
              <a:lnSpc>
                <a:spcPct val="107000"/>
              </a:lnSpc>
              <a:spcAft>
                <a:spcPts val="800"/>
              </a:spcAft>
            </a:pPr>
            <a:r>
              <a:rPr lang="ru-RU" i="1" dirty="0">
                <a:latin typeface="Times New Roman" panose="02020603050405020304" pitchFamily="18" charset="0"/>
                <a:ea typeface="Times New Roman" panose="02020603050405020304" pitchFamily="18" charset="0"/>
                <a:cs typeface="Calibri" panose="020F0502020204030204" pitchFamily="34" charset="0"/>
              </a:rPr>
              <a:t>Вопрос</a:t>
            </a:r>
            <a:r>
              <a:rPr lang="ru-RU" dirty="0">
                <a:latin typeface="Times New Roman" panose="02020603050405020304" pitchFamily="18" charset="0"/>
                <a:ea typeface="Times New Roman" panose="02020603050405020304" pitchFamily="18" charset="0"/>
                <a:cs typeface="Calibri" panose="020F0502020204030204" pitchFamily="34" charset="0"/>
              </a:rPr>
              <a:t>: почему здесь применена схема частичного включения по входу биполярного транзистора.</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sp>
        <p:nvSpPr>
          <p:cNvPr id="5" name="Прямоугольник 4"/>
          <p:cNvSpPr/>
          <p:nvPr/>
        </p:nvSpPr>
        <p:spPr>
          <a:xfrm>
            <a:off x="883534" y="3337590"/>
            <a:ext cx="2011128" cy="388696"/>
          </a:xfrm>
          <a:prstGeom prst="rect">
            <a:avLst/>
          </a:prstGeom>
        </p:spPr>
        <p:txBody>
          <a:bodyPr wrap="none">
            <a:spAutoFit/>
          </a:bodyPr>
          <a:lstStyle/>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б) емкостная связь</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pic>
        <p:nvPicPr>
          <p:cNvPr id="6" name="Рисунок 5"/>
          <p:cNvPicPr/>
          <p:nvPr/>
        </p:nvPicPr>
        <p:blipFill>
          <a:blip r:embed="rId3"/>
          <a:stretch>
            <a:fillRect/>
          </a:stretch>
        </p:blipFill>
        <p:spPr>
          <a:xfrm>
            <a:off x="863520" y="3915197"/>
            <a:ext cx="2990850" cy="1990725"/>
          </a:xfrm>
          <a:prstGeom prst="rect">
            <a:avLst/>
          </a:prstGeom>
        </p:spPr>
      </p:pic>
      <p:sp>
        <p:nvSpPr>
          <p:cNvPr id="7" name="Прямоугольник 6"/>
          <p:cNvSpPr/>
          <p:nvPr/>
        </p:nvSpPr>
        <p:spPr>
          <a:xfrm>
            <a:off x="4444678" y="3336001"/>
            <a:ext cx="3242426" cy="388696"/>
          </a:xfrm>
          <a:prstGeom prst="rect">
            <a:avLst/>
          </a:prstGeom>
        </p:spPr>
        <p:txBody>
          <a:bodyPr wrap="none">
            <a:spAutoFit/>
          </a:bodyPr>
          <a:lstStyle/>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в) автотрансформаторная связь</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pic>
        <p:nvPicPr>
          <p:cNvPr id="8" name="Рисунок 7"/>
          <p:cNvPicPr/>
          <p:nvPr/>
        </p:nvPicPr>
        <p:blipFill>
          <a:blip r:embed="rId4"/>
          <a:stretch>
            <a:fillRect/>
          </a:stretch>
        </p:blipFill>
        <p:spPr>
          <a:xfrm>
            <a:off x="4343641" y="3724697"/>
            <a:ext cx="4162425" cy="2181225"/>
          </a:xfrm>
          <a:prstGeom prst="rect">
            <a:avLst/>
          </a:prstGeom>
        </p:spPr>
      </p:pic>
    </p:spTree>
    <p:extLst>
      <p:ext uri="{BB962C8B-B14F-4D97-AF65-F5344CB8AC3E}">
        <p14:creationId xmlns:p14="http://schemas.microsoft.com/office/powerpoint/2010/main" val="34724286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p:nvPr/>
        </p:nvPicPr>
        <p:blipFill>
          <a:blip r:embed="rId2"/>
          <a:stretch>
            <a:fillRect/>
          </a:stretch>
        </p:blipFill>
        <p:spPr>
          <a:xfrm>
            <a:off x="1109300" y="1095736"/>
            <a:ext cx="3514725" cy="1981200"/>
          </a:xfrm>
          <a:prstGeom prst="rect">
            <a:avLst/>
          </a:prstGeom>
        </p:spPr>
      </p:pic>
      <p:sp>
        <p:nvSpPr>
          <p:cNvPr id="3" name="Прямоугольник 2"/>
          <p:cNvSpPr/>
          <p:nvPr/>
        </p:nvSpPr>
        <p:spPr>
          <a:xfrm>
            <a:off x="1109300" y="707040"/>
            <a:ext cx="2722477" cy="388696"/>
          </a:xfrm>
          <a:prstGeom prst="rect">
            <a:avLst/>
          </a:prstGeom>
        </p:spPr>
        <p:txBody>
          <a:bodyPr wrap="none">
            <a:spAutoFit/>
          </a:bodyPr>
          <a:lstStyle/>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г) комбинированная связь</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pic>
        <p:nvPicPr>
          <p:cNvPr id="4" name="Рисунок 3"/>
          <p:cNvPicPr/>
          <p:nvPr/>
        </p:nvPicPr>
        <p:blipFill>
          <a:blip r:embed="rId3"/>
          <a:stretch>
            <a:fillRect/>
          </a:stretch>
        </p:blipFill>
        <p:spPr>
          <a:xfrm>
            <a:off x="5677262" y="1095736"/>
            <a:ext cx="5467350" cy="2409825"/>
          </a:xfrm>
          <a:prstGeom prst="rect">
            <a:avLst/>
          </a:prstGeom>
        </p:spPr>
      </p:pic>
      <p:sp>
        <p:nvSpPr>
          <p:cNvPr id="5" name="Прямоугольник 4"/>
          <p:cNvSpPr/>
          <p:nvPr/>
        </p:nvSpPr>
        <p:spPr>
          <a:xfrm>
            <a:off x="5951408" y="707040"/>
            <a:ext cx="3229154" cy="388696"/>
          </a:xfrm>
          <a:prstGeom prst="rect">
            <a:avLst/>
          </a:prstGeom>
        </p:spPr>
        <p:txBody>
          <a:bodyPr wrap="none">
            <a:spAutoFit/>
          </a:bodyPr>
          <a:lstStyle/>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д) двухконтурная входная цепь</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sp>
        <p:nvSpPr>
          <p:cNvPr id="6" name="Прямоугольник 5"/>
          <p:cNvSpPr/>
          <p:nvPr/>
        </p:nvSpPr>
        <p:spPr>
          <a:xfrm>
            <a:off x="5443960" y="3505561"/>
            <a:ext cx="6096000" cy="2075696"/>
          </a:xfrm>
          <a:prstGeom prst="rect">
            <a:avLst/>
          </a:prstGeom>
        </p:spPr>
        <p:txBody>
          <a:bodyPr>
            <a:spAutoFit/>
          </a:bodyPr>
          <a:lstStyle/>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Особенности схемы:</a:t>
            </a:r>
            <a:endParaRPr lang="ru-RU" dirty="0">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1) с антенной - трансформаторная связь;</a:t>
            </a:r>
            <a:endParaRPr lang="ru-RU" dirty="0">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2) между контурами - </a:t>
            </a:r>
            <a:r>
              <a:rPr lang="ru-RU" dirty="0" err="1">
                <a:latin typeface="Times New Roman" panose="02020603050405020304" pitchFamily="18" charset="0"/>
                <a:ea typeface="Times New Roman" panose="02020603050405020304" pitchFamily="18" charset="0"/>
                <a:cs typeface="Calibri" panose="020F0502020204030204" pitchFamily="34" charset="0"/>
              </a:rPr>
              <a:t>внутриемкостная</a:t>
            </a:r>
            <a:r>
              <a:rPr lang="ru-RU" dirty="0">
                <a:latin typeface="Times New Roman" panose="02020603050405020304" pitchFamily="18" charset="0"/>
                <a:ea typeface="Times New Roman" panose="02020603050405020304" pitchFamily="18" charset="0"/>
                <a:cs typeface="Calibri" panose="020F0502020204030204" pitchFamily="34" charset="0"/>
              </a:rPr>
              <a:t> связь через </a:t>
            </a:r>
            <a:r>
              <a:rPr lang="ru-RU" i="1" dirty="0">
                <a:latin typeface="Times New Roman" panose="02020603050405020304" pitchFamily="18" charset="0"/>
                <a:ea typeface="Times New Roman" panose="02020603050405020304" pitchFamily="18" charset="0"/>
                <a:cs typeface="Calibri" panose="020F0502020204030204" pitchFamily="34" charset="0"/>
              </a:rPr>
              <a:t>С</a:t>
            </a:r>
            <a:r>
              <a:rPr lang="ru-RU" baseline="-25000" dirty="0">
                <a:latin typeface="Times New Roman" panose="02020603050405020304" pitchFamily="18" charset="0"/>
                <a:ea typeface="Times New Roman" panose="02020603050405020304" pitchFamily="18" charset="0"/>
                <a:cs typeface="Calibri" panose="020F0502020204030204" pitchFamily="34" charset="0"/>
              </a:rPr>
              <a:t>СВ1</a:t>
            </a:r>
            <a:r>
              <a:rPr lang="ru-RU" dirty="0">
                <a:latin typeface="Times New Roman" panose="02020603050405020304" pitchFamily="18" charset="0"/>
                <a:ea typeface="Times New Roman" panose="02020603050405020304" pitchFamily="18" charset="0"/>
                <a:cs typeface="Calibri" panose="020F0502020204030204" pitchFamily="34" charset="0"/>
              </a:rPr>
              <a:t> и </a:t>
            </a:r>
            <a:r>
              <a:rPr lang="ru-RU" dirty="0" err="1">
                <a:latin typeface="Times New Roman" panose="02020603050405020304" pitchFamily="18" charset="0"/>
                <a:ea typeface="Times New Roman" panose="02020603050405020304" pitchFamily="18" charset="0"/>
                <a:cs typeface="Calibri" panose="020F0502020204030204" pitchFamily="34" charset="0"/>
              </a:rPr>
              <a:t>внешнемкостная</a:t>
            </a:r>
            <a:r>
              <a:rPr lang="ru-RU" dirty="0">
                <a:latin typeface="Times New Roman" panose="02020603050405020304" pitchFamily="18" charset="0"/>
                <a:ea typeface="Times New Roman" panose="02020603050405020304" pitchFamily="18" charset="0"/>
                <a:cs typeface="Calibri" panose="020F0502020204030204" pitchFamily="34" charset="0"/>
              </a:rPr>
              <a:t> - через </a:t>
            </a:r>
            <a:r>
              <a:rPr lang="ru-RU" i="1" dirty="0">
                <a:latin typeface="Times New Roman" panose="02020603050405020304" pitchFamily="18" charset="0"/>
                <a:ea typeface="Times New Roman" panose="02020603050405020304" pitchFamily="18" charset="0"/>
                <a:cs typeface="Calibri" panose="020F0502020204030204" pitchFamily="34" charset="0"/>
              </a:rPr>
              <a:t>С</a:t>
            </a:r>
            <a:r>
              <a:rPr lang="ru-RU" baseline="-25000" dirty="0">
                <a:latin typeface="Times New Roman" panose="02020603050405020304" pitchFamily="18" charset="0"/>
                <a:ea typeface="Times New Roman" panose="02020603050405020304" pitchFamily="18" charset="0"/>
                <a:cs typeface="Calibri" panose="020F0502020204030204" pitchFamily="34" charset="0"/>
              </a:rPr>
              <a:t>СВ2</a:t>
            </a:r>
            <a:r>
              <a:rPr lang="ru-RU" dirty="0">
                <a:latin typeface="Times New Roman" panose="02020603050405020304" pitchFamily="18" charset="0"/>
                <a:ea typeface="Times New Roman" panose="02020603050405020304" pitchFamily="18" charset="0"/>
                <a:cs typeface="Calibri" panose="020F0502020204030204" pitchFamily="34" charset="0"/>
              </a:rPr>
              <a:t>. Характеристика контура – почти прямоугольная, что обеспечивает хорошую селективность.</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026017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442685" y="219337"/>
            <a:ext cx="5807424" cy="388696"/>
          </a:xfrm>
          <a:prstGeom prst="rect">
            <a:avLst/>
          </a:prstGeom>
        </p:spPr>
        <p:txBody>
          <a:bodyPr wrap="none">
            <a:spAutoFit/>
          </a:bodyPr>
          <a:lstStyle/>
          <a:p>
            <a:pPr algn="just">
              <a:lnSpc>
                <a:spcPct val="107000"/>
              </a:lnSpc>
              <a:spcAft>
                <a:spcPts val="800"/>
              </a:spcAft>
            </a:pPr>
            <a:r>
              <a:rPr lang="ru-RU" b="1" dirty="0">
                <a:latin typeface="Times New Roman" panose="02020603050405020304" pitchFamily="18" charset="0"/>
                <a:ea typeface="Times New Roman" panose="02020603050405020304" pitchFamily="18" charset="0"/>
                <a:cs typeface="Calibri" panose="020F0502020204030204" pitchFamily="34" charset="0"/>
              </a:rPr>
              <a:t>Способы перекрытия диапазона частот (особенности)</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pic>
        <p:nvPicPr>
          <p:cNvPr id="4" name="Рисунок 3"/>
          <p:cNvPicPr>
            <a:picLocks noChangeAspect="1"/>
          </p:cNvPicPr>
          <p:nvPr/>
        </p:nvPicPr>
        <p:blipFill>
          <a:blip r:embed="rId2"/>
          <a:stretch>
            <a:fillRect/>
          </a:stretch>
        </p:blipFill>
        <p:spPr>
          <a:xfrm>
            <a:off x="918453" y="941719"/>
            <a:ext cx="5661978" cy="2937417"/>
          </a:xfrm>
          <a:prstGeom prst="rect">
            <a:avLst/>
          </a:prstGeom>
        </p:spPr>
      </p:pic>
      <p:pic>
        <p:nvPicPr>
          <p:cNvPr id="5" name="Рисунок 4"/>
          <p:cNvPicPr/>
          <p:nvPr/>
        </p:nvPicPr>
        <p:blipFill>
          <a:blip r:embed="rId3"/>
          <a:stretch>
            <a:fillRect/>
          </a:stretch>
        </p:blipFill>
        <p:spPr>
          <a:xfrm>
            <a:off x="7272036" y="1276953"/>
            <a:ext cx="4152900" cy="2266950"/>
          </a:xfrm>
          <a:prstGeom prst="rect">
            <a:avLst/>
          </a:prstGeom>
        </p:spPr>
      </p:pic>
      <p:sp>
        <p:nvSpPr>
          <p:cNvPr id="6" name="Прямоугольник 5"/>
          <p:cNvSpPr/>
          <p:nvPr/>
        </p:nvSpPr>
        <p:spPr>
          <a:xfrm>
            <a:off x="608844" y="3913497"/>
            <a:ext cx="10722771" cy="1482970"/>
          </a:xfrm>
          <a:prstGeom prst="rect">
            <a:avLst/>
          </a:prstGeom>
        </p:spPr>
        <p:txBody>
          <a:bodyPr wrap="square">
            <a:spAutoFit/>
          </a:bodyPr>
          <a:lstStyle/>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Что происходит при изменении частоты сигнала:</a:t>
            </a:r>
            <a:endParaRPr lang="ru-RU" dirty="0">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 активные потери в контуре r растут пропорционально росту частоты. В связи с этим затухание контура увеличивается с ростом частоты </a:t>
            </a:r>
            <a:r>
              <a:rPr lang="ru-RU" i="1" dirty="0">
                <a:latin typeface="Times New Roman" panose="02020603050405020304" pitchFamily="18" charset="0"/>
                <a:ea typeface="Times New Roman" panose="02020603050405020304" pitchFamily="18" charset="0"/>
                <a:cs typeface="Calibri" panose="020F0502020204030204" pitchFamily="34" charset="0"/>
                <a:sym typeface="Symbol" panose="05050102010706020507" pitchFamily="18" charset="2"/>
              </a:rPr>
              <a:t></a:t>
            </a:r>
            <a:r>
              <a:rPr lang="ru-RU" dirty="0">
                <a:latin typeface="Times New Roman" panose="02020603050405020304" pitchFamily="18" charset="0"/>
                <a:ea typeface="Times New Roman" panose="02020603050405020304" pitchFamily="18" charset="0"/>
                <a:cs typeface="Calibri" panose="020F0502020204030204" pitchFamily="34" charset="0"/>
              </a:rPr>
              <a:t>  пропорционально квадрату изменения частоты;</a:t>
            </a:r>
            <a:endParaRPr lang="ru-RU" dirty="0">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 полоса пропускания контура на уровне 0,707 увеличивается пропорционально кубу изменения частоты;</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pic>
        <p:nvPicPr>
          <p:cNvPr id="7" name="Рисунок 6"/>
          <p:cNvPicPr/>
          <p:nvPr/>
        </p:nvPicPr>
        <p:blipFill>
          <a:blip r:embed="rId4"/>
          <a:stretch>
            <a:fillRect/>
          </a:stretch>
        </p:blipFill>
        <p:spPr>
          <a:xfrm>
            <a:off x="5447043" y="5452436"/>
            <a:ext cx="1312571" cy="313625"/>
          </a:xfrm>
          <a:prstGeom prst="rect">
            <a:avLst/>
          </a:prstGeom>
        </p:spPr>
      </p:pic>
      <p:sp>
        <p:nvSpPr>
          <p:cNvPr id="8" name="Прямоугольник 7"/>
          <p:cNvSpPr/>
          <p:nvPr/>
        </p:nvSpPr>
        <p:spPr>
          <a:xfrm>
            <a:off x="608843" y="5725693"/>
            <a:ext cx="9032867" cy="388696"/>
          </a:xfrm>
          <a:prstGeom prst="rect">
            <a:avLst/>
          </a:prstGeom>
        </p:spPr>
        <p:txBody>
          <a:bodyPr wrap="square">
            <a:spAutoFit/>
          </a:bodyPr>
          <a:lstStyle/>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 проводимость контура также увеличивается пропорционально кубу изменения частоты.</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pic>
        <p:nvPicPr>
          <p:cNvPr id="10" name="Рисунок 9"/>
          <p:cNvPicPr>
            <a:picLocks noChangeAspect="1"/>
          </p:cNvPicPr>
          <p:nvPr/>
        </p:nvPicPr>
        <p:blipFill>
          <a:blip r:embed="rId5"/>
          <a:stretch>
            <a:fillRect/>
          </a:stretch>
        </p:blipFill>
        <p:spPr>
          <a:xfrm>
            <a:off x="9680040" y="5620570"/>
            <a:ext cx="1865911" cy="595035"/>
          </a:xfrm>
          <a:prstGeom prst="rect">
            <a:avLst/>
          </a:prstGeom>
        </p:spPr>
      </p:pic>
      <p:sp>
        <p:nvSpPr>
          <p:cNvPr id="11" name="Прямоугольник 10"/>
          <p:cNvSpPr/>
          <p:nvPr/>
        </p:nvSpPr>
        <p:spPr>
          <a:xfrm>
            <a:off x="608842" y="6224624"/>
            <a:ext cx="10595451" cy="369332"/>
          </a:xfrm>
          <a:prstGeom prst="rect">
            <a:avLst/>
          </a:prstGeom>
        </p:spPr>
        <p:txBody>
          <a:bodyPr wrap="square">
            <a:spAutoFit/>
          </a:bodyPr>
          <a:lstStyle/>
          <a:p>
            <a:r>
              <a:rPr lang="ru-RU" dirty="0">
                <a:latin typeface="Times New Roman" panose="02020603050405020304" pitchFamily="18" charset="0"/>
                <a:ea typeface="Times New Roman" panose="02020603050405020304" pitchFamily="18" charset="0"/>
                <a:cs typeface="Calibri" panose="020F0502020204030204" pitchFamily="34" charset="0"/>
              </a:rPr>
              <a:t>Таким образом, параметры контура при настройке индуктивностью изменяются резко, что нежелательно.</a:t>
            </a:r>
            <a:endParaRPr lang="ru-RU" dirty="0"/>
          </a:p>
        </p:txBody>
      </p:sp>
    </p:spTree>
    <p:extLst>
      <p:ext uri="{BB962C8B-B14F-4D97-AF65-F5344CB8AC3E}">
        <p14:creationId xmlns:p14="http://schemas.microsoft.com/office/powerpoint/2010/main" val="22421530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559442" y="401144"/>
            <a:ext cx="10286035" cy="388696"/>
          </a:xfrm>
          <a:prstGeom prst="rect">
            <a:avLst/>
          </a:prstGeom>
        </p:spPr>
        <p:txBody>
          <a:bodyPr wrap="square">
            <a:spAutoFit/>
          </a:bodyPr>
          <a:lstStyle/>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б) индуктивность </a:t>
            </a:r>
            <a:r>
              <a:rPr lang="ru-RU" i="1" dirty="0" err="1">
                <a:latin typeface="Times New Roman" panose="02020603050405020304" pitchFamily="18" charset="0"/>
                <a:ea typeface="Times New Roman" panose="02020603050405020304" pitchFamily="18" charset="0"/>
                <a:cs typeface="Calibri" panose="020F0502020204030204" pitchFamily="34" charset="0"/>
              </a:rPr>
              <a:t>L</a:t>
            </a:r>
            <a:r>
              <a:rPr lang="ru-RU" baseline="-25000" dirty="0" err="1">
                <a:latin typeface="Times New Roman" panose="02020603050405020304" pitchFamily="18" charset="0"/>
                <a:ea typeface="Times New Roman" panose="02020603050405020304" pitchFamily="18" charset="0"/>
                <a:cs typeface="Calibri" panose="020F0502020204030204" pitchFamily="34" charset="0"/>
              </a:rPr>
              <a:t>к</a:t>
            </a:r>
            <a:r>
              <a:rPr lang="ru-RU" dirty="0">
                <a:latin typeface="Times New Roman" panose="02020603050405020304" pitchFamily="18" charset="0"/>
                <a:ea typeface="Times New Roman" panose="02020603050405020304" pitchFamily="18" charset="0"/>
                <a:cs typeface="Calibri" panose="020F0502020204030204" pitchFamily="34" charset="0"/>
              </a:rPr>
              <a:t> – постоянна, перекрытие диапазона осуществляется переменной емкостью </a:t>
            </a:r>
            <a:r>
              <a:rPr lang="ru-RU" i="1" dirty="0" err="1">
                <a:latin typeface="Times New Roman" panose="02020603050405020304" pitchFamily="18" charset="0"/>
                <a:ea typeface="Times New Roman" panose="02020603050405020304" pitchFamily="18" charset="0"/>
                <a:cs typeface="Calibri" panose="020F0502020204030204" pitchFamily="34" charset="0"/>
              </a:rPr>
              <a:t>С</a:t>
            </a:r>
            <a:r>
              <a:rPr lang="ru-RU" baseline="-25000" dirty="0" err="1">
                <a:latin typeface="Times New Roman" panose="02020603050405020304" pitchFamily="18" charset="0"/>
                <a:ea typeface="Times New Roman" panose="02020603050405020304" pitchFamily="18" charset="0"/>
                <a:cs typeface="Calibri" panose="020F0502020204030204" pitchFamily="34" charset="0"/>
              </a:rPr>
              <a:t>к</a:t>
            </a:r>
            <a:r>
              <a:rPr lang="ru-RU" dirty="0">
                <a:latin typeface="Times New Roman" panose="02020603050405020304" pitchFamily="18" charset="0"/>
                <a:ea typeface="Times New Roman" panose="02020603050405020304" pitchFamily="18" charset="0"/>
                <a:cs typeface="Calibri" panose="020F0502020204030204" pitchFamily="34" charset="0"/>
              </a:rPr>
              <a:t>.</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pic>
        <p:nvPicPr>
          <p:cNvPr id="3" name="Рисунок 2"/>
          <p:cNvPicPr/>
          <p:nvPr/>
        </p:nvPicPr>
        <p:blipFill>
          <a:blip r:embed="rId2"/>
          <a:stretch>
            <a:fillRect/>
          </a:stretch>
        </p:blipFill>
        <p:spPr>
          <a:xfrm>
            <a:off x="6619932" y="1307129"/>
            <a:ext cx="2752725" cy="542925"/>
          </a:xfrm>
          <a:prstGeom prst="rect">
            <a:avLst/>
          </a:prstGeom>
        </p:spPr>
      </p:pic>
      <p:sp>
        <p:nvSpPr>
          <p:cNvPr id="4" name="Прямоугольник 3"/>
          <p:cNvSpPr/>
          <p:nvPr/>
        </p:nvSpPr>
        <p:spPr>
          <a:xfrm>
            <a:off x="790936" y="1250507"/>
            <a:ext cx="5112152" cy="646331"/>
          </a:xfrm>
          <a:prstGeom prst="rect">
            <a:avLst/>
          </a:prstGeom>
        </p:spPr>
        <p:txBody>
          <a:bodyPr wrap="square">
            <a:spAutoFit/>
          </a:bodyPr>
          <a:lstStyle/>
          <a:p>
            <a:r>
              <a:rPr lang="ru-RU" dirty="0" smtClean="0">
                <a:latin typeface="Times New Roman" panose="02020603050405020304" pitchFamily="18" charset="0"/>
                <a:ea typeface="Times New Roman" panose="02020603050405020304" pitchFamily="18" charset="0"/>
                <a:cs typeface="Calibri" panose="020F0502020204030204" pitchFamily="34" charset="0"/>
              </a:rPr>
              <a:t>В этом случае характеристическое сопротивление и затухание контура </a:t>
            </a:r>
            <a:endParaRPr lang="ru-RU" dirty="0"/>
          </a:p>
        </p:txBody>
      </p:sp>
      <p:sp>
        <p:nvSpPr>
          <p:cNvPr id="5" name="Прямоугольник 4"/>
          <p:cNvSpPr/>
          <p:nvPr/>
        </p:nvSpPr>
        <p:spPr>
          <a:xfrm>
            <a:off x="895109" y="2160077"/>
            <a:ext cx="6096000" cy="1380378"/>
          </a:xfrm>
          <a:prstGeom prst="rect">
            <a:avLst/>
          </a:prstGeom>
        </p:spPr>
        <p:txBody>
          <a:bodyPr>
            <a:spAutoFit/>
          </a:bodyPr>
          <a:lstStyle/>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С ростом частоты:</a:t>
            </a:r>
            <a:endParaRPr lang="ru-RU" dirty="0">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 активные потери в контуре </a:t>
            </a:r>
            <a:r>
              <a:rPr lang="ru-RU" i="1" dirty="0">
                <a:latin typeface="Times New Roman" panose="02020603050405020304" pitchFamily="18" charset="0"/>
                <a:ea typeface="Times New Roman" panose="02020603050405020304" pitchFamily="18" charset="0"/>
                <a:cs typeface="Calibri" panose="020F0502020204030204" pitchFamily="34" charset="0"/>
              </a:rPr>
              <a:t>r</a:t>
            </a:r>
            <a:r>
              <a:rPr lang="ru-RU" dirty="0">
                <a:latin typeface="Times New Roman" panose="02020603050405020304" pitchFamily="18" charset="0"/>
                <a:ea typeface="Times New Roman" panose="02020603050405020304" pitchFamily="18" charset="0"/>
                <a:cs typeface="Calibri" panose="020F0502020204030204" pitchFamily="34" charset="0"/>
              </a:rPr>
              <a:t> растут пропорционально росту частоты. В связи с этим и затухание контура и его добротность не зависят от изменения частоты;</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pic>
        <p:nvPicPr>
          <p:cNvPr id="7" name="Рисунок 6"/>
          <p:cNvPicPr>
            <a:picLocks noChangeAspect="1"/>
          </p:cNvPicPr>
          <p:nvPr/>
        </p:nvPicPr>
        <p:blipFill>
          <a:blip r:embed="rId3"/>
          <a:stretch>
            <a:fillRect/>
          </a:stretch>
        </p:blipFill>
        <p:spPr>
          <a:xfrm>
            <a:off x="7565766" y="2621646"/>
            <a:ext cx="895327" cy="706838"/>
          </a:xfrm>
          <a:prstGeom prst="rect">
            <a:avLst/>
          </a:prstGeom>
        </p:spPr>
      </p:pic>
      <p:sp>
        <p:nvSpPr>
          <p:cNvPr id="8" name="Прямоугольник 7"/>
          <p:cNvSpPr/>
          <p:nvPr/>
        </p:nvSpPr>
        <p:spPr>
          <a:xfrm>
            <a:off x="790936" y="3803694"/>
            <a:ext cx="4745402" cy="388696"/>
          </a:xfrm>
          <a:prstGeom prst="rect">
            <a:avLst/>
          </a:prstGeom>
        </p:spPr>
        <p:txBody>
          <a:bodyPr wrap="none">
            <a:spAutoFit/>
          </a:bodyPr>
          <a:lstStyle/>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 полоса пропускания контура на уровне 0,707</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pic>
        <p:nvPicPr>
          <p:cNvPr id="10" name="Рисунок 9"/>
          <p:cNvPicPr>
            <a:picLocks noChangeAspect="1"/>
          </p:cNvPicPr>
          <p:nvPr/>
        </p:nvPicPr>
        <p:blipFill>
          <a:blip r:embed="rId4"/>
          <a:stretch>
            <a:fillRect/>
          </a:stretch>
        </p:blipFill>
        <p:spPr>
          <a:xfrm>
            <a:off x="6116968" y="3748083"/>
            <a:ext cx="1452517" cy="360929"/>
          </a:xfrm>
          <a:prstGeom prst="rect">
            <a:avLst/>
          </a:prstGeom>
        </p:spPr>
      </p:pic>
      <p:sp>
        <p:nvSpPr>
          <p:cNvPr id="11" name="Прямоугольник 10"/>
          <p:cNvSpPr/>
          <p:nvPr/>
        </p:nvSpPr>
        <p:spPr>
          <a:xfrm>
            <a:off x="895109" y="4521996"/>
            <a:ext cx="3941656" cy="388696"/>
          </a:xfrm>
          <a:prstGeom prst="rect">
            <a:avLst/>
          </a:prstGeom>
        </p:spPr>
        <p:txBody>
          <a:bodyPr wrap="none">
            <a:spAutoFit/>
          </a:bodyPr>
          <a:lstStyle/>
          <a:p>
            <a:pPr algn="just">
              <a:lnSpc>
                <a:spcPct val="107000"/>
              </a:lnSpc>
              <a:spcAft>
                <a:spcPts val="800"/>
              </a:spcAft>
            </a:pPr>
            <a:r>
              <a:rPr lang="ru-RU" dirty="0" smtClean="0">
                <a:latin typeface="Times New Roman" panose="02020603050405020304" pitchFamily="18" charset="0"/>
                <a:ea typeface="Times New Roman" panose="02020603050405020304" pitchFamily="18" charset="0"/>
                <a:cs typeface="Calibri" panose="020F0502020204030204" pitchFamily="34" charset="0"/>
              </a:rPr>
              <a:t>- </a:t>
            </a:r>
            <a:r>
              <a:rPr lang="ru-RU" dirty="0">
                <a:latin typeface="Times New Roman" panose="02020603050405020304" pitchFamily="18" charset="0"/>
                <a:ea typeface="Times New Roman" panose="02020603050405020304" pitchFamily="18" charset="0"/>
                <a:cs typeface="Calibri" panose="020F0502020204030204" pitchFamily="34" charset="0"/>
              </a:rPr>
              <a:t>резонансное сопротивление контура</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pic>
        <p:nvPicPr>
          <p:cNvPr id="12" name="Рисунок 11"/>
          <p:cNvPicPr/>
          <p:nvPr/>
        </p:nvPicPr>
        <p:blipFill>
          <a:blip r:embed="rId5"/>
          <a:stretch>
            <a:fillRect/>
          </a:stretch>
        </p:blipFill>
        <p:spPr>
          <a:xfrm>
            <a:off x="5450365" y="4395548"/>
            <a:ext cx="1969007" cy="616290"/>
          </a:xfrm>
          <a:prstGeom prst="rect">
            <a:avLst/>
          </a:prstGeom>
        </p:spPr>
      </p:pic>
      <p:sp>
        <p:nvSpPr>
          <p:cNvPr id="13" name="Прямоугольник 12"/>
          <p:cNvSpPr/>
          <p:nvPr/>
        </p:nvSpPr>
        <p:spPr>
          <a:xfrm>
            <a:off x="790936" y="5176567"/>
            <a:ext cx="10228162" cy="1380378"/>
          </a:xfrm>
          <a:prstGeom prst="rect">
            <a:avLst/>
          </a:prstGeom>
        </p:spPr>
        <p:txBody>
          <a:bodyPr wrap="square">
            <a:spAutoFit/>
          </a:bodyPr>
          <a:lstStyle/>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увеличиваются пропорционально частоте.</a:t>
            </a:r>
            <a:endParaRPr lang="ru-RU" dirty="0">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Таким образом, при перекрытии широкого диапазона частот переменной емкостью </a:t>
            </a:r>
            <a:r>
              <a:rPr lang="ru-RU" i="1" dirty="0" err="1">
                <a:latin typeface="Times New Roman" panose="02020603050405020304" pitchFamily="18" charset="0"/>
                <a:ea typeface="Times New Roman" panose="02020603050405020304" pitchFamily="18" charset="0"/>
                <a:cs typeface="Calibri" panose="020F0502020204030204" pitchFamily="34" charset="0"/>
              </a:rPr>
              <a:t>С</a:t>
            </a:r>
            <a:r>
              <a:rPr lang="ru-RU" baseline="-25000" dirty="0" err="1">
                <a:latin typeface="Times New Roman" panose="02020603050405020304" pitchFamily="18" charset="0"/>
                <a:ea typeface="Times New Roman" panose="02020603050405020304" pitchFamily="18" charset="0"/>
                <a:cs typeface="Calibri" panose="020F0502020204030204" pitchFamily="34" charset="0"/>
              </a:rPr>
              <a:t>к</a:t>
            </a:r>
            <a:r>
              <a:rPr lang="ru-RU" dirty="0">
                <a:latin typeface="Times New Roman" panose="02020603050405020304" pitchFamily="18" charset="0"/>
                <a:ea typeface="Times New Roman" panose="02020603050405020304" pitchFamily="18" charset="0"/>
                <a:cs typeface="Calibri" panose="020F0502020204030204" pitchFamily="34" charset="0"/>
              </a:rPr>
              <a:t> параметры контура изменяются менее резко, поэтому желательна емкостная настройка. Настройку контура переменной индуктивностью можно применять в узком диапазоне изменения частоты.</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898655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1902105" y="571375"/>
            <a:ext cx="8584557" cy="369332"/>
          </a:xfrm>
          <a:prstGeom prst="rect">
            <a:avLst/>
          </a:prstGeom>
        </p:spPr>
        <p:txBody>
          <a:bodyPr wrap="square">
            <a:spAutoFit/>
          </a:bodyPr>
          <a:lstStyle/>
          <a:p>
            <a:pPr algn="ctr"/>
            <a:r>
              <a:rPr lang="ru-RU" b="1" dirty="0">
                <a:solidFill>
                  <a:srgbClr val="000000"/>
                </a:solidFill>
                <a:latin typeface="Times New Roman" panose="02020603050405020304" pitchFamily="18" charset="0"/>
              </a:rPr>
              <a:t>Классификация, основные параметры и эквиваленты радиоприемных </a:t>
            </a:r>
            <a:r>
              <a:rPr lang="ru-RU" b="1" dirty="0" smtClean="0">
                <a:solidFill>
                  <a:srgbClr val="000000"/>
                </a:solidFill>
                <a:latin typeface="Times New Roman" panose="02020603050405020304" pitchFamily="18" charset="0"/>
              </a:rPr>
              <a:t>антенн</a:t>
            </a:r>
            <a:endParaRPr lang="ru-RU" b="1" dirty="0"/>
          </a:p>
        </p:txBody>
      </p:sp>
      <p:sp>
        <p:nvSpPr>
          <p:cNvPr id="5" name="Прямоугольник 4"/>
          <p:cNvSpPr/>
          <p:nvPr/>
        </p:nvSpPr>
        <p:spPr>
          <a:xfrm>
            <a:off x="659757" y="1376355"/>
            <a:ext cx="10903352" cy="4549194"/>
          </a:xfrm>
          <a:prstGeom prst="rect">
            <a:avLst/>
          </a:prstGeom>
        </p:spPr>
        <p:txBody>
          <a:bodyPr wrap="square">
            <a:spAutoFit/>
          </a:bodyPr>
          <a:lstStyle/>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Открытые ненастроенные антенны радиовещательных и профессиональных радиоприемных антенн. Современные профессиональные радиоприемные устройства имеют сложные </a:t>
            </a:r>
            <a:r>
              <a:rPr lang="ru-RU" dirty="0" err="1">
                <a:latin typeface="Times New Roman" panose="02020603050405020304" pitchFamily="18" charset="0"/>
                <a:ea typeface="Times New Roman" panose="02020603050405020304" pitchFamily="18" charset="0"/>
                <a:cs typeface="Calibri" panose="020F0502020204030204" pitchFamily="34" charset="0"/>
              </a:rPr>
              <a:t>антеннофидерные</a:t>
            </a:r>
            <a:r>
              <a:rPr lang="ru-RU" dirty="0">
                <a:latin typeface="Times New Roman" panose="02020603050405020304" pitchFamily="18" charset="0"/>
                <a:ea typeface="Times New Roman" panose="02020603050405020304" pitchFamily="18" charset="0"/>
                <a:cs typeface="Calibri" panose="020F0502020204030204" pitchFamily="34" charset="0"/>
              </a:rPr>
              <a:t> устройства, включающие антенну или группу антенн, устройства согласования, симметрирования, </a:t>
            </a:r>
            <a:r>
              <a:rPr lang="ru-RU" dirty="0" err="1">
                <a:latin typeface="Times New Roman" panose="02020603050405020304" pitchFamily="18" charset="0"/>
                <a:ea typeface="Times New Roman" panose="02020603050405020304" pitchFamily="18" charset="0"/>
                <a:cs typeface="Calibri" panose="020F0502020204030204" pitchFamily="34" charset="0"/>
              </a:rPr>
              <a:t>фазирования</a:t>
            </a:r>
            <a:r>
              <a:rPr lang="ru-RU" dirty="0">
                <a:latin typeface="Times New Roman" panose="02020603050405020304" pitchFamily="18" charset="0"/>
                <a:ea typeface="Times New Roman" panose="02020603050405020304" pitchFamily="18" charset="0"/>
                <a:cs typeface="Calibri" panose="020F0502020204030204" pitchFamily="34" charset="0"/>
              </a:rPr>
              <a:t>, многократного использования антенн и соединительные (фидерные) линии. </a:t>
            </a:r>
            <a:endParaRPr lang="ru-RU" dirty="0">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В технике радиоприема применяются антенны: направленные и ненаправленные, настроенные и ненастроенные, внутренние (встроенные) и внешние, электрические и магнитные.</a:t>
            </a:r>
            <a:endParaRPr lang="ru-RU" dirty="0">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Режим настроенной антенны соответствует случаю равенства резонанса антенной цепи и частоты сигнала. Данный тип антенны применяется при работе радиоприемного устройства на одной частоте, в относительно узком диапазоне частот или случае подстройки антенны на частоту принимаемого сигнала.</a:t>
            </a:r>
            <a:endParaRPr lang="ru-RU" dirty="0">
              <a:latin typeface="Times New Roman" panose="02020603050405020304" pitchFamily="18" charset="0"/>
              <a:ea typeface="Calibri" panose="020F0502020204030204" pitchFamily="34" charset="0"/>
              <a:cs typeface="Calibri" panose="020F0502020204030204" pitchFamily="34" charset="0"/>
            </a:endParaRPr>
          </a:p>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Режим ненастроенной антенны соответствует неравенству резонанса антенной цепи и частоты сигнала. Этот режим используется для работы радиоприемного устройства в широком диапазоне частот, в границах которого резонансная частота антенной цепи не совпадает с частотами принимаемых сигналов. Сопротивление антенны в широком диапазоне частот имеет сложную зависимость, так как антенна имеет распределенные параметры.</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539973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p:cNvPicPr/>
          <p:nvPr/>
        </p:nvPicPr>
        <p:blipFill>
          <a:blip r:embed="rId2"/>
          <a:stretch>
            <a:fillRect/>
          </a:stretch>
        </p:blipFill>
        <p:spPr>
          <a:xfrm>
            <a:off x="3137361" y="638159"/>
            <a:ext cx="5940425" cy="2734310"/>
          </a:xfrm>
          <a:prstGeom prst="rect">
            <a:avLst/>
          </a:prstGeom>
        </p:spPr>
      </p:pic>
      <p:pic>
        <p:nvPicPr>
          <p:cNvPr id="6" name="Рисунок 5"/>
          <p:cNvPicPr/>
          <p:nvPr/>
        </p:nvPicPr>
        <p:blipFill>
          <a:blip r:embed="rId3"/>
          <a:stretch>
            <a:fillRect/>
          </a:stretch>
        </p:blipFill>
        <p:spPr>
          <a:xfrm>
            <a:off x="4631833" y="3887947"/>
            <a:ext cx="2951480" cy="1952625"/>
          </a:xfrm>
          <a:prstGeom prst="rect">
            <a:avLst/>
          </a:prstGeom>
        </p:spPr>
      </p:pic>
    </p:spTree>
    <p:extLst>
      <p:ext uri="{BB962C8B-B14F-4D97-AF65-F5344CB8AC3E}">
        <p14:creationId xmlns:p14="http://schemas.microsoft.com/office/powerpoint/2010/main" val="35958391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p:nvPr/>
        </p:nvPicPr>
        <p:blipFill>
          <a:blip r:embed="rId2"/>
          <a:stretch>
            <a:fillRect/>
          </a:stretch>
        </p:blipFill>
        <p:spPr>
          <a:xfrm>
            <a:off x="1540055" y="464201"/>
            <a:ext cx="5940425" cy="3290570"/>
          </a:xfrm>
          <a:prstGeom prst="rect">
            <a:avLst/>
          </a:prstGeom>
        </p:spPr>
      </p:pic>
      <p:pic>
        <p:nvPicPr>
          <p:cNvPr id="4" name="Рисунок 3"/>
          <p:cNvPicPr/>
          <p:nvPr/>
        </p:nvPicPr>
        <p:blipFill>
          <a:blip r:embed="rId3"/>
          <a:stretch>
            <a:fillRect/>
          </a:stretch>
        </p:blipFill>
        <p:spPr>
          <a:xfrm>
            <a:off x="4387427" y="4092225"/>
            <a:ext cx="5940425" cy="2122805"/>
          </a:xfrm>
          <a:prstGeom prst="rect">
            <a:avLst/>
          </a:prstGeom>
        </p:spPr>
      </p:pic>
    </p:spTree>
    <p:extLst>
      <p:ext uri="{BB962C8B-B14F-4D97-AF65-F5344CB8AC3E}">
        <p14:creationId xmlns:p14="http://schemas.microsoft.com/office/powerpoint/2010/main" val="29278052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p:nvPr/>
        </p:nvPicPr>
        <p:blipFill>
          <a:blip r:embed="rId2"/>
          <a:stretch>
            <a:fillRect/>
          </a:stretch>
        </p:blipFill>
        <p:spPr>
          <a:xfrm>
            <a:off x="2974694" y="532436"/>
            <a:ext cx="6473483" cy="3246067"/>
          </a:xfrm>
          <a:prstGeom prst="rect">
            <a:avLst/>
          </a:prstGeom>
        </p:spPr>
      </p:pic>
      <p:sp>
        <p:nvSpPr>
          <p:cNvPr id="4" name="Прямоугольник 3"/>
          <p:cNvSpPr/>
          <p:nvPr/>
        </p:nvSpPr>
        <p:spPr>
          <a:xfrm>
            <a:off x="1358097" y="4035595"/>
            <a:ext cx="7021974" cy="388696"/>
          </a:xfrm>
          <a:prstGeom prst="rect">
            <a:avLst/>
          </a:prstGeom>
        </p:spPr>
        <p:txBody>
          <a:bodyPr wrap="square">
            <a:spAutoFit/>
          </a:bodyPr>
          <a:lstStyle/>
          <a:p>
            <a:pPr algn="just">
              <a:lnSpc>
                <a:spcPct val="107000"/>
              </a:lnSpc>
              <a:spcAft>
                <a:spcPts val="800"/>
              </a:spcAft>
            </a:pPr>
            <a:r>
              <a:rPr lang="ru-RU" dirty="0">
                <a:latin typeface="Times New Roman" panose="02020603050405020304" pitchFamily="18" charset="0"/>
                <a:ea typeface="Times New Roman" panose="02020603050405020304" pitchFamily="18" charset="0"/>
                <a:cs typeface="Calibri" panose="020F0502020204030204" pitchFamily="34" charset="0"/>
              </a:rPr>
              <a:t>Действующая высота магнитной антенны определяется выражением</a:t>
            </a:r>
            <a:endParaRPr lang="ru-RU" dirty="0">
              <a:effectLst/>
              <a:latin typeface="Times New Roman" panose="02020603050405020304" pitchFamily="18" charset="0"/>
              <a:ea typeface="Calibri" panose="020F0502020204030204" pitchFamily="34" charset="0"/>
              <a:cs typeface="Calibri" panose="020F0502020204030204" pitchFamily="34" charset="0"/>
            </a:endParaRPr>
          </a:p>
        </p:txBody>
      </p:sp>
      <p:pic>
        <p:nvPicPr>
          <p:cNvPr id="5" name="Рисунок 4" descr="Изображение выглядит как Шрифт, рукописный текст, текст, число&#10;&#10;Контент, сгенерированный ИИ, может содержать ошибки."/>
          <p:cNvPicPr/>
          <p:nvPr/>
        </p:nvPicPr>
        <p:blipFill>
          <a:blip r:embed="rId3"/>
          <a:stretch>
            <a:fillRect/>
          </a:stretch>
        </p:blipFill>
        <p:spPr>
          <a:xfrm>
            <a:off x="8924082" y="3948320"/>
            <a:ext cx="1810976" cy="649905"/>
          </a:xfrm>
          <a:prstGeom prst="rect">
            <a:avLst/>
          </a:prstGeom>
        </p:spPr>
      </p:pic>
      <p:pic>
        <p:nvPicPr>
          <p:cNvPr id="6" name="Рисунок 5"/>
          <p:cNvPicPr>
            <a:picLocks noChangeAspect="1"/>
          </p:cNvPicPr>
          <p:nvPr/>
        </p:nvPicPr>
        <p:blipFill>
          <a:blip r:embed="rId4"/>
          <a:stretch>
            <a:fillRect/>
          </a:stretch>
        </p:blipFill>
        <p:spPr>
          <a:xfrm>
            <a:off x="3230785" y="4976387"/>
            <a:ext cx="5812278" cy="1420609"/>
          </a:xfrm>
          <a:prstGeom prst="rect">
            <a:avLst/>
          </a:prstGeom>
        </p:spPr>
      </p:pic>
    </p:spTree>
    <p:extLst>
      <p:ext uri="{BB962C8B-B14F-4D97-AF65-F5344CB8AC3E}">
        <p14:creationId xmlns:p14="http://schemas.microsoft.com/office/powerpoint/2010/main" val="35240468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4268340"/>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2805</Words>
  <Application>Microsoft Office PowerPoint</Application>
  <PresentationFormat>Широкоэкранный</PresentationFormat>
  <Paragraphs>148</Paragraphs>
  <Slides>32</Slides>
  <Notes>0</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32</vt:i4>
      </vt:variant>
    </vt:vector>
  </HeadingPairs>
  <TitlesOfParts>
    <vt:vector size="40" baseType="lpstr">
      <vt:lpstr>Arial</vt:lpstr>
      <vt:lpstr>Calibri</vt:lpstr>
      <vt:lpstr>Calibri Light</vt:lpstr>
      <vt:lpstr>Cambria Math</vt:lpstr>
      <vt:lpstr>Symbol</vt:lpstr>
      <vt:lpstr>Times New Roman</vt:lpstr>
      <vt:lpstr>Wingdings</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2023-12-01T18:04:15Z</dcterms:created>
  <dcterms:modified xsi:type="dcterms:W3CDTF">2026-06-24T13:25:50Z</dcterms:modified>
</cp:coreProperties>
</file>