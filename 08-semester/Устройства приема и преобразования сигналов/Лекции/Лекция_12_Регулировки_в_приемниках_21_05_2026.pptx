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sldIdLst>
    <p:sldId id="436" r:id="rId2"/>
    <p:sldId id="460" r:id="rId3"/>
    <p:sldId id="489" r:id="rId4"/>
    <p:sldId id="490" r:id="rId5"/>
    <p:sldId id="491" r:id="rId6"/>
    <p:sldId id="524" r:id="rId7"/>
    <p:sldId id="525" r:id="rId8"/>
    <p:sldId id="526" r:id="rId9"/>
    <p:sldId id="539" r:id="rId10"/>
    <p:sldId id="527" r:id="rId11"/>
    <p:sldId id="528" r:id="rId12"/>
    <p:sldId id="529" r:id="rId13"/>
    <p:sldId id="530" r:id="rId14"/>
    <p:sldId id="531" r:id="rId15"/>
    <p:sldId id="532" r:id="rId16"/>
    <p:sldId id="533" r:id="rId17"/>
    <p:sldId id="534" r:id="rId18"/>
    <p:sldId id="535" r:id="rId19"/>
    <p:sldId id="536" r:id="rId20"/>
    <p:sldId id="537" r:id="rId21"/>
  </p:sldIdLst>
  <p:sldSz cx="12192000" cy="6858000"/>
  <p:notesSz cx="6797675" cy="9926638"/>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3" autoAdjust="0"/>
    <p:restoredTop sz="94660"/>
  </p:normalViewPr>
  <p:slideViewPr>
    <p:cSldViewPr snapToGrid="0">
      <p:cViewPr varScale="1">
        <p:scale>
          <a:sx n="69" d="100"/>
          <a:sy n="69" d="100"/>
        </p:scale>
        <p:origin x="96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p:cNvSpPr>
            <a:spLocks noGrp="1"/>
          </p:cNvSpPr>
          <p:nvPr>
            <p:ph type="dt" sz="half" idx="10"/>
          </p:nvPr>
        </p:nvSpPr>
        <p:spPr/>
        <p:txBody>
          <a:bodyPr/>
          <a:lstStyle/>
          <a:p>
            <a:fld id="{1C5E73EE-4368-447C-9366-BCD491A3307C}" type="datetimeFigureOut">
              <a:rPr lang="ru-RU" smtClean="0"/>
              <a:t>21.05.2026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88BA643E-3F5E-40B0-8B70-0C32BA587BDE}" type="slidenum">
              <a:rPr lang="ru-RU" smtClean="0"/>
              <a:t>‹#›</a:t>
            </a:fld>
            <a:endParaRPr lang="ru-RU"/>
          </a:p>
        </p:txBody>
      </p:sp>
    </p:spTree>
    <p:extLst>
      <p:ext uri="{BB962C8B-B14F-4D97-AF65-F5344CB8AC3E}">
        <p14:creationId xmlns:p14="http://schemas.microsoft.com/office/powerpoint/2010/main" val="4122828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1C5E73EE-4368-447C-9366-BCD491A3307C}" type="datetimeFigureOut">
              <a:rPr lang="ru-RU" smtClean="0"/>
              <a:t>21.05.2026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88BA643E-3F5E-40B0-8B70-0C32BA587BDE}" type="slidenum">
              <a:rPr lang="ru-RU" smtClean="0"/>
              <a:t>‹#›</a:t>
            </a:fld>
            <a:endParaRPr lang="ru-RU"/>
          </a:p>
        </p:txBody>
      </p:sp>
    </p:spTree>
    <p:extLst>
      <p:ext uri="{BB962C8B-B14F-4D97-AF65-F5344CB8AC3E}">
        <p14:creationId xmlns:p14="http://schemas.microsoft.com/office/powerpoint/2010/main" val="33168477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1C5E73EE-4368-447C-9366-BCD491A3307C}" type="datetimeFigureOut">
              <a:rPr lang="ru-RU" smtClean="0"/>
              <a:t>21.05.2026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88BA643E-3F5E-40B0-8B70-0C32BA587BDE}" type="slidenum">
              <a:rPr lang="ru-RU" smtClean="0"/>
              <a:t>‹#›</a:t>
            </a:fld>
            <a:endParaRPr lang="ru-RU"/>
          </a:p>
        </p:txBody>
      </p:sp>
    </p:spTree>
    <p:extLst>
      <p:ext uri="{BB962C8B-B14F-4D97-AF65-F5344CB8AC3E}">
        <p14:creationId xmlns:p14="http://schemas.microsoft.com/office/powerpoint/2010/main" val="39286342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1C5E73EE-4368-447C-9366-BCD491A3307C}" type="datetimeFigureOut">
              <a:rPr lang="ru-RU" smtClean="0"/>
              <a:t>21.05.2026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88BA643E-3F5E-40B0-8B70-0C32BA587BDE}" type="slidenum">
              <a:rPr lang="ru-RU" smtClean="0"/>
              <a:t>‹#›</a:t>
            </a:fld>
            <a:endParaRPr lang="ru-RU"/>
          </a:p>
        </p:txBody>
      </p:sp>
    </p:spTree>
    <p:extLst>
      <p:ext uri="{BB962C8B-B14F-4D97-AF65-F5344CB8AC3E}">
        <p14:creationId xmlns:p14="http://schemas.microsoft.com/office/powerpoint/2010/main" val="20480970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1C5E73EE-4368-447C-9366-BCD491A3307C}" type="datetimeFigureOut">
              <a:rPr lang="ru-RU" smtClean="0"/>
              <a:t>21.05.2026</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88BA643E-3F5E-40B0-8B70-0C32BA587BDE}" type="slidenum">
              <a:rPr lang="ru-RU" smtClean="0"/>
              <a:t>‹#›</a:t>
            </a:fld>
            <a:endParaRPr lang="ru-RU"/>
          </a:p>
        </p:txBody>
      </p:sp>
    </p:spTree>
    <p:extLst>
      <p:ext uri="{BB962C8B-B14F-4D97-AF65-F5344CB8AC3E}">
        <p14:creationId xmlns:p14="http://schemas.microsoft.com/office/powerpoint/2010/main" val="6228793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1C5E73EE-4368-447C-9366-BCD491A3307C}" type="datetimeFigureOut">
              <a:rPr lang="ru-RU" smtClean="0"/>
              <a:t>21.05.2026</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88BA643E-3F5E-40B0-8B70-0C32BA587BDE}" type="slidenum">
              <a:rPr lang="ru-RU" smtClean="0"/>
              <a:t>‹#›</a:t>
            </a:fld>
            <a:endParaRPr lang="ru-RU"/>
          </a:p>
        </p:txBody>
      </p:sp>
    </p:spTree>
    <p:extLst>
      <p:ext uri="{BB962C8B-B14F-4D97-AF65-F5344CB8AC3E}">
        <p14:creationId xmlns:p14="http://schemas.microsoft.com/office/powerpoint/2010/main" val="23863689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1C5E73EE-4368-447C-9366-BCD491A3307C}" type="datetimeFigureOut">
              <a:rPr lang="ru-RU" smtClean="0"/>
              <a:t>21.05.2026</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88BA643E-3F5E-40B0-8B70-0C32BA587BDE}" type="slidenum">
              <a:rPr lang="ru-RU" smtClean="0"/>
              <a:t>‹#›</a:t>
            </a:fld>
            <a:endParaRPr lang="ru-RU"/>
          </a:p>
        </p:txBody>
      </p:sp>
    </p:spTree>
    <p:extLst>
      <p:ext uri="{BB962C8B-B14F-4D97-AF65-F5344CB8AC3E}">
        <p14:creationId xmlns:p14="http://schemas.microsoft.com/office/powerpoint/2010/main" val="9865415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1C5E73EE-4368-447C-9366-BCD491A3307C}" type="datetimeFigureOut">
              <a:rPr lang="ru-RU" smtClean="0"/>
              <a:t>21.05.2026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88BA643E-3F5E-40B0-8B70-0C32BA587BDE}" type="slidenum">
              <a:rPr lang="ru-RU" smtClean="0"/>
              <a:t>‹#›</a:t>
            </a:fld>
            <a:endParaRPr lang="ru-RU"/>
          </a:p>
        </p:txBody>
      </p:sp>
    </p:spTree>
    <p:extLst>
      <p:ext uri="{BB962C8B-B14F-4D97-AF65-F5344CB8AC3E}">
        <p14:creationId xmlns:p14="http://schemas.microsoft.com/office/powerpoint/2010/main" val="2285580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1C5E73EE-4368-447C-9366-BCD491A3307C}" type="datetimeFigureOut">
              <a:rPr lang="ru-RU" smtClean="0"/>
              <a:t>21.05.2026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88BA643E-3F5E-40B0-8B70-0C32BA587BDE}" type="slidenum">
              <a:rPr lang="ru-RU" smtClean="0"/>
              <a:t>‹#›</a:t>
            </a:fld>
            <a:endParaRPr lang="ru-RU"/>
          </a:p>
        </p:txBody>
      </p:sp>
    </p:spTree>
    <p:extLst>
      <p:ext uri="{BB962C8B-B14F-4D97-AF65-F5344CB8AC3E}">
        <p14:creationId xmlns:p14="http://schemas.microsoft.com/office/powerpoint/2010/main" val="42239795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1C5E73EE-4368-447C-9366-BCD491A3307C}" type="datetimeFigureOut">
              <a:rPr lang="ru-RU" smtClean="0"/>
              <a:t>21.05.2026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88BA643E-3F5E-40B0-8B70-0C32BA587BDE}" type="slidenum">
              <a:rPr lang="ru-RU" smtClean="0"/>
              <a:t>‹#›</a:t>
            </a:fld>
            <a:endParaRPr lang="ru-RU"/>
          </a:p>
        </p:txBody>
      </p:sp>
    </p:spTree>
    <p:extLst>
      <p:ext uri="{BB962C8B-B14F-4D97-AF65-F5344CB8AC3E}">
        <p14:creationId xmlns:p14="http://schemas.microsoft.com/office/powerpoint/2010/main" val="34464392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1C5E73EE-4368-447C-9366-BCD491A3307C}" type="datetimeFigureOut">
              <a:rPr lang="ru-RU" smtClean="0"/>
              <a:t>21.05.2026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88BA643E-3F5E-40B0-8B70-0C32BA587BDE}" type="slidenum">
              <a:rPr lang="ru-RU" smtClean="0"/>
              <a:t>‹#›</a:t>
            </a:fld>
            <a:endParaRPr lang="ru-RU"/>
          </a:p>
        </p:txBody>
      </p:sp>
    </p:spTree>
    <p:extLst>
      <p:ext uri="{BB962C8B-B14F-4D97-AF65-F5344CB8AC3E}">
        <p14:creationId xmlns:p14="http://schemas.microsoft.com/office/powerpoint/2010/main" val="18979402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5E73EE-4368-447C-9366-BCD491A3307C}" type="datetimeFigureOut">
              <a:rPr lang="ru-RU" smtClean="0"/>
              <a:t>21.05.2026</a:t>
            </a:fld>
            <a:endParaRPr lang="ru-RU"/>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BA643E-3F5E-40B0-8B70-0C32BA587BDE}" type="slidenum">
              <a:rPr lang="ru-RU" smtClean="0"/>
              <a:t>‹#›</a:t>
            </a:fld>
            <a:endParaRPr lang="ru-RU"/>
          </a:p>
        </p:txBody>
      </p:sp>
    </p:spTree>
    <p:extLst>
      <p:ext uri="{BB962C8B-B14F-4D97-AF65-F5344CB8AC3E}">
        <p14:creationId xmlns:p14="http://schemas.microsoft.com/office/powerpoint/2010/main" val="432485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938528" y="1412687"/>
            <a:ext cx="7924800" cy="1723933"/>
          </a:xfrm>
          <a:prstGeom prst="rect">
            <a:avLst/>
          </a:prstGeom>
        </p:spPr>
        <p:txBody>
          <a:bodyPr wrap="square">
            <a:spAutoFit/>
          </a:bodyPr>
          <a:lstStyle/>
          <a:p>
            <a:pPr algn="ctr"/>
            <a:r>
              <a:rPr lang="ru-RU" sz="2400" b="1" dirty="0">
                <a:latin typeface="Times New Roman" panose="02020603050405020304" pitchFamily="18" charset="0"/>
                <a:cs typeface="Times New Roman" panose="02020603050405020304" pitchFamily="18" charset="0"/>
              </a:rPr>
              <a:t>Лекция 12. </a:t>
            </a:r>
            <a:endParaRPr lang="en-US" sz="2400" b="1" dirty="0">
              <a:latin typeface="Times New Roman" panose="02020603050405020304" pitchFamily="18" charset="0"/>
              <a:cs typeface="Times New Roman" panose="02020603050405020304" pitchFamily="18" charset="0"/>
            </a:endParaRPr>
          </a:p>
          <a:p>
            <a:pPr algn="ctr"/>
            <a:endParaRPr lang="en-US" sz="2400" b="1" dirty="0">
              <a:latin typeface="Times New Roman" panose="02020603050405020304" pitchFamily="18" charset="0"/>
              <a:cs typeface="Times New Roman" panose="02020603050405020304" pitchFamily="18" charset="0"/>
            </a:endParaRPr>
          </a:p>
          <a:p>
            <a:pPr algn="ctr">
              <a:lnSpc>
                <a:spcPct val="107000"/>
              </a:lnSpc>
              <a:spcAft>
                <a:spcPts val="800"/>
              </a:spcAft>
            </a:pPr>
            <a:r>
              <a:rPr lang="ru-RU" sz="2400" dirty="0">
                <a:latin typeface="Times New Roman" panose="02020603050405020304" pitchFamily="18" charset="0"/>
                <a:ea typeface="Calibri" panose="020F0502020204030204" pitchFamily="34" charset="0"/>
                <a:cs typeface="Calibri" panose="020F0502020204030204" pitchFamily="34" charset="0"/>
              </a:rPr>
              <a:t>Устройства приема и преобразования сигналов РЛ6-81</a:t>
            </a:r>
          </a:p>
          <a:p>
            <a:pPr algn="ctr">
              <a:lnSpc>
                <a:spcPct val="107000"/>
              </a:lnSpc>
              <a:spcAft>
                <a:spcPts val="800"/>
              </a:spcAft>
            </a:pPr>
            <a:r>
              <a:rPr lang="ru-RU" sz="2400" b="1" dirty="0">
                <a:latin typeface="Times New Roman" panose="02020603050405020304" pitchFamily="18" charset="0"/>
                <a:ea typeface="Times New Roman" panose="02020603050405020304" pitchFamily="18" charset="0"/>
                <a:cs typeface="Calibri" panose="020F0502020204030204" pitchFamily="34" charset="0"/>
              </a:rPr>
              <a:t>Тема 7. Регулировки в радиоприемниках</a:t>
            </a:r>
            <a:endParaRPr lang="ru-RU" sz="2400" dirty="0">
              <a:latin typeface="Times New Roman" panose="02020603050405020304" pitchFamily="18"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9354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752354" y="363522"/>
            <a:ext cx="10648709" cy="5144806"/>
          </a:xfrm>
          <a:prstGeom prst="rect">
            <a:avLst/>
          </a:prstGeom>
        </p:spPr>
        <p:txBody>
          <a:bodyPr wrap="square">
            <a:spAutoFit/>
          </a:bodyPr>
          <a:lstStyle/>
          <a:p>
            <a:pPr algn="just">
              <a:lnSpc>
                <a:spcPct val="107000"/>
              </a:lnSpc>
              <a:spcAft>
                <a:spcPts val="800"/>
              </a:spcAft>
            </a:pPr>
            <a:r>
              <a:rPr lang="ru-RU" b="1" dirty="0">
                <a:latin typeface="Times New Roman" panose="02020603050405020304" pitchFamily="18" charset="0"/>
                <a:ea typeface="Times New Roman" panose="02020603050405020304" pitchFamily="18" charset="0"/>
                <a:cs typeface="Calibri" panose="020F0502020204030204" pitchFamily="34" charset="0"/>
              </a:rPr>
              <a:t>1. Назначение и виды регулировок в РПУ</a:t>
            </a:r>
          </a:p>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В процессе изготовления и эксплуатации РПУ для получения максимального качества приема необходимы регулировки ряда его показателей:</a:t>
            </a:r>
          </a:p>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 частоты настройки;</a:t>
            </a:r>
          </a:p>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 коэффициента усиления;</a:t>
            </a:r>
          </a:p>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 полосы пропускания и др.</a:t>
            </a:r>
          </a:p>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 селективности,</a:t>
            </a:r>
          </a:p>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которые обеспечиваются соответствующими регуляторами.</a:t>
            </a:r>
          </a:p>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Регулировка может быть ручной и автоматической. Ручная регулировка, как правило, применяется при изготовлении и первичной настройке исходных показателей РПУ. Автоматическая регулировка применяется для поддержки показателей РПУ на требуемом уровне в процессе эксплуатации. Некоторые регулировки выполняются смешанными (и ручными и автоматическими). В схемах регулирования, как правило, используются микропроцессоры. Кроме того, в ряде случаев используется дистанционное управление.</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762359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2F65F-A2AB-36A4-A9B6-228B060C9B5B}"/>
            </a:ext>
          </a:extLst>
        </p:cNvPr>
        <p:cNvGrpSpPr/>
        <p:nvPr/>
      </p:nvGrpSpPr>
      <p:grpSpPr>
        <a:xfrm>
          <a:off x="0" y="0"/>
          <a:ext cx="0" cy="0"/>
          <a:chOff x="0" y="0"/>
          <a:chExt cx="0" cy="0"/>
        </a:xfrm>
      </p:grpSpPr>
      <p:sp>
        <p:nvSpPr>
          <p:cNvPr id="2" name="Прямоугольник 1"/>
          <p:cNvSpPr/>
          <p:nvPr/>
        </p:nvSpPr>
        <p:spPr>
          <a:xfrm>
            <a:off x="937549" y="284756"/>
            <a:ext cx="10544537" cy="1482970"/>
          </a:xfrm>
          <a:prstGeom prst="rect">
            <a:avLst/>
          </a:prstGeom>
        </p:spPr>
        <p:txBody>
          <a:bodyPr wrap="square">
            <a:spAutoFit/>
          </a:bodyPr>
          <a:lstStyle/>
          <a:p>
            <a:pPr algn="just">
              <a:lnSpc>
                <a:spcPct val="107000"/>
              </a:lnSpc>
              <a:spcAft>
                <a:spcPts val="800"/>
              </a:spcAft>
            </a:pPr>
            <a:r>
              <a:rPr lang="ru-RU" b="1" dirty="0">
                <a:latin typeface="Times New Roman" panose="02020603050405020304" pitchFamily="18" charset="0"/>
                <a:ea typeface="Calibri" panose="020F0502020204030204" pitchFamily="34" charset="0"/>
                <a:cs typeface="Calibri" panose="020F0502020204030204" pitchFamily="34" charset="0"/>
              </a:rPr>
              <a:t>2. Принцип действия, классификация систем автоматической регулировки усиления (АРУ)</a:t>
            </a:r>
          </a:p>
          <a:p>
            <a:pPr algn="just">
              <a:lnSpc>
                <a:spcPct val="107000"/>
              </a:lnSpc>
              <a:spcAft>
                <a:spcPts val="800"/>
              </a:spcAft>
            </a:pPr>
            <a:r>
              <a:rPr lang="ru-RU" dirty="0">
                <a:latin typeface="Times New Roman" panose="02020603050405020304" pitchFamily="18" charset="0"/>
                <a:ea typeface="Calibri" panose="020F0502020204030204" pitchFamily="34" charset="0"/>
                <a:cs typeface="Calibri" panose="020F0502020204030204" pitchFamily="34" charset="0"/>
              </a:rPr>
              <a:t>Система АРУ предназначена для обеспечения малых изменений уровня сигнала на выходе тракта приемника  до детектора при больших изменениях уровня сигнала на его входе.</a:t>
            </a:r>
          </a:p>
          <a:p>
            <a:pPr algn="just">
              <a:lnSpc>
                <a:spcPct val="107000"/>
              </a:lnSpc>
              <a:spcAft>
                <a:spcPts val="800"/>
              </a:spcAft>
            </a:pPr>
            <a:r>
              <a:rPr lang="ru-RU" dirty="0">
                <a:effectLst/>
                <a:latin typeface="Times New Roman" panose="02020603050405020304" pitchFamily="18" charset="0"/>
                <a:ea typeface="Calibri" panose="020F0502020204030204" pitchFamily="34" charset="0"/>
                <a:cs typeface="Calibri" panose="020F0502020204030204" pitchFamily="34" charset="0"/>
              </a:rPr>
              <a:t>Примем</a:t>
            </a:r>
          </a:p>
        </p:txBody>
      </p:sp>
      <p:pic>
        <p:nvPicPr>
          <p:cNvPr id="4" name="Рисунок 3"/>
          <p:cNvPicPr>
            <a:picLocks noChangeAspect="1"/>
          </p:cNvPicPr>
          <p:nvPr/>
        </p:nvPicPr>
        <p:blipFill>
          <a:blip r:embed="rId2"/>
          <a:stretch>
            <a:fillRect/>
          </a:stretch>
        </p:blipFill>
        <p:spPr>
          <a:xfrm>
            <a:off x="2341100" y="1356613"/>
            <a:ext cx="2978197" cy="822225"/>
          </a:xfrm>
          <a:prstGeom prst="rect">
            <a:avLst/>
          </a:prstGeom>
        </p:spPr>
      </p:pic>
      <p:pic>
        <p:nvPicPr>
          <p:cNvPr id="5" name="Рисунок 4"/>
          <p:cNvPicPr>
            <a:picLocks noChangeAspect="1"/>
          </p:cNvPicPr>
          <p:nvPr/>
        </p:nvPicPr>
        <p:blipFill>
          <a:blip r:embed="rId3"/>
          <a:stretch>
            <a:fillRect/>
          </a:stretch>
        </p:blipFill>
        <p:spPr>
          <a:xfrm>
            <a:off x="798654" y="3250695"/>
            <a:ext cx="4846054" cy="2674578"/>
          </a:xfrm>
          <a:prstGeom prst="rect">
            <a:avLst/>
          </a:prstGeom>
        </p:spPr>
      </p:pic>
      <p:sp>
        <p:nvSpPr>
          <p:cNvPr id="7" name="Прямоугольник 6"/>
          <p:cNvSpPr/>
          <p:nvPr/>
        </p:nvSpPr>
        <p:spPr>
          <a:xfrm>
            <a:off x="937549" y="2178838"/>
            <a:ext cx="10637135" cy="1384995"/>
          </a:xfrm>
          <a:prstGeom prst="rect">
            <a:avLst/>
          </a:prstGeom>
        </p:spPr>
        <p:txBody>
          <a:bodyPr wrap="square">
            <a:spAutoFit/>
          </a:bodyPr>
          <a:lstStyle/>
          <a:p>
            <a:r>
              <a:rPr lang="ru-RU" dirty="0">
                <a:solidFill>
                  <a:srgbClr val="000000"/>
                </a:solidFill>
                <a:latin typeface="Times New Roman" panose="02020603050405020304" pitchFamily="18" charset="0"/>
                <a:cs typeface="Times New Roman" panose="02020603050405020304" pitchFamily="18" charset="0"/>
              </a:rPr>
              <a:t>Для обеспечения правильного соотношения m и n нужно, чтобы</a:t>
            </a:r>
            <a:r>
              <a:rPr lang="en-US" dirty="0">
                <a:solidFill>
                  <a:srgbClr val="000000"/>
                </a:solidFill>
                <a:latin typeface="Times New Roman" panose="02020603050405020304" pitchFamily="18" charset="0"/>
                <a:cs typeface="Times New Roman" panose="02020603050405020304" pitchFamily="18" charset="0"/>
              </a:rPr>
              <a:t> </a:t>
            </a:r>
            <a:r>
              <a:rPr lang="ru-RU" sz="2400" dirty="0" err="1">
                <a:solidFill>
                  <a:srgbClr val="000000"/>
                </a:solidFill>
                <a:latin typeface="Times New Roman" panose="02020603050405020304" pitchFamily="18" charset="0"/>
                <a:cs typeface="Times New Roman" panose="02020603050405020304" pitchFamily="18" charset="0"/>
              </a:rPr>
              <a:t>U</a:t>
            </a:r>
            <a:r>
              <a:rPr lang="ru-RU" sz="1600" dirty="0" err="1">
                <a:solidFill>
                  <a:srgbClr val="000000"/>
                </a:solidFill>
                <a:latin typeface="Times New Roman" panose="02020603050405020304" pitchFamily="18" charset="0"/>
                <a:cs typeface="Times New Roman" panose="02020603050405020304" pitchFamily="18" charset="0"/>
              </a:rPr>
              <a:t>вх</a:t>
            </a:r>
            <a:r>
              <a:rPr lang="ru-RU" sz="1600" dirty="0">
                <a:solidFill>
                  <a:srgbClr val="000000"/>
                </a:solidFill>
                <a:latin typeface="Times New Roman" panose="02020603050405020304" pitchFamily="18" charset="0"/>
                <a:cs typeface="Times New Roman" panose="02020603050405020304" pitchFamily="18" charset="0"/>
              </a:rPr>
              <a:t> </a:t>
            </a:r>
            <a:r>
              <a:rPr lang="ru-RU" sz="1600" dirty="0" err="1">
                <a:solidFill>
                  <a:srgbClr val="000000"/>
                </a:solidFill>
                <a:latin typeface="Times New Roman" panose="02020603050405020304" pitchFamily="18" charset="0"/>
                <a:cs typeface="Times New Roman" panose="02020603050405020304" pitchFamily="18" charset="0"/>
              </a:rPr>
              <a:t>max</a:t>
            </a:r>
            <a:r>
              <a:rPr lang="ru-RU" sz="1600" dirty="0">
                <a:solidFill>
                  <a:srgbClr val="000000"/>
                </a:solidFill>
                <a:latin typeface="Times New Roman" panose="02020603050405020304" pitchFamily="18" charset="0"/>
                <a:cs typeface="Times New Roman" panose="02020603050405020304" pitchFamily="18" charset="0"/>
              </a:rPr>
              <a:t> </a:t>
            </a:r>
            <a:r>
              <a:rPr lang="en-US" sz="1600" dirty="0">
                <a:solidFill>
                  <a:srgbClr val="000000"/>
                </a:solidFill>
                <a:latin typeface="Times New Roman" panose="02020603050405020304" pitchFamily="18" charset="0"/>
                <a:cs typeface="Times New Roman" panose="02020603050405020304" pitchFamily="18" charset="0"/>
              </a:rPr>
              <a:t> </a:t>
            </a:r>
            <a:r>
              <a:rPr lang="en-US" dirty="0">
                <a:solidFill>
                  <a:srgbClr val="000000"/>
                </a:solidFill>
                <a:latin typeface="Times New Roman" panose="02020603050405020304" pitchFamily="18" charset="0"/>
                <a:cs typeface="Times New Roman" panose="02020603050405020304" pitchFamily="18" charset="0"/>
              </a:rPr>
              <a:t>c</a:t>
            </a:r>
            <a:r>
              <a:rPr lang="ru-RU" dirty="0" err="1">
                <a:solidFill>
                  <a:srgbClr val="000000"/>
                </a:solidFill>
                <a:latin typeface="Times New Roman" panose="02020603050405020304" pitchFamily="18" charset="0"/>
                <a:cs typeface="Times New Roman" panose="02020603050405020304" pitchFamily="18" charset="0"/>
              </a:rPr>
              <a:t>оответствовал</a:t>
            </a:r>
            <a:r>
              <a:rPr lang="ru-RU" dirty="0">
                <a:solidFill>
                  <a:srgbClr val="000000"/>
                </a:solidFill>
                <a:latin typeface="Times New Roman" panose="02020603050405020304" pitchFamily="18" charset="0"/>
                <a:cs typeface="Times New Roman" panose="02020603050405020304" pitchFamily="18" charset="0"/>
              </a:rPr>
              <a:t> минимальный коэффициент усиления</a:t>
            </a:r>
            <a:r>
              <a:rPr lang="en-US" dirty="0">
                <a:solidFill>
                  <a:srgbClr val="000000"/>
                </a:solidFill>
                <a:latin typeface="Times New Roman" panose="02020603050405020304" pitchFamily="18" charset="0"/>
                <a:cs typeface="Times New Roman" panose="02020603050405020304" pitchFamily="18" charset="0"/>
              </a:rPr>
              <a:t> </a:t>
            </a:r>
            <a:r>
              <a:rPr lang="ru-RU" dirty="0">
                <a:solidFill>
                  <a:srgbClr val="000000"/>
                </a:solidFill>
                <a:latin typeface="Times New Roman" panose="02020603050405020304" pitchFamily="18" charset="0"/>
                <a:cs typeface="Times New Roman" panose="02020603050405020304" pitchFamily="18" charset="0"/>
              </a:rPr>
              <a:t>приемного тракта </a:t>
            </a:r>
            <a:r>
              <a:rPr lang="ru-RU" sz="2000" dirty="0" err="1">
                <a:solidFill>
                  <a:srgbClr val="000000"/>
                </a:solidFill>
                <a:latin typeface="Times New Roman" panose="02020603050405020304" pitchFamily="18" charset="0"/>
                <a:cs typeface="Times New Roman" panose="02020603050405020304" pitchFamily="18" charset="0"/>
              </a:rPr>
              <a:t>K</a:t>
            </a:r>
            <a:r>
              <a:rPr lang="ru-RU" sz="1600" dirty="0" err="1">
                <a:solidFill>
                  <a:srgbClr val="000000"/>
                </a:solidFill>
                <a:latin typeface="Times New Roman" panose="02020603050405020304" pitchFamily="18" charset="0"/>
                <a:cs typeface="Times New Roman" panose="02020603050405020304" pitchFamily="18" charset="0"/>
              </a:rPr>
              <a:t>min</a:t>
            </a:r>
            <a:r>
              <a:rPr lang="ru-RU" sz="800" dirty="0">
                <a:solidFill>
                  <a:srgbClr val="000000"/>
                </a:solidFill>
                <a:latin typeface="Times New Roman" panose="02020603050405020304" pitchFamily="18" charset="0"/>
                <a:cs typeface="Times New Roman" panose="02020603050405020304" pitchFamily="18" charset="0"/>
              </a:rPr>
              <a:t> </a:t>
            </a:r>
            <a:r>
              <a:rPr lang="ru-RU" dirty="0">
                <a:solidFill>
                  <a:srgbClr val="000000"/>
                </a:solidFill>
                <a:latin typeface="Times New Roman" panose="02020603050405020304" pitchFamily="18" charset="0"/>
                <a:cs typeface="Times New Roman" panose="02020603050405020304" pitchFamily="18" charset="0"/>
              </a:rPr>
              <a:t>, а </a:t>
            </a:r>
            <a:r>
              <a:rPr lang="ru-RU" sz="2400" dirty="0" err="1">
                <a:solidFill>
                  <a:srgbClr val="000000"/>
                </a:solidFill>
                <a:latin typeface="Times New Roman" panose="02020603050405020304" pitchFamily="18" charset="0"/>
                <a:cs typeface="Times New Roman" panose="02020603050405020304" pitchFamily="18" charset="0"/>
              </a:rPr>
              <a:t>U</a:t>
            </a:r>
            <a:r>
              <a:rPr lang="ru-RU" sz="1600" dirty="0" err="1">
                <a:solidFill>
                  <a:srgbClr val="000000"/>
                </a:solidFill>
                <a:latin typeface="Times New Roman" panose="02020603050405020304" pitchFamily="18" charset="0"/>
                <a:cs typeface="Times New Roman" panose="02020603050405020304" pitchFamily="18" charset="0"/>
              </a:rPr>
              <a:t>вх</a:t>
            </a:r>
            <a:r>
              <a:rPr lang="ru-RU" sz="1600" dirty="0">
                <a:solidFill>
                  <a:srgbClr val="000000"/>
                </a:solidFill>
                <a:latin typeface="Times New Roman" panose="02020603050405020304" pitchFamily="18" charset="0"/>
                <a:cs typeface="Times New Roman" panose="02020603050405020304" pitchFamily="18" charset="0"/>
              </a:rPr>
              <a:t> </a:t>
            </a:r>
            <a:r>
              <a:rPr lang="ru-RU" sz="1600" dirty="0" err="1">
                <a:solidFill>
                  <a:srgbClr val="000000"/>
                </a:solidFill>
                <a:latin typeface="Times New Roman" panose="02020603050405020304" pitchFamily="18" charset="0"/>
                <a:cs typeface="Times New Roman" panose="02020603050405020304" pitchFamily="18" charset="0"/>
              </a:rPr>
              <a:t>min</a:t>
            </a:r>
            <a:r>
              <a:rPr lang="ru-RU" sz="800" dirty="0">
                <a:solidFill>
                  <a:srgbClr val="000000"/>
                </a:solidFill>
                <a:latin typeface="Times New Roman" panose="02020603050405020304" pitchFamily="18" charset="0"/>
                <a:cs typeface="Times New Roman" panose="02020603050405020304" pitchFamily="18" charset="0"/>
              </a:rPr>
              <a:t> </a:t>
            </a:r>
            <a:r>
              <a:rPr lang="ru-RU" dirty="0">
                <a:solidFill>
                  <a:srgbClr val="000000"/>
                </a:solidFill>
                <a:latin typeface="Times New Roman" panose="02020603050405020304" pitchFamily="18" charset="0"/>
                <a:cs typeface="Times New Roman" panose="02020603050405020304" pitchFamily="18" charset="0"/>
              </a:rPr>
              <a:t> </a:t>
            </a:r>
            <a:r>
              <a:rPr lang="en-US" dirty="0">
                <a:solidFill>
                  <a:srgbClr val="000000"/>
                </a:solidFill>
                <a:latin typeface="Times New Roman" panose="02020603050405020304" pitchFamily="18" charset="0"/>
                <a:cs typeface="Times New Roman" panose="02020603050405020304" pitchFamily="18" charset="0"/>
              </a:rPr>
              <a:t>- </a:t>
            </a:r>
            <a:r>
              <a:rPr lang="ru-RU" dirty="0">
                <a:solidFill>
                  <a:srgbClr val="000000"/>
                </a:solidFill>
                <a:latin typeface="Times New Roman" panose="02020603050405020304" pitchFamily="18" charset="0"/>
                <a:cs typeface="Times New Roman" panose="02020603050405020304" pitchFamily="18" charset="0"/>
              </a:rPr>
              <a:t>максимальный коэффициент усиления </a:t>
            </a:r>
            <a:r>
              <a:rPr lang="ru-RU" sz="2000" dirty="0" err="1">
                <a:solidFill>
                  <a:srgbClr val="000000"/>
                </a:solidFill>
                <a:latin typeface="Times New Roman" panose="02020603050405020304" pitchFamily="18" charset="0"/>
                <a:cs typeface="Times New Roman" panose="02020603050405020304" pitchFamily="18" charset="0"/>
              </a:rPr>
              <a:t>K</a:t>
            </a:r>
            <a:r>
              <a:rPr lang="ru-RU" sz="1400" dirty="0" err="1">
                <a:solidFill>
                  <a:srgbClr val="000000"/>
                </a:solidFill>
                <a:latin typeface="Times New Roman" panose="02020603050405020304" pitchFamily="18" charset="0"/>
                <a:cs typeface="Times New Roman" panose="02020603050405020304" pitchFamily="18" charset="0"/>
              </a:rPr>
              <a:t>max</a:t>
            </a:r>
            <a:r>
              <a:rPr lang="ru-RU" dirty="0">
                <a:latin typeface="Times New Roman" panose="02020603050405020304" pitchFamily="18" charset="0"/>
                <a:cs typeface="Times New Roman" panose="02020603050405020304" pitchFamily="18" charset="0"/>
              </a:rPr>
              <a:t> </a:t>
            </a:r>
            <a:br>
              <a:rPr lang="ru-RU" dirty="0">
                <a:latin typeface="Times New Roman" panose="02020603050405020304" pitchFamily="18" charset="0"/>
                <a:cs typeface="Times New Roman" panose="02020603050405020304" pitchFamily="18" charset="0"/>
              </a:rPr>
            </a:br>
            <a:r>
              <a:rPr lang="ru-RU" dirty="0">
                <a:latin typeface="Times New Roman" panose="02020603050405020304" pitchFamily="18" charset="0"/>
                <a:cs typeface="Times New Roman" panose="02020603050405020304" pitchFamily="18" charset="0"/>
              </a:rPr>
              <a:t>В результате получим</a:t>
            </a:r>
            <a:br>
              <a:rPr lang="ru-RU" dirty="0">
                <a:latin typeface="Times New Roman" panose="02020603050405020304" pitchFamily="18" charset="0"/>
                <a:cs typeface="Times New Roman" panose="02020603050405020304" pitchFamily="18" charset="0"/>
              </a:rPr>
            </a:br>
            <a:endParaRPr lang="ru-RU" dirty="0">
              <a:latin typeface="Times New Roman" panose="02020603050405020304" pitchFamily="18" charset="0"/>
              <a:cs typeface="Times New Roman" panose="02020603050405020304" pitchFamily="18" charset="0"/>
            </a:endParaRPr>
          </a:p>
        </p:txBody>
      </p:sp>
      <p:pic>
        <p:nvPicPr>
          <p:cNvPr id="8" name="Рисунок 7"/>
          <p:cNvPicPr>
            <a:picLocks noChangeAspect="1"/>
          </p:cNvPicPr>
          <p:nvPr/>
        </p:nvPicPr>
        <p:blipFill>
          <a:blip r:embed="rId4"/>
          <a:stretch>
            <a:fillRect/>
          </a:stretch>
        </p:blipFill>
        <p:spPr>
          <a:xfrm>
            <a:off x="4178460" y="2994654"/>
            <a:ext cx="4523591" cy="1593330"/>
          </a:xfrm>
          <a:prstGeom prst="rect">
            <a:avLst/>
          </a:prstGeom>
        </p:spPr>
      </p:pic>
      <p:sp>
        <p:nvSpPr>
          <p:cNvPr id="9" name="Прямоугольник 8"/>
          <p:cNvSpPr/>
          <p:nvPr/>
        </p:nvSpPr>
        <p:spPr>
          <a:xfrm>
            <a:off x="782198" y="5925273"/>
            <a:ext cx="6463554" cy="923330"/>
          </a:xfrm>
          <a:prstGeom prst="rect">
            <a:avLst/>
          </a:prstGeom>
        </p:spPr>
        <p:txBody>
          <a:bodyPr wrap="square">
            <a:spAutoFit/>
          </a:bodyPr>
          <a:lstStyle/>
          <a:p>
            <a:r>
              <a:rPr lang="ru-RU" dirty="0">
                <a:solidFill>
                  <a:srgbClr val="000000"/>
                </a:solidFill>
                <a:latin typeface="Times New Roman" panose="02020603050405020304" pitchFamily="18" charset="0"/>
                <a:cs typeface="Times New Roman" panose="02020603050405020304" pitchFamily="18" charset="0"/>
              </a:rPr>
              <a:t>Зависимости усиления приемника от уровня входного сигнала</a:t>
            </a:r>
            <a:r>
              <a:rPr lang="ru-RU" dirty="0">
                <a:latin typeface="Times New Roman" panose="02020603050405020304" pitchFamily="18" charset="0"/>
                <a:cs typeface="Times New Roman" panose="02020603050405020304" pitchFamily="18" charset="0"/>
              </a:rPr>
              <a:t> для простой (1), задержанной (4) и бесшумной (5) АРУ</a:t>
            </a:r>
            <a:br>
              <a:rPr lang="ru-RU" dirty="0">
                <a:latin typeface="Times New Roman" panose="02020603050405020304" pitchFamily="18" charset="0"/>
                <a:cs typeface="Times New Roman" panose="02020603050405020304" pitchFamily="18" charset="0"/>
              </a:rPr>
            </a:b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535704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A812D-C485-13E6-A575-4D9E1949FAF2}"/>
            </a:ext>
          </a:extLst>
        </p:cNvPr>
        <p:cNvGrpSpPr/>
        <p:nvPr/>
      </p:nvGrpSpPr>
      <p:grpSpPr>
        <a:xfrm>
          <a:off x="0" y="0"/>
          <a:ext cx="0" cy="0"/>
          <a:chOff x="0" y="0"/>
          <a:chExt cx="0" cy="0"/>
        </a:xfrm>
      </p:grpSpPr>
      <p:sp>
        <p:nvSpPr>
          <p:cNvPr id="3" name="Прямоугольник 2"/>
          <p:cNvSpPr/>
          <p:nvPr/>
        </p:nvSpPr>
        <p:spPr>
          <a:xfrm>
            <a:off x="1103452" y="482099"/>
            <a:ext cx="6153875" cy="646331"/>
          </a:xfrm>
          <a:prstGeom prst="rect">
            <a:avLst/>
          </a:prstGeom>
        </p:spPr>
        <p:txBody>
          <a:bodyPr wrap="square">
            <a:spAutoFit/>
          </a:bodyPr>
          <a:lstStyle/>
          <a:p>
            <a:r>
              <a:rPr lang="ru-RU" dirty="0">
                <a:solidFill>
                  <a:srgbClr val="000000"/>
                </a:solidFill>
                <a:latin typeface="Times New Roman" panose="02020603050405020304" pitchFamily="18" charset="0"/>
                <a:cs typeface="Times New Roman" panose="02020603050405020304" pitchFamily="18" charset="0"/>
              </a:rPr>
              <a:t>Разделив </a:t>
            </a:r>
            <a:r>
              <a:rPr lang="ru-RU" dirty="0" err="1">
                <a:solidFill>
                  <a:srgbClr val="000000"/>
                </a:solidFill>
                <a:latin typeface="Times New Roman" panose="02020603050405020304" pitchFamily="18" charset="0"/>
                <a:cs typeface="Times New Roman" panose="02020603050405020304" pitchFamily="18" charset="0"/>
              </a:rPr>
              <a:t>U</a:t>
            </a:r>
            <a:r>
              <a:rPr lang="ru-RU" baseline="-25000" dirty="0" err="1">
                <a:solidFill>
                  <a:srgbClr val="000000"/>
                </a:solidFill>
                <a:latin typeface="Times New Roman" panose="02020603050405020304" pitchFamily="18" charset="0"/>
                <a:cs typeface="Times New Roman" panose="02020603050405020304" pitchFamily="18" charset="0"/>
              </a:rPr>
              <a:t>вых</a:t>
            </a:r>
            <a:r>
              <a:rPr lang="ru-RU" baseline="-25000" dirty="0">
                <a:solidFill>
                  <a:srgbClr val="000000"/>
                </a:solidFill>
                <a:latin typeface="Times New Roman" panose="02020603050405020304" pitchFamily="18" charset="0"/>
                <a:cs typeface="Times New Roman" panose="02020603050405020304" pitchFamily="18" charset="0"/>
              </a:rPr>
              <a:t> </a:t>
            </a:r>
            <a:r>
              <a:rPr lang="ru-RU" baseline="-25000" dirty="0" err="1">
                <a:solidFill>
                  <a:srgbClr val="000000"/>
                </a:solidFill>
                <a:latin typeface="Times New Roman" panose="02020603050405020304" pitchFamily="18" charset="0"/>
                <a:cs typeface="Times New Roman" panose="02020603050405020304" pitchFamily="18" charset="0"/>
              </a:rPr>
              <a:t>max</a:t>
            </a:r>
            <a:r>
              <a:rPr lang="ru-RU" baseline="-25000" dirty="0">
                <a:solidFill>
                  <a:srgbClr val="000000"/>
                </a:solidFill>
                <a:latin typeface="Times New Roman" panose="02020603050405020304" pitchFamily="18" charset="0"/>
                <a:cs typeface="Times New Roman" panose="02020603050405020304" pitchFamily="18" charset="0"/>
              </a:rPr>
              <a:t> </a:t>
            </a:r>
            <a:r>
              <a:rPr lang="ru-RU" dirty="0">
                <a:solidFill>
                  <a:srgbClr val="000000"/>
                </a:solidFill>
                <a:latin typeface="Times New Roman" panose="02020603050405020304" pitchFamily="18" charset="0"/>
                <a:cs typeface="Times New Roman" panose="02020603050405020304" pitchFamily="18" charset="0"/>
              </a:rPr>
              <a:t>на </a:t>
            </a:r>
            <a:r>
              <a:rPr lang="ru-RU" dirty="0" err="1">
                <a:solidFill>
                  <a:srgbClr val="000000"/>
                </a:solidFill>
                <a:latin typeface="Times New Roman" panose="02020603050405020304" pitchFamily="18" charset="0"/>
                <a:cs typeface="Times New Roman" panose="02020603050405020304" pitchFamily="18" charset="0"/>
              </a:rPr>
              <a:t>U</a:t>
            </a:r>
            <a:r>
              <a:rPr lang="ru-RU" baseline="-25000" dirty="0" err="1">
                <a:solidFill>
                  <a:srgbClr val="000000"/>
                </a:solidFill>
                <a:latin typeface="Times New Roman" panose="02020603050405020304" pitchFamily="18" charset="0"/>
                <a:cs typeface="Times New Roman" panose="02020603050405020304" pitchFamily="18" charset="0"/>
              </a:rPr>
              <a:t>вых</a:t>
            </a:r>
            <a:r>
              <a:rPr lang="ru-RU" baseline="-25000" dirty="0">
                <a:solidFill>
                  <a:srgbClr val="000000"/>
                </a:solidFill>
                <a:latin typeface="Times New Roman" panose="02020603050405020304" pitchFamily="18" charset="0"/>
                <a:cs typeface="Times New Roman" panose="02020603050405020304" pitchFamily="18" charset="0"/>
              </a:rPr>
              <a:t> </a:t>
            </a:r>
            <a:r>
              <a:rPr lang="ru-RU" baseline="-25000" dirty="0" err="1">
                <a:solidFill>
                  <a:srgbClr val="000000"/>
                </a:solidFill>
                <a:latin typeface="Times New Roman" panose="02020603050405020304" pitchFamily="18" charset="0"/>
                <a:cs typeface="Times New Roman" panose="02020603050405020304" pitchFamily="18" charset="0"/>
              </a:rPr>
              <a:t>min</a:t>
            </a:r>
            <a:r>
              <a:rPr lang="ru-RU" baseline="-25000" dirty="0">
                <a:solidFill>
                  <a:srgbClr val="000000"/>
                </a:solidFill>
                <a:latin typeface="Times New Roman" panose="02020603050405020304" pitchFamily="18" charset="0"/>
                <a:cs typeface="Times New Roman" panose="02020603050405020304" pitchFamily="18" charset="0"/>
              </a:rPr>
              <a:t> </a:t>
            </a:r>
            <a:r>
              <a:rPr lang="ru-RU" dirty="0">
                <a:solidFill>
                  <a:srgbClr val="000000"/>
                </a:solidFill>
                <a:latin typeface="Times New Roman" panose="02020603050405020304" pitchFamily="18" charset="0"/>
                <a:cs typeface="Times New Roman" panose="02020603050405020304" pitchFamily="18" charset="0"/>
              </a:rPr>
              <a:t>и обозначив </a:t>
            </a:r>
            <a:r>
              <a:rPr lang="en-US" dirty="0">
                <a:solidFill>
                  <a:srgbClr val="000000"/>
                </a:solidFill>
                <a:latin typeface="Times New Roman" panose="02020603050405020304" pitchFamily="18" charset="0"/>
                <a:cs typeface="Times New Roman" panose="02020603050405020304" pitchFamily="18" charset="0"/>
              </a:rPr>
              <a:t>p = </a:t>
            </a:r>
            <a:r>
              <a:rPr lang="ru-RU" dirty="0" err="1">
                <a:solidFill>
                  <a:srgbClr val="000000"/>
                </a:solidFill>
                <a:latin typeface="Times New Roman" panose="02020603050405020304" pitchFamily="18" charset="0"/>
                <a:cs typeface="Times New Roman" panose="02020603050405020304" pitchFamily="18" charset="0"/>
              </a:rPr>
              <a:t>K</a:t>
            </a:r>
            <a:r>
              <a:rPr lang="ru-RU" baseline="-25000" dirty="0" err="1">
                <a:solidFill>
                  <a:srgbClr val="000000"/>
                </a:solidFill>
                <a:latin typeface="Times New Roman" panose="02020603050405020304" pitchFamily="18" charset="0"/>
                <a:cs typeface="Times New Roman" panose="02020603050405020304" pitchFamily="18" charset="0"/>
              </a:rPr>
              <a:t>max</a:t>
            </a:r>
            <a:r>
              <a:rPr lang="en-US" baseline="-25000" dirty="0">
                <a:solidFill>
                  <a:srgbClr val="000000"/>
                </a:solidFill>
                <a:latin typeface="Times New Roman" panose="02020603050405020304" pitchFamily="18" charset="0"/>
                <a:cs typeface="Times New Roman" panose="02020603050405020304" pitchFamily="18" charset="0"/>
              </a:rPr>
              <a:t> </a:t>
            </a:r>
            <a:r>
              <a:rPr lang="en-US" dirty="0">
                <a:solidFill>
                  <a:srgbClr val="000000"/>
                </a:solidFill>
                <a:latin typeface="Times New Roman" panose="02020603050405020304" pitchFamily="18" charset="0"/>
                <a:cs typeface="Times New Roman" panose="02020603050405020304" pitchFamily="18" charset="0"/>
              </a:rPr>
              <a:t>/ </a:t>
            </a:r>
            <a:r>
              <a:rPr lang="ru-RU" dirty="0" err="1">
                <a:solidFill>
                  <a:srgbClr val="000000"/>
                </a:solidFill>
                <a:latin typeface="Times New Roman" panose="02020603050405020304" pitchFamily="18" charset="0"/>
                <a:cs typeface="Times New Roman" panose="02020603050405020304" pitchFamily="18" charset="0"/>
              </a:rPr>
              <a:t>K</a:t>
            </a:r>
            <a:r>
              <a:rPr lang="ru-RU" baseline="-25000" dirty="0" err="1">
                <a:solidFill>
                  <a:srgbClr val="000000"/>
                </a:solidFill>
                <a:latin typeface="Times New Roman" panose="02020603050405020304" pitchFamily="18" charset="0"/>
                <a:cs typeface="Times New Roman" panose="02020603050405020304" pitchFamily="18" charset="0"/>
              </a:rPr>
              <a:t>min</a:t>
            </a:r>
            <a:r>
              <a:rPr lang="ru-RU" dirty="0">
                <a:solidFill>
                  <a:srgbClr val="000000"/>
                </a:solidFill>
                <a:latin typeface="Times New Roman" panose="02020603050405020304" pitchFamily="18" charset="0"/>
                <a:cs typeface="Times New Roman" panose="02020603050405020304" pitchFamily="18" charset="0"/>
              </a:rPr>
              <a:t> , получим</a:t>
            </a:r>
            <a:endParaRPr lang="ru-RU" dirty="0">
              <a:latin typeface="Times New Roman" panose="02020603050405020304" pitchFamily="18" charset="0"/>
              <a:cs typeface="Times New Roman" panose="02020603050405020304" pitchFamily="18" charset="0"/>
            </a:endParaRPr>
          </a:p>
        </p:txBody>
      </p:sp>
      <p:pic>
        <p:nvPicPr>
          <p:cNvPr id="7" name="Рисунок 6"/>
          <p:cNvPicPr>
            <a:picLocks noChangeAspect="1"/>
          </p:cNvPicPr>
          <p:nvPr/>
        </p:nvPicPr>
        <p:blipFill>
          <a:blip r:embed="rId2"/>
          <a:stretch>
            <a:fillRect/>
          </a:stretch>
        </p:blipFill>
        <p:spPr>
          <a:xfrm>
            <a:off x="7095281" y="453489"/>
            <a:ext cx="2027800" cy="718539"/>
          </a:xfrm>
          <a:prstGeom prst="rect">
            <a:avLst/>
          </a:prstGeom>
        </p:spPr>
      </p:pic>
      <p:pic>
        <p:nvPicPr>
          <p:cNvPr id="8" name="Рисунок 7"/>
          <p:cNvPicPr>
            <a:picLocks noChangeAspect="1"/>
          </p:cNvPicPr>
          <p:nvPr/>
        </p:nvPicPr>
        <p:blipFill>
          <a:blip r:embed="rId3"/>
          <a:stretch>
            <a:fillRect/>
          </a:stretch>
        </p:blipFill>
        <p:spPr>
          <a:xfrm>
            <a:off x="8991776" y="1172028"/>
            <a:ext cx="2978197" cy="822225"/>
          </a:xfrm>
          <a:prstGeom prst="rect">
            <a:avLst/>
          </a:prstGeom>
        </p:spPr>
      </p:pic>
      <p:sp>
        <p:nvSpPr>
          <p:cNvPr id="9" name="Прямоугольник 8"/>
          <p:cNvSpPr/>
          <p:nvPr/>
        </p:nvSpPr>
        <p:spPr>
          <a:xfrm>
            <a:off x="466844" y="1569300"/>
            <a:ext cx="7926552" cy="3416320"/>
          </a:xfrm>
          <a:prstGeom prst="rect">
            <a:avLst/>
          </a:prstGeom>
        </p:spPr>
        <p:txBody>
          <a:bodyPr wrap="square">
            <a:spAutoFit/>
          </a:bodyPr>
          <a:lstStyle/>
          <a:p>
            <a:r>
              <a:rPr lang="ru-RU" dirty="0">
                <a:solidFill>
                  <a:srgbClr val="000000"/>
                </a:solidFill>
                <a:latin typeface="Times New Roman" panose="02020603050405020304" pitchFamily="18" charset="0"/>
                <a:cs typeface="Times New Roman" panose="02020603050405020304" pitchFamily="18" charset="0"/>
              </a:rPr>
              <a:t>Параметр p называется коэффициентом регулирования усиления. По характеру изменения коэффициента усиления в процессе регулировки различают регулировки:</a:t>
            </a:r>
            <a:br>
              <a:rPr lang="ru-RU" dirty="0">
                <a:solidFill>
                  <a:srgbClr val="000000"/>
                </a:solidFill>
                <a:latin typeface="Times New Roman" panose="02020603050405020304" pitchFamily="18" charset="0"/>
                <a:cs typeface="Times New Roman" panose="02020603050405020304" pitchFamily="18" charset="0"/>
              </a:rPr>
            </a:br>
            <a:r>
              <a:rPr lang="ru-RU" i="1" dirty="0">
                <a:solidFill>
                  <a:srgbClr val="000000"/>
                </a:solidFill>
                <a:latin typeface="Times New Roman" panose="02020603050405020304" pitchFamily="18" charset="0"/>
                <a:cs typeface="Times New Roman" panose="02020603050405020304" pitchFamily="18" charset="0"/>
              </a:rPr>
              <a:t>- простая,</a:t>
            </a:r>
            <a:br>
              <a:rPr lang="ru-RU" i="1" dirty="0">
                <a:solidFill>
                  <a:srgbClr val="000000"/>
                </a:solidFill>
                <a:latin typeface="Times New Roman" panose="02020603050405020304" pitchFamily="18" charset="0"/>
                <a:cs typeface="Times New Roman" panose="02020603050405020304" pitchFamily="18" charset="0"/>
              </a:rPr>
            </a:br>
            <a:r>
              <a:rPr lang="ru-RU" i="1" dirty="0">
                <a:solidFill>
                  <a:srgbClr val="000000"/>
                </a:solidFill>
                <a:latin typeface="Times New Roman" panose="02020603050405020304" pitchFamily="18" charset="0"/>
                <a:cs typeface="Times New Roman" panose="02020603050405020304" pitchFamily="18" charset="0"/>
              </a:rPr>
              <a:t>- задержанная,</a:t>
            </a:r>
            <a:r>
              <a:rPr lang="ru-RU" dirty="0">
                <a:latin typeface="Times New Roman" panose="02020603050405020304" pitchFamily="18" charset="0"/>
                <a:cs typeface="Times New Roman" panose="02020603050405020304" pitchFamily="18" charset="0"/>
              </a:rPr>
              <a:t> </a:t>
            </a:r>
            <a:br>
              <a:rPr lang="ru-RU" dirty="0">
                <a:latin typeface="Times New Roman" panose="02020603050405020304" pitchFamily="18" charset="0"/>
                <a:cs typeface="Times New Roman" panose="02020603050405020304" pitchFamily="18" charset="0"/>
              </a:rPr>
            </a:br>
            <a:r>
              <a:rPr lang="ru-RU" i="1" dirty="0">
                <a:latin typeface="Times New Roman" panose="02020603050405020304" pitchFamily="18" charset="0"/>
                <a:cs typeface="Times New Roman" panose="02020603050405020304" pitchFamily="18" charset="0"/>
              </a:rPr>
              <a:t>- бесшумная.</a:t>
            </a:r>
            <a:br>
              <a:rPr lang="ru-RU" i="1" dirty="0">
                <a:latin typeface="Times New Roman" panose="02020603050405020304" pitchFamily="18" charset="0"/>
                <a:cs typeface="Times New Roman" panose="02020603050405020304" pitchFamily="18" charset="0"/>
              </a:rPr>
            </a:br>
            <a:r>
              <a:rPr lang="ru-RU" dirty="0">
                <a:latin typeface="Times New Roman" panose="02020603050405020304" pitchFamily="18" charset="0"/>
                <a:cs typeface="Times New Roman" panose="02020603050405020304" pitchFamily="18" charset="0"/>
              </a:rPr>
              <a:t>При минимальном напряжении на входе </a:t>
            </a:r>
            <a:r>
              <a:rPr lang="ru-RU" dirty="0" err="1">
                <a:latin typeface="Times New Roman" panose="02020603050405020304" pitchFamily="18" charset="0"/>
                <a:cs typeface="Times New Roman" panose="02020603050405020304" pitchFamily="18" charset="0"/>
              </a:rPr>
              <a:t>U</a:t>
            </a:r>
            <a:r>
              <a:rPr lang="ru-RU" baseline="-25000" dirty="0" err="1">
                <a:latin typeface="Times New Roman" panose="02020603050405020304" pitchFamily="18" charset="0"/>
                <a:cs typeface="Times New Roman" panose="02020603050405020304" pitchFamily="18" charset="0"/>
              </a:rPr>
              <a:t>вх</a:t>
            </a:r>
            <a:r>
              <a:rPr lang="ru-RU" baseline="-25000" dirty="0">
                <a:latin typeface="Times New Roman" panose="02020603050405020304" pitchFamily="18" charset="0"/>
                <a:cs typeface="Times New Roman" panose="02020603050405020304" pitchFamily="18" charset="0"/>
              </a:rPr>
              <a:t> </a:t>
            </a:r>
            <a:r>
              <a:rPr lang="ru-RU" baseline="-25000" dirty="0" err="1">
                <a:latin typeface="Times New Roman" panose="02020603050405020304" pitchFamily="18" charset="0"/>
                <a:cs typeface="Times New Roman" panose="02020603050405020304" pitchFamily="18" charset="0"/>
              </a:rPr>
              <a:t>min</a:t>
            </a:r>
            <a:r>
              <a:rPr lang="ru-RU" baseline="-25000"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усиление должно соответствовать величине </a:t>
            </a:r>
            <a:r>
              <a:rPr lang="ru-RU" dirty="0" err="1">
                <a:latin typeface="Times New Roman" panose="02020603050405020304" pitchFamily="18" charset="0"/>
                <a:cs typeface="Times New Roman" panose="02020603050405020304" pitchFamily="18" charset="0"/>
              </a:rPr>
              <a:t>К</a:t>
            </a:r>
            <a:r>
              <a:rPr lang="ru-RU" baseline="-25000" dirty="0" err="1">
                <a:latin typeface="Times New Roman" panose="02020603050405020304" pitchFamily="18" charset="0"/>
                <a:cs typeface="Times New Roman" panose="02020603050405020304" pitchFamily="18" charset="0"/>
              </a:rPr>
              <a:t>max</a:t>
            </a:r>
            <a:r>
              <a:rPr lang="ru-RU" dirty="0">
                <a:latin typeface="Times New Roman" panose="02020603050405020304" pitchFamily="18" charset="0"/>
                <a:cs typeface="Times New Roman" panose="02020603050405020304" pitchFamily="18" charset="0"/>
              </a:rPr>
              <a:t> для обеспечения на выходе напряжения </a:t>
            </a:r>
            <a:r>
              <a:rPr lang="ru-RU" dirty="0" err="1">
                <a:latin typeface="Times New Roman" panose="02020603050405020304" pitchFamily="18" charset="0"/>
                <a:cs typeface="Times New Roman" panose="02020603050405020304" pitchFamily="18" charset="0"/>
              </a:rPr>
              <a:t>U</a:t>
            </a:r>
            <a:r>
              <a:rPr lang="ru-RU" baseline="-25000" dirty="0" err="1">
                <a:latin typeface="Times New Roman" panose="02020603050405020304" pitchFamily="18" charset="0"/>
                <a:cs typeface="Times New Roman" panose="02020603050405020304" pitchFamily="18" charset="0"/>
              </a:rPr>
              <a:t>вых</a:t>
            </a:r>
            <a:r>
              <a:rPr lang="ru-RU" baseline="-25000" dirty="0">
                <a:latin typeface="Times New Roman" panose="02020603050405020304" pitchFamily="18" charset="0"/>
                <a:cs typeface="Times New Roman" panose="02020603050405020304" pitchFamily="18" charset="0"/>
              </a:rPr>
              <a:t> </a:t>
            </a:r>
            <a:r>
              <a:rPr lang="ru-RU" baseline="-25000" dirty="0" err="1">
                <a:latin typeface="Times New Roman" panose="02020603050405020304" pitchFamily="18" charset="0"/>
                <a:cs typeface="Times New Roman" panose="02020603050405020304" pitchFamily="18" charset="0"/>
              </a:rPr>
              <a:t>min</a:t>
            </a:r>
            <a:r>
              <a:rPr lang="ru-RU" dirty="0">
                <a:latin typeface="Times New Roman" panose="02020603050405020304" pitchFamily="18" charset="0"/>
                <a:cs typeface="Times New Roman" panose="02020603050405020304" pitchFamily="18" charset="0"/>
              </a:rPr>
              <a:t>, достаточного для корректной обработки принятого сигнала.</a:t>
            </a:r>
            <a:br>
              <a:rPr lang="ru-RU" dirty="0">
                <a:latin typeface="Times New Roman" panose="02020603050405020304" pitchFamily="18" charset="0"/>
                <a:cs typeface="Times New Roman" panose="02020603050405020304" pitchFamily="18" charset="0"/>
              </a:rPr>
            </a:br>
            <a:r>
              <a:rPr lang="ru-RU" dirty="0">
                <a:latin typeface="Times New Roman" panose="02020603050405020304" pitchFamily="18" charset="0"/>
                <a:cs typeface="Times New Roman" panose="02020603050405020304" pitchFamily="18" charset="0"/>
              </a:rPr>
              <a:t>Минимальное напряжение </a:t>
            </a:r>
            <a:r>
              <a:rPr lang="ru-RU" dirty="0" err="1">
                <a:latin typeface="Times New Roman" panose="02020603050405020304" pitchFamily="18" charset="0"/>
                <a:cs typeface="Times New Roman" panose="02020603050405020304" pitchFamily="18" charset="0"/>
              </a:rPr>
              <a:t>U</a:t>
            </a:r>
            <a:r>
              <a:rPr lang="ru-RU" baseline="-25000" dirty="0" err="1">
                <a:latin typeface="Times New Roman" panose="02020603050405020304" pitchFamily="18" charset="0"/>
                <a:cs typeface="Times New Roman" panose="02020603050405020304" pitchFamily="18" charset="0"/>
              </a:rPr>
              <a:t>вх</a:t>
            </a:r>
            <a:r>
              <a:rPr lang="ru-RU" baseline="-25000" dirty="0">
                <a:latin typeface="Times New Roman" panose="02020603050405020304" pitchFamily="18" charset="0"/>
                <a:cs typeface="Times New Roman" panose="02020603050405020304" pitchFamily="18" charset="0"/>
              </a:rPr>
              <a:t> </a:t>
            </a:r>
            <a:r>
              <a:rPr lang="ru-RU" baseline="-25000" dirty="0" err="1">
                <a:latin typeface="Times New Roman" panose="02020603050405020304" pitchFamily="18" charset="0"/>
                <a:cs typeface="Times New Roman" panose="02020603050405020304" pitchFamily="18" charset="0"/>
              </a:rPr>
              <a:t>min</a:t>
            </a:r>
            <a:r>
              <a:rPr lang="ru-RU" baseline="-25000"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соответствует чувствительности РПУ. При увеличении входного напряжения </a:t>
            </a:r>
            <a:r>
              <a:rPr lang="ru-RU" dirty="0" err="1">
                <a:latin typeface="Times New Roman" panose="02020603050405020304" pitchFamily="18" charset="0"/>
                <a:cs typeface="Times New Roman" panose="02020603050405020304" pitchFamily="18" charset="0"/>
              </a:rPr>
              <a:t>U</a:t>
            </a:r>
            <a:r>
              <a:rPr lang="ru-RU" baseline="-25000" dirty="0" err="1">
                <a:latin typeface="Times New Roman" panose="02020603050405020304" pitchFamily="18" charset="0"/>
                <a:cs typeface="Times New Roman" panose="02020603050405020304" pitchFamily="18" charset="0"/>
              </a:rPr>
              <a:t>вх</a:t>
            </a:r>
            <a:r>
              <a:rPr lang="ru-RU" dirty="0">
                <a:latin typeface="Times New Roman" panose="02020603050405020304" pitchFamily="18" charset="0"/>
                <a:cs typeface="Times New Roman" panose="02020603050405020304" pitchFamily="18" charset="0"/>
              </a:rPr>
              <a:t> коэффициент усиления К должен уменьшаться.</a:t>
            </a:r>
          </a:p>
        </p:txBody>
      </p:sp>
      <p:pic>
        <p:nvPicPr>
          <p:cNvPr id="10" name="Рисунок 9"/>
          <p:cNvPicPr>
            <a:picLocks noChangeAspect="1"/>
          </p:cNvPicPr>
          <p:nvPr/>
        </p:nvPicPr>
        <p:blipFill>
          <a:blip r:embed="rId4"/>
          <a:stretch>
            <a:fillRect/>
          </a:stretch>
        </p:blipFill>
        <p:spPr>
          <a:xfrm>
            <a:off x="8460974" y="2612205"/>
            <a:ext cx="3509000" cy="1936646"/>
          </a:xfrm>
          <a:prstGeom prst="rect">
            <a:avLst/>
          </a:prstGeom>
        </p:spPr>
      </p:pic>
      <p:pic>
        <p:nvPicPr>
          <p:cNvPr id="11" name="Рисунок 10"/>
          <p:cNvPicPr>
            <a:picLocks noChangeAspect="1"/>
          </p:cNvPicPr>
          <p:nvPr/>
        </p:nvPicPr>
        <p:blipFill>
          <a:blip r:embed="rId5"/>
          <a:stretch>
            <a:fillRect/>
          </a:stretch>
        </p:blipFill>
        <p:spPr>
          <a:xfrm>
            <a:off x="5540895" y="5423053"/>
            <a:ext cx="1191228" cy="840241"/>
          </a:xfrm>
          <a:prstGeom prst="rect">
            <a:avLst/>
          </a:prstGeom>
        </p:spPr>
      </p:pic>
      <p:sp>
        <p:nvSpPr>
          <p:cNvPr id="12" name="Прямоугольник 11"/>
          <p:cNvSpPr/>
          <p:nvPr/>
        </p:nvSpPr>
        <p:spPr>
          <a:xfrm>
            <a:off x="466843" y="4986284"/>
            <a:ext cx="11339333" cy="646331"/>
          </a:xfrm>
          <a:prstGeom prst="rect">
            <a:avLst/>
          </a:prstGeom>
        </p:spPr>
        <p:txBody>
          <a:bodyPr wrap="square">
            <a:spAutoFit/>
          </a:bodyPr>
          <a:lstStyle/>
          <a:p>
            <a:r>
              <a:rPr lang="ru-RU" dirty="0">
                <a:latin typeface="Times New Roman" panose="02020603050405020304" pitchFamily="18" charset="0"/>
                <a:cs typeface="Times New Roman" panose="02020603050405020304" pitchFamily="18" charset="0"/>
              </a:rPr>
              <a:t>АРУ обеспечивает постоянство выходного напряжения </a:t>
            </a:r>
            <a:r>
              <a:rPr lang="ru-RU" dirty="0" err="1">
                <a:latin typeface="Times New Roman" panose="02020603050405020304" pitchFamily="18" charset="0"/>
                <a:cs typeface="Times New Roman" panose="02020603050405020304" pitchFamily="18" charset="0"/>
              </a:rPr>
              <a:t>U</a:t>
            </a:r>
            <a:r>
              <a:rPr lang="ru-RU" baseline="-25000" dirty="0" err="1">
                <a:latin typeface="Times New Roman" panose="02020603050405020304" pitchFamily="18" charset="0"/>
                <a:cs typeface="Times New Roman" panose="02020603050405020304" pitchFamily="18" charset="0"/>
              </a:rPr>
              <a:t>вых</a:t>
            </a:r>
            <a:r>
              <a:rPr lang="ru-RU"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const</a:t>
            </a:r>
            <a:r>
              <a:rPr lang="ru-RU" dirty="0">
                <a:latin typeface="Times New Roman" panose="02020603050405020304" pitchFamily="18" charset="0"/>
                <a:cs typeface="Times New Roman" panose="02020603050405020304" pitchFamily="18" charset="0"/>
              </a:rPr>
              <a:t>, если эти величины будут связаны соотношением </a:t>
            </a:r>
            <a:endParaRPr lang="ru-RU" dirty="0"/>
          </a:p>
        </p:txBody>
      </p:sp>
    </p:spTree>
    <p:extLst>
      <p:ext uri="{BB962C8B-B14F-4D97-AF65-F5344CB8AC3E}">
        <p14:creationId xmlns:p14="http://schemas.microsoft.com/office/powerpoint/2010/main" val="23004296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9E4D6-5127-61D1-4312-FD43B63C974A}"/>
            </a:ext>
          </a:extLst>
        </p:cNvPr>
        <p:cNvGrpSpPr/>
        <p:nvPr/>
      </p:nvGrpSpPr>
      <p:grpSpPr>
        <a:xfrm>
          <a:off x="0" y="0"/>
          <a:ext cx="0" cy="0"/>
          <a:chOff x="0" y="0"/>
          <a:chExt cx="0" cy="0"/>
        </a:xfrm>
      </p:grpSpPr>
      <p:sp>
        <p:nvSpPr>
          <p:cNvPr id="4" name="Прямоугольник 3"/>
          <p:cNvSpPr/>
          <p:nvPr/>
        </p:nvSpPr>
        <p:spPr>
          <a:xfrm>
            <a:off x="929831" y="399942"/>
            <a:ext cx="6640011" cy="1754326"/>
          </a:xfrm>
          <a:prstGeom prst="rect">
            <a:avLst/>
          </a:prstGeom>
        </p:spPr>
        <p:txBody>
          <a:bodyPr wrap="square">
            <a:spAutoFit/>
          </a:bodyPr>
          <a:lstStyle/>
          <a:p>
            <a:r>
              <a:rPr lang="ru-RU" dirty="0">
                <a:solidFill>
                  <a:srgbClr val="000000"/>
                </a:solidFill>
                <a:latin typeface="Times New Roman" panose="02020603050405020304" pitchFamily="18" charset="0"/>
                <a:cs typeface="Times New Roman" panose="02020603050405020304" pitchFamily="18" charset="0"/>
              </a:rPr>
              <a:t>Эта зависимость изображена на рисунке - кривая 1. Это идеальный случай. Обычно, строгого постоянства выходного напряжения </a:t>
            </a:r>
            <a:r>
              <a:rPr lang="ru-RU" dirty="0" err="1">
                <a:solidFill>
                  <a:srgbClr val="000000"/>
                </a:solidFill>
                <a:latin typeface="Times New Roman" panose="02020603050405020304" pitchFamily="18" charset="0"/>
                <a:cs typeface="Times New Roman" panose="02020603050405020304" pitchFamily="18" charset="0"/>
              </a:rPr>
              <a:t>Uвых</a:t>
            </a:r>
            <a:r>
              <a:rPr lang="ru-RU" dirty="0">
                <a:solidFill>
                  <a:srgbClr val="000000"/>
                </a:solidFill>
                <a:latin typeface="Times New Roman" panose="02020603050405020304" pitchFamily="18" charset="0"/>
                <a:cs typeface="Times New Roman" panose="02020603050405020304" pitchFamily="18" charset="0"/>
              </a:rPr>
              <a:t> не требуется. Допускается небольшое изменение его в некоторых пределах. Максимальному напряжению на входе </a:t>
            </a:r>
            <a:r>
              <a:rPr lang="ru-RU" dirty="0" err="1">
                <a:solidFill>
                  <a:srgbClr val="000000"/>
                </a:solidFill>
                <a:latin typeface="Times New Roman" panose="02020603050405020304" pitchFamily="18" charset="0"/>
                <a:cs typeface="Times New Roman" panose="02020603050405020304" pitchFamily="18" charset="0"/>
              </a:rPr>
              <a:t>Uвх</a:t>
            </a:r>
            <a:r>
              <a:rPr lang="ru-RU" dirty="0">
                <a:solidFill>
                  <a:srgbClr val="000000"/>
                </a:solidFill>
                <a:latin typeface="Times New Roman" panose="02020603050405020304" pitchFamily="18" charset="0"/>
                <a:cs typeface="Times New Roman" panose="02020603050405020304" pitchFamily="18" charset="0"/>
              </a:rPr>
              <a:t> </a:t>
            </a:r>
            <a:r>
              <a:rPr lang="ru-RU" dirty="0" err="1">
                <a:solidFill>
                  <a:srgbClr val="000000"/>
                </a:solidFill>
                <a:latin typeface="Times New Roman" panose="02020603050405020304" pitchFamily="18" charset="0"/>
                <a:cs typeface="Times New Roman" panose="02020603050405020304" pitchFamily="18" charset="0"/>
              </a:rPr>
              <a:t>max</a:t>
            </a:r>
            <a:r>
              <a:rPr lang="ru-RU" dirty="0">
                <a:solidFill>
                  <a:srgbClr val="000000"/>
                </a:solidFill>
                <a:latin typeface="Times New Roman" panose="02020603050405020304" pitchFamily="18" charset="0"/>
                <a:cs typeface="Times New Roman" panose="02020603050405020304" pitchFamily="18" charset="0"/>
              </a:rPr>
              <a:t> соответствует максимальное выходное напряжение </a:t>
            </a:r>
            <a:r>
              <a:rPr lang="ru-RU" dirty="0" err="1">
                <a:solidFill>
                  <a:srgbClr val="000000"/>
                </a:solidFill>
                <a:latin typeface="Times New Roman" panose="02020603050405020304" pitchFamily="18" charset="0"/>
                <a:cs typeface="Times New Roman" panose="02020603050405020304" pitchFamily="18" charset="0"/>
              </a:rPr>
              <a:t>Uвых</a:t>
            </a:r>
            <a:r>
              <a:rPr lang="ru-RU" dirty="0">
                <a:solidFill>
                  <a:srgbClr val="000000"/>
                </a:solidFill>
                <a:latin typeface="Times New Roman" panose="02020603050405020304" pitchFamily="18" charset="0"/>
                <a:cs typeface="Times New Roman" panose="02020603050405020304" pitchFamily="18" charset="0"/>
              </a:rPr>
              <a:t> </a:t>
            </a:r>
            <a:r>
              <a:rPr lang="ru-RU" dirty="0" err="1">
                <a:solidFill>
                  <a:srgbClr val="000000"/>
                </a:solidFill>
                <a:latin typeface="Times New Roman" panose="02020603050405020304" pitchFamily="18" charset="0"/>
                <a:cs typeface="Times New Roman" panose="02020603050405020304" pitchFamily="18" charset="0"/>
              </a:rPr>
              <a:t>max</a:t>
            </a:r>
            <a:r>
              <a:rPr lang="ru-RU" dirty="0">
                <a:solidFill>
                  <a:srgbClr val="000000"/>
                </a:solidFill>
                <a:latin typeface="Times New Roman" panose="02020603050405020304" pitchFamily="18" charset="0"/>
                <a:cs typeface="Times New Roman" panose="02020603050405020304" pitchFamily="18" charset="0"/>
              </a:rPr>
              <a:t> и при этом</a:t>
            </a:r>
            <a:endParaRPr lang="ru-RU" dirty="0">
              <a:latin typeface="Times New Roman" panose="02020603050405020304" pitchFamily="18" charset="0"/>
              <a:cs typeface="Times New Roman" panose="02020603050405020304" pitchFamily="18" charset="0"/>
            </a:endParaRPr>
          </a:p>
        </p:txBody>
      </p:sp>
      <p:pic>
        <p:nvPicPr>
          <p:cNvPr id="11" name="Рисунок 10"/>
          <p:cNvPicPr>
            <a:picLocks noChangeAspect="1"/>
          </p:cNvPicPr>
          <p:nvPr/>
        </p:nvPicPr>
        <p:blipFill>
          <a:blip r:embed="rId2"/>
          <a:stretch>
            <a:fillRect/>
          </a:stretch>
        </p:blipFill>
        <p:spPr>
          <a:xfrm>
            <a:off x="7974837" y="561784"/>
            <a:ext cx="3509000" cy="1936646"/>
          </a:xfrm>
          <a:prstGeom prst="rect">
            <a:avLst/>
          </a:prstGeom>
        </p:spPr>
      </p:pic>
      <p:pic>
        <p:nvPicPr>
          <p:cNvPr id="5" name="Рисунок 4"/>
          <p:cNvPicPr>
            <a:picLocks noChangeAspect="1"/>
          </p:cNvPicPr>
          <p:nvPr/>
        </p:nvPicPr>
        <p:blipFill>
          <a:blip r:embed="rId3"/>
          <a:stretch>
            <a:fillRect/>
          </a:stretch>
        </p:blipFill>
        <p:spPr>
          <a:xfrm>
            <a:off x="6146158" y="1784823"/>
            <a:ext cx="1828679" cy="770170"/>
          </a:xfrm>
          <a:prstGeom prst="rect">
            <a:avLst/>
          </a:prstGeom>
        </p:spPr>
      </p:pic>
      <p:sp>
        <p:nvSpPr>
          <p:cNvPr id="6" name="Прямоугольник 5"/>
          <p:cNvSpPr/>
          <p:nvPr/>
        </p:nvSpPr>
        <p:spPr>
          <a:xfrm>
            <a:off x="915454" y="2663596"/>
            <a:ext cx="10461408" cy="3970318"/>
          </a:xfrm>
          <a:prstGeom prst="rect">
            <a:avLst/>
          </a:prstGeom>
        </p:spPr>
        <p:txBody>
          <a:bodyPr wrap="square">
            <a:spAutoFit/>
          </a:bodyPr>
          <a:lstStyle/>
          <a:p>
            <a:r>
              <a:rPr lang="ru-RU" dirty="0">
                <a:solidFill>
                  <a:srgbClr val="000000"/>
                </a:solidFill>
                <a:latin typeface="Times New Roman" panose="02020603050405020304" pitchFamily="18" charset="0"/>
                <a:cs typeface="Times New Roman" panose="02020603050405020304" pitchFamily="18" charset="0"/>
              </a:rPr>
              <a:t>чему соответствует кривая 2 на рисунке (реальный случай).</a:t>
            </a:r>
            <a:br>
              <a:rPr lang="ru-RU" dirty="0">
                <a:solidFill>
                  <a:srgbClr val="000000"/>
                </a:solidFill>
                <a:latin typeface="Times New Roman" panose="02020603050405020304" pitchFamily="18" charset="0"/>
                <a:cs typeface="Times New Roman" panose="02020603050405020304" pitchFamily="18" charset="0"/>
              </a:rPr>
            </a:br>
            <a:r>
              <a:rPr lang="ru-RU" dirty="0">
                <a:solidFill>
                  <a:srgbClr val="000000"/>
                </a:solidFill>
                <a:latin typeface="Times New Roman" panose="02020603050405020304" pitchFamily="18" charset="0"/>
                <a:cs typeface="Times New Roman" panose="02020603050405020304" pitchFamily="18" charset="0"/>
              </a:rPr>
              <a:t>Эта кривая проходит немного выше кривой до точки А. </a:t>
            </a:r>
            <a:br>
              <a:rPr lang="ru-RU" dirty="0">
                <a:solidFill>
                  <a:srgbClr val="000000"/>
                </a:solidFill>
                <a:latin typeface="Times New Roman" panose="02020603050405020304" pitchFamily="18" charset="0"/>
                <a:cs typeface="Times New Roman" panose="02020603050405020304" pitchFamily="18" charset="0"/>
              </a:rPr>
            </a:br>
            <a:r>
              <a:rPr lang="ru-RU" dirty="0">
                <a:solidFill>
                  <a:srgbClr val="000000"/>
                </a:solidFill>
                <a:latin typeface="Times New Roman" panose="02020603050405020304" pitchFamily="18" charset="0"/>
                <a:cs typeface="Times New Roman" panose="02020603050405020304" pitchFamily="18" charset="0"/>
              </a:rPr>
              <a:t>Область регулирования ниже точки А небезразлична для проектирования. При входном сигнале меньше </a:t>
            </a:r>
            <a:r>
              <a:rPr lang="ru-RU" dirty="0" err="1">
                <a:solidFill>
                  <a:srgbClr val="000000"/>
                </a:solidFill>
                <a:latin typeface="Times New Roman" panose="02020603050405020304" pitchFamily="18" charset="0"/>
                <a:cs typeface="Times New Roman" panose="02020603050405020304" pitchFamily="18" charset="0"/>
              </a:rPr>
              <a:t>Uвх</a:t>
            </a:r>
            <a:r>
              <a:rPr lang="ru-RU" dirty="0">
                <a:solidFill>
                  <a:srgbClr val="000000"/>
                </a:solidFill>
                <a:latin typeface="Times New Roman" panose="02020603050405020304" pitchFamily="18" charset="0"/>
                <a:cs typeface="Times New Roman" panose="02020603050405020304" pitchFamily="18" charset="0"/>
              </a:rPr>
              <a:t> </a:t>
            </a:r>
            <a:r>
              <a:rPr lang="ru-RU" dirty="0" err="1">
                <a:solidFill>
                  <a:srgbClr val="000000"/>
                </a:solidFill>
                <a:latin typeface="Times New Roman" panose="02020603050405020304" pitchFamily="18" charset="0"/>
                <a:cs typeface="Times New Roman" panose="02020603050405020304" pitchFamily="18" charset="0"/>
              </a:rPr>
              <a:t>min</a:t>
            </a:r>
            <a:r>
              <a:rPr lang="ru-RU" dirty="0">
                <a:solidFill>
                  <a:srgbClr val="000000"/>
                </a:solidFill>
                <a:latin typeface="Times New Roman" panose="02020603050405020304" pitchFamily="18" charset="0"/>
                <a:cs typeface="Times New Roman" panose="02020603050405020304" pitchFamily="18" charset="0"/>
              </a:rPr>
              <a:t> возникают искажения из-за шумов РПУ.</a:t>
            </a:r>
            <a:br>
              <a:rPr lang="ru-RU" dirty="0">
                <a:solidFill>
                  <a:srgbClr val="000000"/>
                </a:solidFill>
                <a:latin typeface="Times New Roman" panose="02020603050405020304" pitchFamily="18" charset="0"/>
                <a:cs typeface="Times New Roman" panose="02020603050405020304" pitchFamily="18" charset="0"/>
              </a:rPr>
            </a:br>
            <a:r>
              <a:rPr lang="ru-RU" dirty="0">
                <a:solidFill>
                  <a:srgbClr val="000000"/>
                </a:solidFill>
                <a:latin typeface="Times New Roman" panose="02020603050405020304" pitchFamily="18" charset="0"/>
                <a:cs typeface="Times New Roman" panose="02020603050405020304" pitchFamily="18" charset="0"/>
              </a:rPr>
              <a:t>В простейшем случае закон регулирования может быть продолжением кривой 1 - по кривой 3. Такая регулировка усиления без нарушения непрерывности закона регулирования при снижении напряжения на входе </a:t>
            </a:r>
            <a:r>
              <a:rPr lang="ru-RU" dirty="0" err="1">
                <a:solidFill>
                  <a:srgbClr val="000000"/>
                </a:solidFill>
                <a:latin typeface="Times New Roman" panose="02020603050405020304" pitchFamily="18" charset="0"/>
                <a:cs typeface="Times New Roman" panose="02020603050405020304" pitchFamily="18" charset="0"/>
              </a:rPr>
              <a:t>Uвх</a:t>
            </a:r>
            <a:r>
              <a:rPr lang="ru-RU" dirty="0">
                <a:solidFill>
                  <a:srgbClr val="000000"/>
                </a:solidFill>
                <a:latin typeface="Times New Roman" panose="02020603050405020304" pitchFamily="18" charset="0"/>
                <a:cs typeface="Times New Roman" panose="02020603050405020304" pitchFamily="18" charset="0"/>
              </a:rPr>
              <a:t> меньше </a:t>
            </a:r>
            <a:r>
              <a:rPr lang="ru-RU" dirty="0" err="1">
                <a:solidFill>
                  <a:srgbClr val="000000"/>
                </a:solidFill>
                <a:latin typeface="Times New Roman" panose="02020603050405020304" pitchFamily="18" charset="0"/>
                <a:cs typeface="Times New Roman" panose="02020603050405020304" pitchFamily="18" charset="0"/>
              </a:rPr>
              <a:t>Uвх</a:t>
            </a:r>
            <a:r>
              <a:rPr lang="ru-RU" dirty="0">
                <a:solidFill>
                  <a:srgbClr val="000000"/>
                </a:solidFill>
                <a:latin typeface="Times New Roman" panose="02020603050405020304" pitchFamily="18" charset="0"/>
                <a:cs typeface="Times New Roman" panose="02020603050405020304" pitchFamily="18" charset="0"/>
              </a:rPr>
              <a:t> </a:t>
            </a:r>
            <a:r>
              <a:rPr lang="ru-RU" dirty="0" err="1">
                <a:solidFill>
                  <a:srgbClr val="000000"/>
                </a:solidFill>
                <a:latin typeface="Times New Roman" panose="02020603050405020304" pitchFamily="18" charset="0"/>
                <a:cs typeface="Times New Roman" panose="02020603050405020304" pitchFamily="18" charset="0"/>
              </a:rPr>
              <a:t>min</a:t>
            </a:r>
            <a:r>
              <a:rPr lang="ru-RU" dirty="0">
                <a:solidFill>
                  <a:srgbClr val="000000"/>
                </a:solidFill>
                <a:latin typeface="Times New Roman" panose="02020603050405020304" pitchFamily="18" charset="0"/>
                <a:cs typeface="Times New Roman" panose="02020603050405020304" pitchFamily="18" charset="0"/>
              </a:rPr>
              <a:t> - это «простая» АРУ. Она не применяется по следующим причинам:</a:t>
            </a:r>
            <a:br>
              <a:rPr lang="ru-RU" dirty="0">
                <a:solidFill>
                  <a:srgbClr val="000000"/>
                </a:solidFill>
                <a:latin typeface="Times New Roman" panose="02020603050405020304" pitchFamily="18" charset="0"/>
                <a:cs typeface="Times New Roman" panose="02020603050405020304" pitchFamily="18" charset="0"/>
              </a:rPr>
            </a:br>
            <a:r>
              <a:rPr lang="ru-RU" dirty="0">
                <a:solidFill>
                  <a:srgbClr val="000000"/>
                </a:solidFill>
                <a:latin typeface="Times New Roman" panose="02020603050405020304" pitchFamily="18" charset="0"/>
                <a:cs typeface="Times New Roman" panose="02020603050405020304" pitchFamily="18" charset="0"/>
              </a:rPr>
              <a:t>	- при </a:t>
            </a:r>
            <a:r>
              <a:rPr lang="ru-RU" dirty="0" err="1">
                <a:solidFill>
                  <a:srgbClr val="000000"/>
                </a:solidFill>
                <a:latin typeface="Times New Roman" panose="02020603050405020304" pitchFamily="18" charset="0"/>
                <a:cs typeface="Times New Roman" panose="02020603050405020304" pitchFamily="18" charset="0"/>
              </a:rPr>
              <a:t>Uвх</a:t>
            </a:r>
            <a:r>
              <a:rPr lang="ru-RU" dirty="0">
                <a:solidFill>
                  <a:srgbClr val="000000"/>
                </a:solidFill>
                <a:latin typeface="Times New Roman" panose="02020603050405020304" pitchFamily="18" charset="0"/>
                <a:cs typeface="Times New Roman" panose="02020603050405020304" pitchFamily="18" charset="0"/>
              </a:rPr>
              <a:t>&lt;</a:t>
            </a:r>
            <a:r>
              <a:rPr lang="ru-RU" dirty="0" err="1">
                <a:solidFill>
                  <a:srgbClr val="000000"/>
                </a:solidFill>
                <a:latin typeface="Times New Roman" panose="02020603050405020304" pitchFamily="18" charset="0"/>
                <a:cs typeface="Times New Roman" panose="02020603050405020304" pitchFamily="18" charset="0"/>
              </a:rPr>
              <a:t>Uвх</a:t>
            </a:r>
            <a:r>
              <a:rPr lang="ru-RU" dirty="0">
                <a:solidFill>
                  <a:srgbClr val="000000"/>
                </a:solidFill>
                <a:latin typeface="Times New Roman" panose="02020603050405020304" pitchFamily="18" charset="0"/>
                <a:cs typeface="Times New Roman" panose="02020603050405020304" pitchFamily="18" charset="0"/>
              </a:rPr>
              <a:t> </a:t>
            </a:r>
            <a:r>
              <a:rPr lang="ru-RU" dirty="0" err="1">
                <a:solidFill>
                  <a:srgbClr val="000000"/>
                </a:solidFill>
                <a:latin typeface="Times New Roman" panose="02020603050405020304" pitchFamily="18" charset="0"/>
                <a:cs typeface="Times New Roman" panose="02020603050405020304" pitchFamily="18" charset="0"/>
              </a:rPr>
              <a:t>min</a:t>
            </a:r>
            <a:r>
              <a:rPr lang="ru-RU" dirty="0">
                <a:solidFill>
                  <a:srgbClr val="000000"/>
                </a:solidFill>
                <a:latin typeface="Times New Roman" panose="02020603050405020304" pitchFamily="18" charset="0"/>
                <a:cs typeface="Times New Roman" panose="02020603050405020304" pitchFamily="18" charset="0"/>
              </a:rPr>
              <a:t> выходное напряжение </a:t>
            </a:r>
            <a:r>
              <a:rPr lang="ru-RU" dirty="0" err="1">
                <a:solidFill>
                  <a:srgbClr val="000000"/>
                </a:solidFill>
                <a:latin typeface="Times New Roman" panose="02020603050405020304" pitchFamily="18" charset="0"/>
                <a:cs typeface="Times New Roman" panose="02020603050405020304" pitchFamily="18" charset="0"/>
              </a:rPr>
              <a:t>Uвых</a:t>
            </a:r>
            <a:r>
              <a:rPr lang="ru-RU" dirty="0">
                <a:solidFill>
                  <a:srgbClr val="000000"/>
                </a:solidFill>
                <a:latin typeface="Times New Roman" panose="02020603050405020304" pitchFamily="18" charset="0"/>
                <a:cs typeface="Times New Roman" panose="02020603050405020304" pitchFamily="18" charset="0"/>
              </a:rPr>
              <a:t> будет оставаться постоянным, но оно будет представлять собой смесь</a:t>
            </a:r>
            <a:r>
              <a:rPr lang="ru-RU" dirty="0">
                <a:latin typeface="Times New Roman" panose="02020603050405020304" pitchFamily="18" charset="0"/>
                <a:cs typeface="Times New Roman" panose="02020603050405020304" pitchFamily="18" charset="0"/>
              </a:rPr>
              <a:t> напряжения сигнала </a:t>
            </a:r>
            <a:r>
              <a:rPr lang="ru-RU" dirty="0" err="1">
                <a:latin typeface="Times New Roman" panose="02020603050405020304" pitchFamily="18" charset="0"/>
                <a:cs typeface="Times New Roman" panose="02020603050405020304" pitchFamily="18" charset="0"/>
              </a:rPr>
              <a:t>Uc</a:t>
            </a:r>
            <a:r>
              <a:rPr lang="ru-RU" dirty="0">
                <a:latin typeface="Times New Roman" panose="02020603050405020304" pitchFamily="18" charset="0"/>
                <a:cs typeface="Times New Roman" panose="02020603050405020304" pitchFamily="18" charset="0"/>
              </a:rPr>
              <a:t> и напряжения помехи </a:t>
            </a:r>
            <a:r>
              <a:rPr lang="ru-RU" dirty="0" err="1">
                <a:latin typeface="Times New Roman" panose="02020603050405020304" pitchFamily="18" charset="0"/>
                <a:cs typeface="Times New Roman" panose="02020603050405020304" pitchFamily="18" charset="0"/>
              </a:rPr>
              <a:t>Uп</a:t>
            </a:r>
            <a:r>
              <a:rPr lang="ru-RU" dirty="0">
                <a:latin typeface="Times New Roman" panose="02020603050405020304" pitchFamily="18" charset="0"/>
                <a:cs typeface="Times New Roman" panose="02020603050405020304" pitchFamily="18" charset="0"/>
              </a:rPr>
              <a:t>, причем, чем меньше </a:t>
            </a:r>
            <a:r>
              <a:rPr lang="ru-RU" dirty="0" err="1">
                <a:latin typeface="Times New Roman" panose="02020603050405020304" pitchFamily="18" charset="0"/>
                <a:cs typeface="Times New Roman" panose="02020603050405020304" pitchFamily="18" charset="0"/>
              </a:rPr>
              <a:t>Uc</a:t>
            </a:r>
            <a:r>
              <a:rPr lang="ru-RU" dirty="0">
                <a:latin typeface="Times New Roman" panose="02020603050405020304" pitchFamily="18" charset="0"/>
                <a:cs typeface="Times New Roman" panose="02020603050405020304" pitchFamily="18" charset="0"/>
              </a:rPr>
              <a:t>, тем больше будет доля </a:t>
            </a:r>
            <a:r>
              <a:rPr lang="ru-RU" dirty="0" err="1">
                <a:latin typeface="Times New Roman" panose="02020603050405020304" pitchFamily="18" charset="0"/>
                <a:cs typeface="Times New Roman" panose="02020603050405020304" pitchFamily="18" charset="0"/>
              </a:rPr>
              <a:t>Uп</a:t>
            </a:r>
            <a:r>
              <a:rPr lang="ru-RU" dirty="0">
                <a:latin typeface="Times New Roman" panose="02020603050405020304" pitchFamily="18" charset="0"/>
                <a:cs typeface="Times New Roman" panose="02020603050405020304" pitchFamily="18" charset="0"/>
              </a:rPr>
              <a:t>;</a:t>
            </a:r>
            <a:br>
              <a:rPr lang="ru-RU" dirty="0">
                <a:latin typeface="Times New Roman" panose="02020603050405020304" pitchFamily="18" charset="0"/>
                <a:cs typeface="Times New Roman" panose="02020603050405020304" pitchFamily="18" charset="0"/>
              </a:rPr>
            </a:br>
            <a:r>
              <a:rPr lang="ru-RU" dirty="0">
                <a:latin typeface="Times New Roman" panose="02020603050405020304" pitchFamily="18" charset="0"/>
                <a:cs typeface="Times New Roman" panose="02020603050405020304" pitchFamily="18" charset="0"/>
              </a:rPr>
              <a:t>	- для обеспечения увеличения коэффициента усиления К&gt;</a:t>
            </a:r>
            <a:r>
              <a:rPr lang="ru-RU" dirty="0" err="1">
                <a:latin typeface="Times New Roman" panose="02020603050405020304" pitchFamily="18" charset="0"/>
                <a:cs typeface="Times New Roman" panose="02020603050405020304" pitchFamily="18" charset="0"/>
              </a:rPr>
              <a:t>Kmax</a:t>
            </a:r>
            <a:r>
              <a:rPr lang="ru-RU" dirty="0">
                <a:latin typeface="Times New Roman" panose="02020603050405020304" pitchFamily="18" charset="0"/>
                <a:cs typeface="Times New Roman" panose="02020603050405020304" pitchFamily="18" charset="0"/>
              </a:rPr>
              <a:t> по кривой 3 необходимо дополнительное усиление, но это привело бы к усилению шума, а при выключении сигнала на выходе РПУ будут значительные шумы. Для выхода из этого положения в т. А рисунке АРУ отключают. Коэффициент усиления K остается постоянным и равным </a:t>
            </a:r>
            <a:r>
              <a:rPr lang="ru-RU" dirty="0" err="1">
                <a:latin typeface="Times New Roman" panose="02020603050405020304" pitchFamily="18" charset="0"/>
                <a:cs typeface="Times New Roman" panose="02020603050405020304" pitchFamily="18" charset="0"/>
              </a:rPr>
              <a:t>Kmax</a:t>
            </a:r>
            <a:r>
              <a:rPr lang="ru-RU" dirty="0">
                <a:latin typeface="Times New Roman" panose="02020603050405020304" pitchFamily="18" charset="0"/>
                <a:cs typeface="Times New Roman" panose="02020603050405020304" pitchFamily="18" charset="0"/>
              </a:rPr>
              <a:t> (линия 4). </a:t>
            </a:r>
          </a:p>
        </p:txBody>
      </p:sp>
    </p:spTree>
    <p:extLst>
      <p:ext uri="{BB962C8B-B14F-4D97-AF65-F5344CB8AC3E}">
        <p14:creationId xmlns:p14="http://schemas.microsoft.com/office/powerpoint/2010/main" val="10282965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9E4D6-5127-61D1-4312-FD43B63C974A}"/>
            </a:ext>
          </a:extLst>
        </p:cNvPr>
        <p:cNvGrpSpPr/>
        <p:nvPr/>
      </p:nvGrpSpPr>
      <p:grpSpPr>
        <a:xfrm>
          <a:off x="0" y="0"/>
          <a:ext cx="0" cy="0"/>
          <a:chOff x="0" y="0"/>
          <a:chExt cx="0" cy="0"/>
        </a:xfrm>
      </p:grpSpPr>
      <p:sp>
        <p:nvSpPr>
          <p:cNvPr id="2" name="Прямоугольник 1"/>
          <p:cNvSpPr/>
          <p:nvPr/>
        </p:nvSpPr>
        <p:spPr>
          <a:xfrm>
            <a:off x="1045578" y="501837"/>
            <a:ext cx="6952527" cy="5016758"/>
          </a:xfrm>
          <a:prstGeom prst="rect">
            <a:avLst/>
          </a:prstGeom>
        </p:spPr>
        <p:txBody>
          <a:bodyPr wrap="square">
            <a:spAutoFit/>
          </a:bodyPr>
          <a:lstStyle/>
          <a:p>
            <a:r>
              <a:rPr lang="ru-RU" sz="2000" dirty="0">
                <a:solidFill>
                  <a:srgbClr val="000000"/>
                </a:solidFill>
                <a:latin typeface="Times New Roman" panose="02020603050405020304" pitchFamily="18" charset="0"/>
                <a:cs typeface="Times New Roman" panose="02020603050405020304" pitchFamily="18" charset="0"/>
              </a:rPr>
              <a:t>При малом уровне сигнала </a:t>
            </a:r>
            <a:r>
              <a:rPr lang="ru-RU" sz="2000" dirty="0" err="1">
                <a:solidFill>
                  <a:srgbClr val="000000"/>
                </a:solidFill>
                <a:latin typeface="Times New Roman" panose="02020603050405020304" pitchFamily="18" charset="0"/>
                <a:cs typeface="Times New Roman" panose="02020603050405020304" pitchFamily="18" charset="0"/>
              </a:rPr>
              <a:t>Uc</a:t>
            </a:r>
            <a:r>
              <a:rPr lang="ru-RU" sz="2000" dirty="0">
                <a:solidFill>
                  <a:srgbClr val="000000"/>
                </a:solidFill>
                <a:latin typeface="Times New Roman" panose="02020603050405020304" pitchFamily="18" charset="0"/>
                <a:cs typeface="Times New Roman" panose="02020603050405020304" pitchFamily="18" charset="0"/>
              </a:rPr>
              <a:t> на входе РПУ напряжение, на выходе РПУ остаются только шумы. Для их исключения на этот период настройки коэффициент усиления К уменьшают по характеристике 5. Такая регулировка называется «бесшумной» АРУ. </a:t>
            </a:r>
          </a:p>
          <a:p>
            <a:endParaRPr lang="ru-RU" sz="2000" dirty="0">
              <a:solidFill>
                <a:srgbClr val="000000"/>
              </a:solidFill>
              <a:latin typeface="Times New Roman" panose="02020603050405020304" pitchFamily="18" charset="0"/>
              <a:cs typeface="Times New Roman" panose="02020603050405020304" pitchFamily="18" charset="0"/>
            </a:endParaRPr>
          </a:p>
          <a:p>
            <a:r>
              <a:rPr lang="ru-RU" sz="2000" dirty="0">
                <a:solidFill>
                  <a:srgbClr val="000000"/>
                </a:solidFill>
                <a:latin typeface="Times New Roman" panose="02020603050405020304" pitchFamily="18" charset="0"/>
                <a:cs typeface="Times New Roman" panose="02020603050405020304" pitchFamily="18" charset="0"/>
              </a:rPr>
              <a:t>При простой АРУ и </a:t>
            </a:r>
            <a:r>
              <a:rPr lang="ru-RU" sz="2000" dirty="0" err="1">
                <a:solidFill>
                  <a:srgbClr val="000000"/>
                </a:solidFill>
                <a:latin typeface="Times New Roman" panose="02020603050405020304" pitchFamily="18" charset="0"/>
                <a:cs typeface="Times New Roman" panose="02020603050405020304" pitchFamily="18" charset="0"/>
              </a:rPr>
              <a:t>Uвх</a:t>
            </a:r>
            <a:r>
              <a:rPr lang="ru-RU" sz="2000" dirty="0">
                <a:solidFill>
                  <a:srgbClr val="000000"/>
                </a:solidFill>
                <a:latin typeface="Times New Roman" panose="02020603050405020304" pitchFamily="18" charset="0"/>
                <a:cs typeface="Times New Roman" panose="02020603050405020304" pitchFamily="18" charset="0"/>
              </a:rPr>
              <a:t>  </a:t>
            </a:r>
            <a:r>
              <a:rPr lang="en-US" sz="2000" dirty="0">
                <a:solidFill>
                  <a:srgbClr val="000000"/>
                </a:solidFill>
                <a:latin typeface="Times New Roman" panose="02020603050405020304" pitchFamily="18" charset="0"/>
                <a:cs typeface="Times New Roman" panose="02020603050405020304" pitchFamily="18" charset="0"/>
              </a:rPr>
              <a:t>&lt; </a:t>
            </a:r>
            <a:r>
              <a:rPr lang="ru-RU" sz="2000" dirty="0">
                <a:solidFill>
                  <a:srgbClr val="000000"/>
                </a:solidFill>
                <a:latin typeface="Times New Roman" panose="02020603050405020304" pitchFamily="18" charset="0"/>
                <a:cs typeface="Times New Roman" panose="02020603050405020304" pitchFamily="18" charset="0"/>
              </a:rPr>
              <a:t>E</a:t>
            </a:r>
            <a:r>
              <a:rPr lang="ru-RU" sz="2000" baseline="-25000" dirty="0">
                <a:solidFill>
                  <a:srgbClr val="000000"/>
                </a:solidFill>
                <a:latin typeface="Times New Roman" panose="02020603050405020304" pitchFamily="18" charset="0"/>
                <a:cs typeface="Times New Roman" panose="02020603050405020304" pitchFamily="18" charset="0"/>
              </a:rPr>
              <a:t>A</a:t>
            </a:r>
            <a:r>
              <a:rPr lang="ru-RU" sz="2000" dirty="0">
                <a:solidFill>
                  <a:srgbClr val="000000"/>
                </a:solidFill>
                <a:latin typeface="Times New Roman" panose="02020603050405020304" pitchFamily="18" charset="0"/>
                <a:cs typeface="Times New Roman" panose="02020603050405020304" pitchFamily="18" charset="0"/>
              </a:rPr>
              <a:t> увеличение коэффициента усиления сопровождается увеличением уровня шумов. Поэтому применяют задержанную АРУ, при которой при </a:t>
            </a:r>
            <a:r>
              <a:rPr lang="ru-RU" sz="2000" dirty="0" err="1">
                <a:solidFill>
                  <a:srgbClr val="000000"/>
                </a:solidFill>
                <a:latin typeface="Times New Roman" panose="02020603050405020304" pitchFamily="18" charset="0"/>
                <a:cs typeface="Times New Roman" panose="02020603050405020304" pitchFamily="18" charset="0"/>
              </a:rPr>
              <a:t>Uвх</a:t>
            </a:r>
            <a:r>
              <a:rPr lang="ru-RU" sz="2000" dirty="0">
                <a:solidFill>
                  <a:srgbClr val="000000"/>
                </a:solidFill>
                <a:latin typeface="Times New Roman" panose="02020603050405020304" pitchFamily="18" charset="0"/>
                <a:cs typeface="Times New Roman" panose="02020603050405020304" pitchFamily="18" charset="0"/>
              </a:rPr>
              <a:t>  </a:t>
            </a:r>
            <a:r>
              <a:rPr lang="en-US" sz="2000" dirty="0">
                <a:solidFill>
                  <a:srgbClr val="000000"/>
                </a:solidFill>
                <a:latin typeface="Times New Roman" panose="02020603050405020304" pitchFamily="18" charset="0"/>
                <a:cs typeface="Times New Roman" panose="02020603050405020304" pitchFamily="18" charset="0"/>
              </a:rPr>
              <a:t>&lt; </a:t>
            </a:r>
            <a:r>
              <a:rPr lang="ru-RU" sz="2000" dirty="0">
                <a:solidFill>
                  <a:srgbClr val="000000"/>
                </a:solidFill>
                <a:latin typeface="Times New Roman" panose="02020603050405020304" pitchFamily="18" charset="0"/>
                <a:cs typeface="Times New Roman" panose="02020603050405020304" pitchFamily="18" charset="0"/>
              </a:rPr>
              <a:t>EA  регулирующее напряжение не вырабатывается и коэффициент усиления остается постоянным. Для того, чтобы отсутствовали шумы при перестройке приемника, уменьшают коэффициент усиления при </a:t>
            </a:r>
            <a:r>
              <a:rPr lang="ru-RU" sz="2000" dirty="0" err="1">
                <a:solidFill>
                  <a:srgbClr val="000000"/>
                </a:solidFill>
                <a:latin typeface="Times New Roman" panose="02020603050405020304" pitchFamily="18" charset="0"/>
                <a:cs typeface="Times New Roman" panose="02020603050405020304" pitchFamily="18" charset="0"/>
              </a:rPr>
              <a:t>Uвх</a:t>
            </a:r>
            <a:r>
              <a:rPr lang="ru-RU" sz="2000" dirty="0">
                <a:solidFill>
                  <a:srgbClr val="000000"/>
                </a:solidFill>
                <a:latin typeface="Times New Roman" panose="02020603050405020304" pitchFamily="18" charset="0"/>
                <a:cs typeface="Times New Roman" panose="02020603050405020304" pitchFamily="18" charset="0"/>
              </a:rPr>
              <a:t>  </a:t>
            </a:r>
            <a:r>
              <a:rPr lang="en-US" sz="2000" dirty="0">
                <a:solidFill>
                  <a:srgbClr val="000000"/>
                </a:solidFill>
                <a:latin typeface="Times New Roman" panose="02020603050405020304" pitchFamily="18" charset="0"/>
                <a:cs typeface="Times New Roman" panose="02020603050405020304" pitchFamily="18" charset="0"/>
              </a:rPr>
              <a:t>&lt; </a:t>
            </a:r>
            <a:r>
              <a:rPr lang="ru-RU" sz="2000" dirty="0">
                <a:solidFill>
                  <a:srgbClr val="000000"/>
                </a:solidFill>
                <a:latin typeface="Times New Roman" panose="02020603050405020304" pitchFamily="18" charset="0"/>
                <a:cs typeface="Times New Roman" panose="02020603050405020304" pitchFamily="18" charset="0"/>
              </a:rPr>
              <a:t>E</a:t>
            </a:r>
            <a:r>
              <a:rPr lang="ru-RU" sz="2000" baseline="-25000" dirty="0">
                <a:solidFill>
                  <a:srgbClr val="000000"/>
                </a:solidFill>
                <a:latin typeface="Times New Roman" panose="02020603050405020304" pitchFamily="18" charset="0"/>
                <a:cs typeface="Times New Roman" panose="02020603050405020304" pitchFamily="18" charset="0"/>
              </a:rPr>
              <a:t>A</a:t>
            </a:r>
            <a:r>
              <a:rPr lang="en-US" sz="2000" dirty="0">
                <a:solidFill>
                  <a:srgbClr val="000000"/>
                </a:solidFill>
                <a:latin typeface="Times New Roman" panose="02020603050405020304" pitchFamily="18" charset="0"/>
                <a:cs typeface="Times New Roman" panose="02020603050405020304" pitchFamily="18" charset="0"/>
              </a:rPr>
              <a:t> </a:t>
            </a:r>
            <a:r>
              <a:rPr lang="ru-RU" sz="2000" dirty="0">
                <a:solidFill>
                  <a:srgbClr val="000000"/>
                </a:solidFill>
                <a:latin typeface="Times New Roman" panose="02020603050405020304" pitchFamily="18" charset="0"/>
                <a:cs typeface="Times New Roman" panose="02020603050405020304" pitchFamily="18" charset="0"/>
              </a:rPr>
              <a:t>.</a:t>
            </a:r>
            <a:br>
              <a:rPr lang="ru-RU" sz="2000" dirty="0">
                <a:solidFill>
                  <a:srgbClr val="000000"/>
                </a:solidFill>
                <a:latin typeface="Times New Roman" panose="02020603050405020304" pitchFamily="18" charset="0"/>
                <a:cs typeface="Times New Roman" panose="02020603050405020304" pitchFamily="18" charset="0"/>
              </a:rPr>
            </a:br>
            <a:r>
              <a:rPr lang="ru-RU" sz="2000" dirty="0">
                <a:solidFill>
                  <a:srgbClr val="000000"/>
                </a:solidFill>
                <a:latin typeface="Times New Roman" panose="02020603050405020304" pitchFamily="18" charset="0"/>
                <a:cs typeface="Times New Roman" panose="02020603050405020304" pitchFamily="18" charset="0"/>
              </a:rPr>
              <a:t>Для автоматического изменения коэффициента усиления K используется специальное регулирующее напряжение, которое</a:t>
            </a:r>
            <a:r>
              <a:rPr lang="en-US" sz="2000" dirty="0">
                <a:solidFill>
                  <a:srgbClr val="000000"/>
                </a:solidFill>
                <a:latin typeface="Times New Roman" panose="02020603050405020304" pitchFamily="18" charset="0"/>
                <a:cs typeface="Times New Roman" panose="02020603050405020304" pitchFamily="18" charset="0"/>
              </a:rPr>
              <a:t> </a:t>
            </a:r>
            <a:r>
              <a:rPr lang="ru-RU" sz="2000" dirty="0">
                <a:solidFill>
                  <a:srgbClr val="000000"/>
                </a:solidFill>
                <a:latin typeface="Times New Roman" panose="02020603050405020304" pitchFamily="18" charset="0"/>
                <a:cs typeface="Times New Roman" panose="02020603050405020304" pitchFamily="18" charset="0"/>
              </a:rPr>
              <a:t>зависит от уровня входного сигнала.</a:t>
            </a:r>
            <a:r>
              <a:rPr lang="ru-RU" sz="2000" dirty="0">
                <a:latin typeface="Times New Roman" panose="02020603050405020304" pitchFamily="18" charset="0"/>
                <a:cs typeface="Times New Roman" panose="02020603050405020304" pitchFamily="18" charset="0"/>
              </a:rPr>
              <a:t> </a:t>
            </a:r>
          </a:p>
        </p:txBody>
      </p:sp>
      <p:pic>
        <p:nvPicPr>
          <p:cNvPr id="3" name="Рисунок 2"/>
          <p:cNvPicPr>
            <a:picLocks noChangeAspect="1"/>
          </p:cNvPicPr>
          <p:nvPr/>
        </p:nvPicPr>
        <p:blipFill>
          <a:blip r:embed="rId2"/>
          <a:stretch>
            <a:fillRect/>
          </a:stretch>
        </p:blipFill>
        <p:spPr>
          <a:xfrm>
            <a:off x="7998105" y="1064871"/>
            <a:ext cx="4023564" cy="2220638"/>
          </a:xfrm>
          <a:prstGeom prst="rect">
            <a:avLst/>
          </a:prstGeom>
        </p:spPr>
      </p:pic>
    </p:spTree>
    <p:extLst>
      <p:ext uri="{BB962C8B-B14F-4D97-AF65-F5344CB8AC3E}">
        <p14:creationId xmlns:p14="http://schemas.microsoft.com/office/powerpoint/2010/main" val="37362282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9E4D6-5127-61D1-4312-FD43B63C974A}"/>
            </a:ext>
          </a:extLst>
        </p:cNvPr>
        <p:cNvGrpSpPr/>
        <p:nvPr/>
      </p:nvGrpSpPr>
      <p:grpSpPr>
        <a:xfrm>
          <a:off x="0" y="0"/>
          <a:ext cx="0" cy="0"/>
          <a:chOff x="0" y="0"/>
          <a:chExt cx="0" cy="0"/>
        </a:xfrm>
      </p:grpSpPr>
      <p:sp>
        <p:nvSpPr>
          <p:cNvPr id="3" name="Прямоугольник 2"/>
          <p:cNvSpPr/>
          <p:nvPr/>
        </p:nvSpPr>
        <p:spPr>
          <a:xfrm>
            <a:off x="733064" y="459598"/>
            <a:ext cx="9603128" cy="5909310"/>
          </a:xfrm>
          <a:prstGeom prst="rect">
            <a:avLst/>
          </a:prstGeom>
        </p:spPr>
        <p:txBody>
          <a:bodyPr wrap="square">
            <a:spAutoFit/>
          </a:bodyPr>
          <a:lstStyle/>
          <a:p>
            <a:r>
              <a:rPr lang="ru-RU" dirty="0">
                <a:solidFill>
                  <a:srgbClr val="000000"/>
                </a:solidFill>
                <a:latin typeface="Times New Roman" panose="02020603050405020304" pitchFamily="18" charset="0"/>
                <a:cs typeface="Times New Roman" panose="02020603050405020304" pitchFamily="18" charset="0"/>
              </a:rPr>
              <a:t>Рассмотрим </a:t>
            </a:r>
            <a:r>
              <a:rPr lang="ru-RU" b="1" dirty="0">
                <a:solidFill>
                  <a:srgbClr val="000000"/>
                </a:solidFill>
                <a:latin typeface="Times New Roman" panose="02020603050405020304" pitchFamily="18" charset="0"/>
                <a:cs typeface="Times New Roman" panose="02020603050405020304" pitchFamily="18" charset="0"/>
              </a:rPr>
              <a:t>классификацию систем АРУ</a:t>
            </a:r>
            <a:r>
              <a:rPr lang="ru-RU" dirty="0">
                <a:solidFill>
                  <a:srgbClr val="000000"/>
                </a:solidFill>
                <a:latin typeface="Times New Roman" panose="02020603050405020304" pitchFamily="18" charset="0"/>
                <a:cs typeface="Times New Roman" panose="02020603050405020304" pitchFamily="18" charset="0"/>
              </a:rPr>
              <a:t>.</a:t>
            </a:r>
          </a:p>
          <a:p>
            <a:br>
              <a:rPr lang="ru-RU" dirty="0">
                <a:solidFill>
                  <a:srgbClr val="000000"/>
                </a:solidFill>
                <a:latin typeface="Times New Roman" panose="02020603050405020304" pitchFamily="18" charset="0"/>
                <a:cs typeface="Times New Roman" panose="02020603050405020304" pitchFamily="18" charset="0"/>
              </a:rPr>
            </a:br>
            <a:r>
              <a:rPr lang="ru-RU" dirty="0">
                <a:solidFill>
                  <a:srgbClr val="000000"/>
                </a:solidFill>
                <a:latin typeface="Times New Roman" panose="02020603050405020304" pitchFamily="18" charset="0"/>
                <a:cs typeface="Times New Roman" panose="02020603050405020304" pitchFamily="18" charset="0"/>
              </a:rPr>
              <a:t>- </a:t>
            </a:r>
            <a:r>
              <a:rPr lang="ru-RU" i="1" dirty="0">
                <a:solidFill>
                  <a:srgbClr val="000000"/>
                </a:solidFill>
                <a:latin typeface="Times New Roman" panose="02020603050405020304" pitchFamily="18" charset="0"/>
                <a:cs typeface="Times New Roman" panose="02020603050405020304" pitchFamily="18" charset="0"/>
              </a:rPr>
              <a:t>По способу получения регулирующего напряжения</a:t>
            </a:r>
            <a:r>
              <a:rPr lang="ru-RU" dirty="0">
                <a:solidFill>
                  <a:srgbClr val="000000"/>
                </a:solidFill>
                <a:latin typeface="Times New Roman" panose="02020603050405020304" pitchFamily="18" charset="0"/>
                <a:cs typeface="Times New Roman" panose="02020603050405020304" pitchFamily="18" charset="0"/>
              </a:rPr>
              <a:t>.</a:t>
            </a:r>
            <a:br>
              <a:rPr lang="ru-RU" dirty="0">
                <a:solidFill>
                  <a:srgbClr val="000000"/>
                </a:solidFill>
                <a:latin typeface="Times New Roman" panose="02020603050405020304" pitchFamily="18" charset="0"/>
                <a:cs typeface="Times New Roman" panose="02020603050405020304" pitchFamily="18" charset="0"/>
              </a:rPr>
            </a:br>
            <a:r>
              <a:rPr lang="ru-RU" dirty="0">
                <a:solidFill>
                  <a:srgbClr val="000000"/>
                </a:solidFill>
                <a:latin typeface="Times New Roman" panose="02020603050405020304" pitchFamily="18" charset="0"/>
                <a:cs typeface="Times New Roman" panose="02020603050405020304" pitchFamily="18" charset="0"/>
              </a:rPr>
              <a:t>Наиболее постой способ получения регулирующего напряжения </a:t>
            </a:r>
            <a:r>
              <a:rPr lang="ru-RU" dirty="0" err="1">
                <a:solidFill>
                  <a:srgbClr val="000000"/>
                </a:solidFill>
                <a:latin typeface="Times New Roman" panose="02020603050405020304" pitchFamily="18" charset="0"/>
                <a:cs typeface="Times New Roman" panose="02020603050405020304" pitchFamily="18" charset="0"/>
              </a:rPr>
              <a:t>Uрег</a:t>
            </a:r>
            <a:r>
              <a:rPr lang="ru-RU" dirty="0">
                <a:solidFill>
                  <a:srgbClr val="000000"/>
                </a:solidFill>
                <a:latin typeface="Times New Roman" panose="02020603050405020304" pitchFamily="18" charset="0"/>
                <a:cs typeface="Times New Roman" panose="02020603050405020304" pitchFamily="18" charset="0"/>
              </a:rPr>
              <a:t> состоит в использовании выпрямленного напряжения сигнала </a:t>
            </a:r>
            <a:r>
              <a:rPr lang="ru-RU" dirty="0" err="1">
                <a:solidFill>
                  <a:srgbClr val="000000"/>
                </a:solidFill>
                <a:latin typeface="Times New Roman" panose="02020603050405020304" pitchFamily="18" charset="0"/>
                <a:cs typeface="Times New Roman" panose="02020603050405020304" pitchFamily="18" charset="0"/>
              </a:rPr>
              <a:t>Uc</a:t>
            </a:r>
            <a:r>
              <a:rPr lang="ru-RU" dirty="0">
                <a:solidFill>
                  <a:srgbClr val="000000"/>
                </a:solidFill>
                <a:latin typeface="Times New Roman" panose="02020603050405020304" pitchFamily="18" charset="0"/>
                <a:cs typeface="Times New Roman" panose="02020603050405020304" pitchFamily="18" charset="0"/>
              </a:rPr>
              <a:t>. Для этого может быть использован амплитудный детектор. Однако, требования к нему здесь другие, чем для условий приема АМ сигнала, когда детектор должен воспроизводить огибающую сигнала. </a:t>
            </a:r>
          </a:p>
          <a:p>
            <a:r>
              <a:rPr lang="ru-RU" dirty="0">
                <a:solidFill>
                  <a:srgbClr val="000000"/>
                </a:solidFill>
                <a:latin typeface="Times New Roman" panose="02020603050405020304" pitchFamily="18" charset="0"/>
                <a:cs typeface="Times New Roman" panose="02020603050405020304" pitchFamily="18" charset="0"/>
              </a:rPr>
              <a:t>Если применить такой детектор для АРУ,</a:t>
            </a:r>
            <a:r>
              <a:rPr lang="ru-RU" dirty="0">
                <a:latin typeface="Times New Roman" panose="02020603050405020304" pitchFamily="18" charset="0"/>
                <a:cs typeface="Times New Roman" panose="02020603050405020304" pitchFamily="18" charset="0"/>
              </a:rPr>
              <a:t> </a:t>
            </a:r>
            <a:r>
              <a:rPr lang="ru-RU" dirty="0">
                <a:solidFill>
                  <a:srgbClr val="000000"/>
                </a:solidFill>
                <a:latin typeface="Times New Roman" panose="02020603050405020304" pitchFamily="18" charset="0"/>
                <a:cs typeface="Times New Roman" panose="02020603050405020304" pitchFamily="18" charset="0"/>
              </a:rPr>
              <a:t>то цепь АРУ подавит амплитудную модуляцию принимаемого сигнала, что, естественно, недопустимо, так как потеряется информация. Чтобы не было подавления модуляции регулирующее напряжение </a:t>
            </a:r>
            <a:r>
              <a:rPr lang="ru-RU" dirty="0" err="1">
                <a:solidFill>
                  <a:srgbClr val="000000"/>
                </a:solidFill>
                <a:latin typeface="Times New Roman" panose="02020603050405020304" pitchFamily="18" charset="0"/>
                <a:cs typeface="Times New Roman" panose="02020603050405020304" pitchFamily="18" charset="0"/>
              </a:rPr>
              <a:t>Uрег</a:t>
            </a:r>
            <a:r>
              <a:rPr lang="ru-RU" dirty="0">
                <a:solidFill>
                  <a:srgbClr val="000000"/>
                </a:solidFill>
                <a:latin typeface="Times New Roman" panose="02020603050405020304" pitchFamily="18" charset="0"/>
                <a:cs typeface="Times New Roman" panose="02020603050405020304" pitchFamily="18" charset="0"/>
              </a:rPr>
              <a:t> не должно содержать переменной составляющей.</a:t>
            </a:r>
            <a:br>
              <a:rPr lang="ru-RU" dirty="0">
                <a:solidFill>
                  <a:srgbClr val="000000"/>
                </a:solidFill>
                <a:latin typeface="Times New Roman" panose="02020603050405020304" pitchFamily="18" charset="0"/>
                <a:cs typeface="Times New Roman" panose="02020603050405020304" pitchFamily="18" charset="0"/>
              </a:rPr>
            </a:br>
            <a:r>
              <a:rPr lang="ru-RU" dirty="0">
                <a:solidFill>
                  <a:srgbClr val="000000"/>
                </a:solidFill>
                <a:latin typeface="Times New Roman" panose="02020603050405020304" pitchFamily="18" charset="0"/>
                <a:cs typeface="Times New Roman" panose="02020603050405020304" pitchFamily="18" charset="0"/>
              </a:rPr>
              <a:t>Для этого применяются два способа:</a:t>
            </a:r>
            <a:br>
              <a:rPr lang="ru-RU" dirty="0">
                <a:solidFill>
                  <a:srgbClr val="000000"/>
                </a:solidFill>
                <a:latin typeface="Times New Roman" panose="02020603050405020304" pitchFamily="18" charset="0"/>
                <a:cs typeface="Times New Roman" panose="02020603050405020304" pitchFamily="18" charset="0"/>
              </a:rPr>
            </a:br>
            <a:r>
              <a:rPr lang="ru-RU" dirty="0">
                <a:solidFill>
                  <a:srgbClr val="000000"/>
                </a:solidFill>
                <a:latin typeface="Times New Roman" panose="02020603050405020304" pitchFamily="18" charset="0"/>
                <a:cs typeface="Times New Roman" panose="02020603050405020304" pitchFamily="18" charset="0"/>
              </a:rPr>
              <a:t>- постоянная времени на выходе амплитудного детектора увеличивается таким образом, чтобы напряжение на емкости </a:t>
            </a:r>
            <a:r>
              <a:rPr lang="ru-RU" dirty="0" err="1">
                <a:solidFill>
                  <a:srgbClr val="000000"/>
                </a:solidFill>
                <a:latin typeface="Times New Roman" panose="02020603050405020304" pitchFamily="18" charset="0"/>
                <a:cs typeface="Times New Roman" panose="02020603050405020304" pitchFamily="18" charset="0"/>
              </a:rPr>
              <a:t>Cн</a:t>
            </a:r>
            <a:r>
              <a:rPr lang="ru-RU" dirty="0">
                <a:solidFill>
                  <a:srgbClr val="000000"/>
                </a:solidFill>
                <a:latin typeface="Times New Roman" panose="02020603050405020304" pitchFamily="18" charset="0"/>
                <a:cs typeface="Times New Roman" panose="02020603050405020304" pitchFamily="18" charset="0"/>
              </a:rPr>
              <a:t> оставалось равным максимальной амплитуде и обеспечивалось большое время разряда </a:t>
            </a:r>
            <a:r>
              <a:rPr lang="ru-RU" dirty="0" err="1">
                <a:solidFill>
                  <a:srgbClr val="000000"/>
                </a:solidFill>
                <a:latin typeface="Times New Roman" panose="02020603050405020304" pitchFamily="18" charset="0"/>
                <a:cs typeface="Times New Roman" panose="02020603050405020304" pitchFamily="18" charset="0"/>
              </a:rPr>
              <a:t>Сн</a:t>
            </a:r>
            <a:r>
              <a:rPr lang="ru-RU" dirty="0">
                <a:solidFill>
                  <a:srgbClr val="000000"/>
                </a:solidFill>
                <a:latin typeface="Times New Roman" panose="02020603050405020304" pitchFamily="18" charset="0"/>
                <a:cs typeface="Times New Roman" panose="02020603050405020304" pitchFamily="18" charset="0"/>
              </a:rPr>
              <a:t>.   При этом выходное напряжение отслеживает максимумы напряжения (пики), не воспроизводя огибающей (такой режим обеспечивает пиковый детектор).</a:t>
            </a:r>
            <a:br>
              <a:rPr lang="ru-RU" dirty="0">
                <a:solidFill>
                  <a:srgbClr val="000000"/>
                </a:solidFill>
                <a:latin typeface="Times New Roman" panose="02020603050405020304" pitchFamily="18" charset="0"/>
                <a:cs typeface="Times New Roman" panose="02020603050405020304" pitchFamily="18" charset="0"/>
              </a:rPr>
            </a:br>
            <a:r>
              <a:rPr lang="ru-RU" dirty="0">
                <a:solidFill>
                  <a:srgbClr val="000000"/>
                </a:solidFill>
                <a:latin typeface="Times New Roman" panose="02020603050405020304" pitchFamily="18" charset="0"/>
                <a:cs typeface="Times New Roman" panose="02020603050405020304" pitchFamily="18" charset="0"/>
              </a:rPr>
              <a:t>- постоянная времени на выходе амплитудного детектора как у детектора для огибающей. Напряжение на выходе детектора </a:t>
            </a:r>
            <a:r>
              <a:rPr lang="ru-RU" dirty="0" err="1">
                <a:solidFill>
                  <a:srgbClr val="000000"/>
                </a:solidFill>
                <a:latin typeface="Times New Roman" panose="02020603050405020304" pitchFamily="18" charset="0"/>
                <a:cs typeface="Times New Roman" panose="02020603050405020304" pitchFamily="18" charset="0"/>
              </a:rPr>
              <a:t>Ед</a:t>
            </a:r>
            <a:r>
              <a:rPr lang="ru-RU" dirty="0">
                <a:solidFill>
                  <a:srgbClr val="000000"/>
                </a:solidFill>
                <a:latin typeface="Times New Roman" panose="02020603050405020304" pitchFamily="18" charset="0"/>
                <a:cs typeface="Times New Roman" panose="02020603050405020304" pitchFamily="18" charset="0"/>
              </a:rPr>
              <a:t> проходит через разделительный конденсатор для</a:t>
            </a:r>
            <a:br>
              <a:rPr lang="ru-RU" dirty="0">
                <a:solidFill>
                  <a:srgbClr val="000000"/>
                </a:solidFill>
                <a:latin typeface="Times New Roman" panose="02020603050405020304" pitchFamily="18" charset="0"/>
                <a:cs typeface="Times New Roman" panose="02020603050405020304" pitchFamily="18" charset="0"/>
              </a:rPr>
            </a:br>
            <a:r>
              <a:rPr lang="ru-RU" dirty="0">
                <a:solidFill>
                  <a:srgbClr val="000000"/>
                </a:solidFill>
                <a:latin typeface="Times New Roman" panose="02020603050405020304" pitchFamily="18" charset="0"/>
                <a:cs typeface="Times New Roman" panose="02020603050405020304" pitchFamily="18" charset="0"/>
              </a:rPr>
              <a:t>дальнейшего усиления, а для АРУ используют постоянную составляющую сигнала с выхода детектора (среднее значение), подаваемую в цепь АРУ через ФНЧ.</a:t>
            </a:r>
            <a:r>
              <a:rPr lang="ru-RU"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749396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9E4D6-5127-61D1-4312-FD43B63C974A}"/>
            </a:ext>
          </a:extLst>
        </p:cNvPr>
        <p:cNvGrpSpPr/>
        <p:nvPr/>
      </p:nvGrpSpPr>
      <p:grpSpPr>
        <a:xfrm>
          <a:off x="0" y="0"/>
          <a:ext cx="0" cy="0"/>
          <a:chOff x="0" y="0"/>
          <a:chExt cx="0" cy="0"/>
        </a:xfrm>
      </p:grpSpPr>
      <p:sp>
        <p:nvSpPr>
          <p:cNvPr id="2" name="Прямоугольник 1"/>
          <p:cNvSpPr/>
          <p:nvPr/>
        </p:nvSpPr>
        <p:spPr>
          <a:xfrm>
            <a:off x="1091879" y="675548"/>
            <a:ext cx="6096000" cy="1015663"/>
          </a:xfrm>
          <a:prstGeom prst="rect">
            <a:avLst/>
          </a:prstGeom>
        </p:spPr>
        <p:txBody>
          <a:bodyPr>
            <a:spAutoFit/>
          </a:bodyPr>
          <a:lstStyle/>
          <a:p>
            <a:r>
              <a:rPr lang="ru-RU" sz="2000" b="1" dirty="0">
                <a:solidFill>
                  <a:srgbClr val="000000"/>
                </a:solidFill>
                <a:latin typeface="Times New Roman" panose="02020603050405020304" pitchFamily="18" charset="0"/>
                <a:cs typeface="Times New Roman" panose="02020603050405020304" pitchFamily="18" charset="0"/>
              </a:rPr>
              <a:t>3. Структурные электрические схемы АРУ</a:t>
            </a:r>
          </a:p>
          <a:p>
            <a:br>
              <a:rPr lang="ru-RU" sz="2000" b="1" dirty="0">
                <a:solidFill>
                  <a:srgbClr val="000000"/>
                </a:solidFill>
                <a:latin typeface="Times New Roman" panose="02020603050405020304" pitchFamily="18" charset="0"/>
                <a:cs typeface="Times New Roman" panose="02020603050405020304" pitchFamily="18" charset="0"/>
              </a:rPr>
            </a:br>
            <a:r>
              <a:rPr lang="ru-RU" sz="2000" b="1" dirty="0">
                <a:solidFill>
                  <a:srgbClr val="000000"/>
                </a:solidFill>
                <a:latin typeface="Times New Roman" panose="02020603050405020304" pitchFamily="18" charset="0"/>
                <a:cs typeface="Times New Roman" panose="02020603050405020304" pitchFamily="18" charset="0"/>
              </a:rPr>
              <a:t>3.1. Обратная АРУ</a:t>
            </a:r>
            <a:r>
              <a:rPr lang="ru-RU" sz="2000" dirty="0">
                <a:latin typeface="Times New Roman" panose="02020603050405020304" pitchFamily="18" charset="0"/>
                <a:cs typeface="Times New Roman" panose="02020603050405020304" pitchFamily="18" charset="0"/>
              </a:rPr>
              <a:t> </a:t>
            </a:r>
          </a:p>
        </p:txBody>
      </p:sp>
      <p:pic>
        <p:nvPicPr>
          <p:cNvPr id="3" name="Рисунок 2"/>
          <p:cNvPicPr>
            <a:picLocks noChangeAspect="1"/>
          </p:cNvPicPr>
          <p:nvPr/>
        </p:nvPicPr>
        <p:blipFill>
          <a:blip r:embed="rId2"/>
          <a:stretch>
            <a:fillRect/>
          </a:stretch>
        </p:blipFill>
        <p:spPr>
          <a:xfrm>
            <a:off x="7952350" y="1146760"/>
            <a:ext cx="2676525" cy="2228850"/>
          </a:xfrm>
          <a:prstGeom prst="rect">
            <a:avLst/>
          </a:prstGeom>
        </p:spPr>
      </p:pic>
      <p:sp>
        <p:nvSpPr>
          <p:cNvPr id="4" name="Прямоугольник 3"/>
          <p:cNvSpPr/>
          <p:nvPr/>
        </p:nvSpPr>
        <p:spPr>
          <a:xfrm>
            <a:off x="7580874" y="3943720"/>
            <a:ext cx="3734765" cy="369332"/>
          </a:xfrm>
          <a:prstGeom prst="rect">
            <a:avLst/>
          </a:prstGeom>
        </p:spPr>
        <p:txBody>
          <a:bodyPr wrap="square">
            <a:spAutoFit/>
          </a:bodyPr>
          <a:lstStyle/>
          <a:p>
            <a:r>
              <a:rPr lang="ru-RU" dirty="0">
                <a:solidFill>
                  <a:srgbClr val="000000"/>
                </a:solidFill>
                <a:latin typeface="Times New Roman" panose="02020603050405020304" pitchFamily="18" charset="0"/>
                <a:cs typeface="Times New Roman" panose="02020603050405020304" pitchFamily="18" charset="0"/>
              </a:rPr>
              <a:t>Структурная схема обратной АРУ</a:t>
            </a:r>
            <a:endParaRPr lang="ru-RU" dirty="0">
              <a:latin typeface="Times New Roman" panose="02020603050405020304" pitchFamily="18" charset="0"/>
              <a:cs typeface="Times New Roman" panose="02020603050405020304" pitchFamily="18" charset="0"/>
            </a:endParaRPr>
          </a:p>
        </p:txBody>
      </p:sp>
      <p:sp>
        <p:nvSpPr>
          <p:cNvPr id="5" name="Прямоугольник 4"/>
          <p:cNvSpPr/>
          <p:nvPr/>
        </p:nvSpPr>
        <p:spPr>
          <a:xfrm>
            <a:off x="883805" y="2261185"/>
            <a:ext cx="6304073" cy="3785652"/>
          </a:xfrm>
          <a:prstGeom prst="rect">
            <a:avLst/>
          </a:prstGeom>
        </p:spPr>
        <p:txBody>
          <a:bodyPr wrap="square">
            <a:spAutoFit/>
          </a:bodyPr>
          <a:lstStyle/>
          <a:p>
            <a:r>
              <a:rPr lang="ru-RU" sz="2000" dirty="0">
                <a:solidFill>
                  <a:srgbClr val="000000"/>
                </a:solidFill>
                <a:latin typeface="Times New Roman" panose="02020603050405020304" pitchFamily="18" charset="0"/>
                <a:cs typeface="Times New Roman" panose="02020603050405020304" pitchFamily="18" charset="0"/>
              </a:rPr>
              <a:t>В этой схеме регулирующее напряжение получается путем детектирования и последующей фильтрации выходного напряжения регулируемого тракта. ФНЧ – фильтр АРУ - применяют для того, чтобы избежать изменения коэффициента усиления с частотой модуляции при амплитудной модуляции и из-за изменения амплитуды сигнала под действием помех.</a:t>
            </a:r>
            <a:br>
              <a:rPr lang="ru-RU" sz="2000" dirty="0">
                <a:solidFill>
                  <a:srgbClr val="000000"/>
                </a:solidFill>
                <a:latin typeface="Times New Roman" panose="02020603050405020304" pitchFamily="18" charset="0"/>
                <a:cs typeface="Times New Roman" panose="02020603050405020304" pitchFamily="18" charset="0"/>
              </a:rPr>
            </a:br>
            <a:r>
              <a:rPr lang="ru-RU" sz="2000" dirty="0">
                <a:solidFill>
                  <a:srgbClr val="000000"/>
                </a:solidFill>
                <a:latin typeface="Times New Roman" panose="02020603050405020304" pitchFamily="18" charset="0"/>
                <a:cs typeface="Times New Roman" panose="02020603050405020304" pitchFamily="18" charset="0"/>
              </a:rPr>
              <a:t>Достоинство обратной АРУ – простота, недостаток – невозможность обеспечения постоянства выходного напряжения, так как регулировка осуществляется за счет изменения</a:t>
            </a:r>
            <a:r>
              <a:rPr lang="ru-RU" sz="2000" dirty="0">
                <a:latin typeface="Times New Roman" panose="02020603050405020304" pitchFamily="18" charset="0"/>
                <a:cs typeface="Times New Roman" panose="02020603050405020304" pitchFamily="18" charset="0"/>
              </a:rPr>
              <a:t> </a:t>
            </a:r>
            <a:r>
              <a:rPr lang="ru-RU" sz="2000" dirty="0">
                <a:solidFill>
                  <a:srgbClr val="000000"/>
                </a:solidFill>
                <a:latin typeface="Times New Roman" panose="02020603050405020304" pitchFamily="18" charset="0"/>
                <a:cs typeface="Times New Roman" panose="02020603050405020304" pitchFamily="18" charset="0"/>
              </a:rPr>
              <a:t>коэффициент</a:t>
            </a:r>
            <a:r>
              <a:rPr lang="en-US" sz="2000" dirty="0">
                <a:solidFill>
                  <a:srgbClr val="000000"/>
                </a:solidFill>
                <a:latin typeface="Times New Roman" panose="02020603050405020304" pitchFamily="18" charset="0"/>
                <a:cs typeface="Times New Roman" panose="02020603050405020304" pitchFamily="18" charset="0"/>
              </a:rPr>
              <a:t>f</a:t>
            </a:r>
            <a:r>
              <a:rPr lang="ru-RU" sz="2000" dirty="0">
                <a:solidFill>
                  <a:srgbClr val="000000"/>
                </a:solidFill>
                <a:latin typeface="Times New Roman" panose="02020603050405020304" pitchFamily="18" charset="0"/>
                <a:cs typeface="Times New Roman" panose="02020603050405020304" pitchFamily="18" charset="0"/>
              </a:rPr>
              <a:t> усиления цепи АРУ (цепи обратной связи)</a:t>
            </a:r>
            <a:r>
              <a:rPr lang="en-US" sz="2000" dirty="0">
                <a:solidFill>
                  <a:srgbClr val="000000"/>
                </a:solidFill>
                <a:latin typeface="Times New Roman" panose="02020603050405020304" pitchFamily="18" charset="0"/>
                <a:cs typeface="Times New Roman" panose="02020603050405020304" pitchFamily="18" charset="0"/>
              </a:rPr>
              <a:t>.</a:t>
            </a:r>
            <a:endParaRPr lang="ru-RU"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10771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9E4D6-5127-61D1-4312-FD43B63C974A}"/>
            </a:ext>
          </a:extLst>
        </p:cNvPr>
        <p:cNvGrpSpPr/>
        <p:nvPr/>
      </p:nvGrpSpPr>
      <p:grpSpPr>
        <a:xfrm>
          <a:off x="0" y="0"/>
          <a:ext cx="0" cy="0"/>
          <a:chOff x="0" y="0"/>
          <a:chExt cx="0" cy="0"/>
        </a:xfrm>
      </p:grpSpPr>
      <p:sp>
        <p:nvSpPr>
          <p:cNvPr id="2" name="Прямоугольник 1"/>
          <p:cNvSpPr/>
          <p:nvPr/>
        </p:nvSpPr>
        <p:spPr>
          <a:xfrm>
            <a:off x="1091879" y="351023"/>
            <a:ext cx="6096000" cy="707886"/>
          </a:xfrm>
          <a:prstGeom prst="rect">
            <a:avLst/>
          </a:prstGeom>
        </p:spPr>
        <p:txBody>
          <a:bodyPr>
            <a:spAutoFit/>
          </a:bodyPr>
          <a:lstStyle/>
          <a:p>
            <a:r>
              <a:rPr lang="ru-RU" sz="2000" b="1" dirty="0">
                <a:solidFill>
                  <a:srgbClr val="000000"/>
                </a:solidFill>
                <a:latin typeface="Times New Roman" panose="02020603050405020304" pitchFamily="18" charset="0"/>
                <a:cs typeface="Times New Roman" panose="02020603050405020304" pitchFamily="18" charset="0"/>
              </a:rPr>
              <a:t>Характеристика регулирования простой</a:t>
            </a:r>
          </a:p>
          <a:p>
            <a:r>
              <a:rPr lang="ru-RU" sz="2000" b="1" dirty="0">
                <a:solidFill>
                  <a:srgbClr val="000000"/>
                </a:solidFill>
                <a:latin typeface="Times New Roman" panose="02020603050405020304" pitchFamily="18" charset="0"/>
                <a:cs typeface="Times New Roman" panose="02020603050405020304" pitchFamily="18" charset="0"/>
              </a:rPr>
              <a:t>обратной АРУ</a:t>
            </a:r>
            <a:endParaRPr lang="ru-RU" sz="2000" dirty="0">
              <a:latin typeface="Times New Roman" panose="02020603050405020304" pitchFamily="18" charset="0"/>
              <a:cs typeface="Times New Roman" panose="02020603050405020304" pitchFamily="18" charset="0"/>
            </a:endParaRPr>
          </a:p>
        </p:txBody>
      </p:sp>
      <p:pic>
        <p:nvPicPr>
          <p:cNvPr id="3" name="Рисунок 2"/>
          <p:cNvPicPr>
            <a:picLocks noChangeAspect="1"/>
          </p:cNvPicPr>
          <p:nvPr/>
        </p:nvPicPr>
        <p:blipFill>
          <a:blip r:embed="rId2"/>
          <a:stretch>
            <a:fillRect/>
          </a:stretch>
        </p:blipFill>
        <p:spPr>
          <a:xfrm>
            <a:off x="7952350" y="1146760"/>
            <a:ext cx="2676525" cy="2228850"/>
          </a:xfrm>
          <a:prstGeom prst="rect">
            <a:avLst/>
          </a:prstGeom>
        </p:spPr>
      </p:pic>
      <p:sp>
        <p:nvSpPr>
          <p:cNvPr id="5" name="Прямоугольник 4"/>
          <p:cNvSpPr/>
          <p:nvPr/>
        </p:nvSpPr>
        <p:spPr>
          <a:xfrm>
            <a:off x="825491" y="1383434"/>
            <a:ext cx="7269536" cy="1938992"/>
          </a:xfrm>
          <a:prstGeom prst="rect">
            <a:avLst/>
          </a:prstGeom>
        </p:spPr>
        <p:txBody>
          <a:bodyPr wrap="square">
            <a:spAutoFit/>
          </a:bodyPr>
          <a:lstStyle/>
          <a:p>
            <a:r>
              <a:rPr lang="ru-RU" sz="2000" dirty="0">
                <a:solidFill>
                  <a:srgbClr val="000000"/>
                </a:solidFill>
                <a:latin typeface="Times New Roman" panose="02020603050405020304" pitchFamily="18" charset="0"/>
                <a:cs typeface="Times New Roman" panose="02020603050405020304" pitchFamily="18" charset="0"/>
              </a:rPr>
              <a:t>Характеристикой регулирования системы АРУ называется зависимость амплитуды несущей выходного напряжения регулируемого тракта от амплитуды несущей входного напряжения.</a:t>
            </a:r>
          </a:p>
          <a:p>
            <a:r>
              <a:rPr lang="ru-RU" sz="2000" dirty="0">
                <a:solidFill>
                  <a:srgbClr val="000000"/>
                </a:solidFill>
                <a:latin typeface="Times New Roman" panose="02020603050405020304" pitchFamily="18" charset="0"/>
                <a:cs typeface="Times New Roman" panose="02020603050405020304" pitchFamily="18" charset="0"/>
              </a:rPr>
              <a:t>Пусть зависимость коэффициента усиления К от регулирующего напряжения определяется следующим соотношением.</a:t>
            </a:r>
            <a:r>
              <a:rPr lang="ru-RU" sz="2000" dirty="0">
                <a:latin typeface="Times New Roman" panose="02020603050405020304" pitchFamily="18" charset="0"/>
                <a:cs typeface="Times New Roman" panose="02020603050405020304" pitchFamily="18" charset="0"/>
              </a:rPr>
              <a:t> </a:t>
            </a:r>
          </a:p>
        </p:txBody>
      </p:sp>
      <p:pic>
        <p:nvPicPr>
          <p:cNvPr id="6" name="Рисунок 5"/>
          <p:cNvPicPr>
            <a:picLocks noChangeAspect="1"/>
          </p:cNvPicPr>
          <p:nvPr/>
        </p:nvPicPr>
        <p:blipFill>
          <a:blip r:embed="rId3"/>
          <a:stretch>
            <a:fillRect/>
          </a:stretch>
        </p:blipFill>
        <p:spPr>
          <a:xfrm>
            <a:off x="1909819" y="3374876"/>
            <a:ext cx="4135415" cy="438875"/>
          </a:xfrm>
          <a:prstGeom prst="rect">
            <a:avLst/>
          </a:prstGeom>
        </p:spPr>
      </p:pic>
      <p:pic>
        <p:nvPicPr>
          <p:cNvPr id="7" name="Рисунок 6"/>
          <p:cNvPicPr>
            <a:picLocks noChangeAspect="1"/>
          </p:cNvPicPr>
          <p:nvPr/>
        </p:nvPicPr>
        <p:blipFill>
          <a:blip r:embed="rId4"/>
          <a:stretch>
            <a:fillRect/>
          </a:stretch>
        </p:blipFill>
        <p:spPr>
          <a:xfrm>
            <a:off x="3654206" y="3856602"/>
            <a:ext cx="2048059" cy="398127"/>
          </a:xfrm>
          <a:prstGeom prst="rect">
            <a:avLst/>
          </a:prstGeom>
        </p:spPr>
      </p:pic>
      <p:sp>
        <p:nvSpPr>
          <p:cNvPr id="9" name="Прямоугольник 8"/>
          <p:cNvSpPr/>
          <p:nvPr/>
        </p:nvSpPr>
        <p:spPr>
          <a:xfrm>
            <a:off x="825491" y="3781302"/>
            <a:ext cx="2624291" cy="400110"/>
          </a:xfrm>
          <a:prstGeom prst="rect">
            <a:avLst/>
          </a:prstGeom>
        </p:spPr>
        <p:txBody>
          <a:bodyPr wrap="square">
            <a:spAutoFit/>
          </a:bodyPr>
          <a:lstStyle/>
          <a:p>
            <a:r>
              <a:rPr lang="ru-RU" sz="2000" dirty="0">
                <a:solidFill>
                  <a:srgbClr val="000000"/>
                </a:solidFill>
                <a:latin typeface="Times New Roman" panose="02020603050405020304" pitchFamily="18" charset="0"/>
                <a:cs typeface="Times New Roman" panose="02020603050405020304" pitchFamily="18" charset="0"/>
              </a:rPr>
              <a:t>При обратной АРУ</a:t>
            </a:r>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10" name="Прямоугольник 9"/>
          <p:cNvSpPr/>
          <p:nvPr/>
        </p:nvSpPr>
        <p:spPr>
          <a:xfrm>
            <a:off x="665828" y="4362262"/>
            <a:ext cx="7269536" cy="523220"/>
          </a:xfrm>
          <a:prstGeom prst="rect">
            <a:avLst/>
          </a:prstGeom>
        </p:spPr>
        <p:txBody>
          <a:bodyPr wrap="square">
            <a:spAutoFit/>
          </a:bodyPr>
          <a:lstStyle/>
          <a:p>
            <a:r>
              <a:rPr lang="ru-RU" sz="2000" dirty="0">
                <a:solidFill>
                  <a:srgbClr val="000000"/>
                </a:solidFill>
                <a:latin typeface="Times New Roman" panose="02020603050405020304" pitchFamily="18" charset="0"/>
                <a:cs typeface="Times New Roman" panose="02020603050405020304" pitchFamily="18" charset="0"/>
              </a:rPr>
              <a:t>Выразим </a:t>
            </a:r>
            <a:r>
              <a:rPr lang="ru-RU" sz="2800" dirty="0" err="1">
                <a:solidFill>
                  <a:srgbClr val="000000"/>
                </a:solidFill>
                <a:latin typeface="Times New Roman" panose="02020603050405020304" pitchFamily="18" charset="0"/>
                <a:cs typeface="Times New Roman" panose="02020603050405020304" pitchFamily="18" charset="0"/>
              </a:rPr>
              <a:t>U</a:t>
            </a:r>
            <a:r>
              <a:rPr lang="ru-RU" sz="800" dirty="0" err="1">
                <a:solidFill>
                  <a:srgbClr val="000000"/>
                </a:solidFill>
                <a:latin typeface="Times New Roman" panose="02020603050405020304" pitchFamily="18" charset="0"/>
                <a:cs typeface="Times New Roman" panose="02020603050405020304" pitchFamily="18" charset="0"/>
              </a:rPr>
              <a:t>вых</a:t>
            </a:r>
            <a:r>
              <a:rPr lang="ru-RU" sz="800" dirty="0">
                <a:solidFill>
                  <a:srgbClr val="000000"/>
                </a:solidFill>
                <a:latin typeface="Times New Roman" panose="02020603050405020304" pitchFamily="18" charset="0"/>
                <a:cs typeface="Times New Roman" panose="02020603050405020304" pitchFamily="18" charset="0"/>
              </a:rPr>
              <a:t> </a:t>
            </a:r>
            <a:r>
              <a:rPr lang="ru-RU" sz="2000" dirty="0">
                <a:solidFill>
                  <a:srgbClr val="000000"/>
                </a:solidFill>
                <a:latin typeface="Times New Roman" panose="02020603050405020304" pitchFamily="18" charset="0"/>
                <a:cs typeface="Times New Roman" panose="02020603050405020304" pitchFamily="18" charset="0"/>
              </a:rPr>
              <a:t>через </a:t>
            </a:r>
            <a:r>
              <a:rPr lang="ru-RU" sz="2800" dirty="0" err="1">
                <a:solidFill>
                  <a:srgbClr val="000000"/>
                </a:solidFill>
                <a:latin typeface="Times New Roman" panose="02020603050405020304" pitchFamily="18" charset="0"/>
                <a:cs typeface="Times New Roman" panose="02020603050405020304" pitchFamily="18" charset="0"/>
              </a:rPr>
              <a:t>U</a:t>
            </a:r>
            <a:r>
              <a:rPr lang="ru-RU" sz="1200" dirty="0" err="1">
                <a:solidFill>
                  <a:srgbClr val="000000"/>
                </a:solidFill>
                <a:latin typeface="Times New Roman" panose="02020603050405020304" pitchFamily="18" charset="0"/>
                <a:cs typeface="Times New Roman" panose="02020603050405020304" pitchFamily="18" charset="0"/>
              </a:rPr>
              <a:t>вх</a:t>
            </a:r>
            <a:r>
              <a:rPr lang="ru-RU" sz="1200" dirty="0">
                <a:solidFill>
                  <a:srgbClr val="000000"/>
                </a:solidFill>
                <a:latin typeface="Times New Roman" panose="02020603050405020304" pitchFamily="18" charset="0"/>
                <a:cs typeface="Times New Roman" panose="02020603050405020304" pitchFamily="18" charset="0"/>
              </a:rPr>
              <a:t> </a:t>
            </a:r>
            <a:r>
              <a:rPr lang="ru-RU" sz="2000" dirty="0">
                <a:solidFill>
                  <a:srgbClr val="000000"/>
                </a:solidFill>
                <a:latin typeface="Times New Roman" panose="02020603050405020304" pitchFamily="18" charset="0"/>
                <a:cs typeface="Times New Roman" panose="02020603050405020304" pitchFamily="18" charset="0"/>
              </a:rPr>
              <a:t>с учетом двух последних соотношений</a:t>
            </a:r>
            <a:endParaRPr lang="ru-RU" sz="2000" dirty="0">
              <a:latin typeface="Times New Roman" panose="02020603050405020304" pitchFamily="18" charset="0"/>
              <a:cs typeface="Times New Roman" panose="02020603050405020304" pitchFamily="18" charset="0"/>
            </a:endParaRPr>
          </a:p>
        </p:txBody>
      </p:sp>
      <p:pic>
        <p:nvPicPr>
          <p:cNvPr id="11" name="Рисунок 10"/>
          <p:cNvPicPr>
            <a:picLocks noChangeAspect="1"/>
          </p:cNvPicPr>
          <p:nvPr/>
        </p:nvPicPr>
        <p:blipFill>
          <a:blip r:embed="rId5"/>
          <a:stretch>
            <a:fillRect/>
          </a:stretch>
        </p:blipFill>
        <p:spPr>
          <a:xfrm>
            <a:off x="7952350" y="4321915"/>
            <a:ext cx="3827785" cy="530377"/>
          </a:xfrm>
          <a:prstGeom prst="rect">
            <a:avLst/>
          </a:prstGeom>
        </p:spPr>
      </p:pic>
      <p:sp>
        <p:nvSpPr>
          <p:cNvPr id="12" name="Прямоугольник 11"/>
          <p:cNvSpPr/>
          <p:nvPr/>
        </p:nvSpPr>
        <p:spPr>
          <a:xfrm>
            <a:off x="665828" y="4993204"/>
            <a:ext cx="4295791" cy="400110"/>
          </a:xfrm>
          <a:prstGeom prst="rect">
            <a:avLst/>
          </a:prstGeom>
        </p:spPr>
        <p:txBody>
          <a:bodyPr wrap="none">
            <a:spAutoFit/>
          </a:bodyPr>
          <a:lstStyle/>
          <a:p>
            <a:r>
              <a:rPr lang="ru-RU" sz="2000" dirty="0">
                <a:latin typeface="Times New Roman" panose="02020603050405020304" pitchFamily="18" charset="0"/>
                <a:cs typeface="Times New Roman" panose="02020603050405020304" pitchFamily="18" charset="0"/>
              </a:rPr>
              <a:t>Из последнего соотношения получим</a:t>
            </a:r>
          </a:p>
        </p:txBody>
      </p:sp>
      <p:pic>
        <p:nvPicPr>
          <p:cNvPr id="13" name="Рисунок 12"/>
          <p:cNvPicPr>
            <a:picLocks noChangeAspect="1"/>
          </p:cNvPicPr>
          <p:nvPr/>
        </p:nvPicPr>
        <p:blipFill>
          <a:blip r:embed="rId6"/>
          <a:stretch>
            <a:fillRect/>
          </a:stretch>
        </p:blipFill>
        <p:spPr>
          <a:xfrm>
            <a:off x="5890405" y="5028954"/>
            <a:ext cx="2751338" cy="821148"/>
          </a:xfrm>
          <a:prstGeom prst="rect">
            <a:avLst/>
          </a:prstGeom>
        </p:spPr>
      </p:pic>
      <p:sp>
        <p:nvSpPr>
          <p:cNvPr id="14" name="Прямоугольник 13"/>
          <p:cNvSpPr/>
          <p:nvPr/>
        </p:nvSpPr>
        <p:spPr>
          <a:xfrm>
            <a:off x="686765" y="5569976"/>
            <a:ext cx="5203640" cy="1015663"/>
          </a:xfrm>
          <a:prstGeom prst="rect">
            <a:avLst/>
          </a:prstGeom>
        </p:spPr>
        <p:txBody>
          <a:bodyPr wrap="square">
            <a:spAutoFit/>
          </a:bodyPr>
          <a:lstStyle/>
          <a:p>
            <a:r>
              <a:rPr lang="ru-RU" sz="2000" dirty="0">
                <a:solidFill>
                  <a:srgbClr val="000000"/>
                </a:solidFill>
                <a:latin typeface="Times New Roman" panose="02020603050405020304" pitchFamily="18" charset="0"/>
                <a:cs typeface="Times New Roman" panose="02020603050405020304" pitchFamily="18" charset="0"/>
              </a:rPr>
              <a:t>Амплитуда выходного напряжения стремится к постоянной величине</a:t>
            </a:r>
            <a:r>
              <a:rPr lang="en-US" sz="2000" dirty="0">
                <a:solidFill>
                  <a:srgbClr val="000000"/>
                </a:solidFill>
                <a:latin typeface="Times New Roman" panose="02020603050405020304" pitchFamily="18" charset="0"/>
                <a:cs typeface="Times New Roman" panose="02020603050405020304" pitchFamily="18" charset="0"/>
              </a:rPr>
              <a:t> </a:t>
            </a:r>
            <a:r>
              <a:rPr lang="ru-RU" sz="2000" dirty="0">
                <a:solidFill>
                  <a:srgbClr val="000000"/>
                </a:solidFill>
                <a:latin typeface="Times New Roman" panose="02020603050405020304" pitchFamily="18" charset="0"/>
                <a:cs typeface="Times New Roman" panose="02020603050405020304" pitchFamily="18" charset="0"/>
              </a:rPr>
              <a:t>при  </a:t>
            </a:r>
            <a:r>
              <a:rPr lang="en-US" sz="2000" dirty="0" err="1">
                <a:latin typeface="Times New Roman" panose="02020603050405020304" pitchFamily="18" charset="0"/>
                <a:cs typeface="Times New Roman" panose="02020603050405020304" pitchFamily="18" charset="0"/>
              </a:rPr>
              <a:t>aU</a:t>
            </a:r>
            <a:r>
              <a:rPr lang="ru-RU" sz="2000" baseline="-25000" dirty="0" err="1">
                <a:latin typeface="Times New Roman" panose="02020603050405020304" pitchFamily="18" charset="0"/>
                <a:cs typeface="Times New Roman" panose="02020603050405020304" pitchFamily="18" charset="0"/>
              </a:rPr>
              <a:t>вх</a:t>
            </a:r>
            <a:r>
              <a:rPr lang="en-US" sz="2000" dirty="0">
                <a:latin typeface="Times New Roman" panose="02020603050405020304" pitchFamily="18" charset="0"/>
                <a:cs typeface="Times New Roman" panose="02020603050405020304" pitchFamily="18" charset="0"/>
              </a:rPr>
              <a:t> K</a:t>
            </a:r>
            <a:r>
              <a:rPr lang="ru-RU" sz="2000" baseline="-25000" dirty="0">
                <a:latin typeface="Times New Roman" panose="02020603050405020304" pitchFamily="18" charset="0"/>
                <a:cs typeface="Times New Roman" panose="02020603050405020304" pitchFamily="18" charset="0"/>
              </a:rPr>
              <a:t>0</a:t>
            </a:r>
            <a:r>
              <a:rPr lang="en-US" sz="2000" dirty="0">
                <a:latin typeface="Times New Roman" panose="02020603050405020304" pitchFamily="18" charset="0"/>
                <a:cs typeface="Times New Roman" panose="02020603050405020304" pitchFamily="18" charset="0"/>
              </a:rPr>
              <a:t> K</a:t>
            </a:r>
            <a:r>
              <a:rPr lang="ru-RU" sz="2000" baseline="-25000" dirty="0">
                <a:latin typeface="Times New Roman" panose="02020603050405020304" pitchFamily="18" charset="0"/>
                <a:cs typeface="Times New Roman" panose="02020603050405020304" pitchFamily="18" charset="0"/>
              </a:rPr>
              <a:t>д</a:t>
            </a:r>
            <a:r>
              <a:rPr lang="en-US" sz="2000" dirty="0">
                <a:latin typeface="Times New Roman" panose="02020603050405020304" pitchFamily="18" charset="0"/>
                <a:cs typeface="Times New Roman" panose="02020603050405020304" pitchFamily="18" charset="0"/>
              </a:rPr>
              <a:t> K</a:t>
            </a:r>
            <a:r>
              <a:rPr lang="ru-RU" sz="2000" baseline="-25000" dirty="0">
                <a:latin typeface="Times New Roman" panose="02020603050405020304" pitchFamily="18" charset="0"/>
                <a:cs typeface="Times New Roman" panose="02020603050405020304" pitchFamily="18" charset="0"/>
              </a:rPr>
              <a:t>ф</a:t>
            </a:r>
            <a:r>
              <a:rPr lang="ru-RU" sz="2000" dirty="0">
                <a:solidFill>
                  <a:srgbClr val="000000"/>
                </a:solidFill>
                <a:latin typeface="Times New Roman" panose="02020603050405020304" pitchFamily="18" charset="0"/>
                <a:cs typeface="Times New Roman" panose="02020603050405020304" pitchFamily="18" charset="0"/>
              </a:rPr>
              <a:t> ≥1</a:t>
            </a:r>
            <a:r>
              <a:rPr lang="en-US" sz="2000" dirty="0">
                <a:solidFill>
                  <a:srgbClr val="000000"/>
                </a:solidFill>
                <a:latin typeface="Times New Roman" panose="02020603050405020304" pitchFamily="18" charset="0"/>
                <a:cs typeface="Times New Roman" panose="02020603050405020304" pitchFamily="18" charset="0"/>
              </a:rPr>
              <a:t>:</a:t>
            </a:r>
            <a:endParaRPr lang="ru-RU" sz="2000" dirty="0">
              <a:solidFill>
                <a:srgbClr val="000000"/>
              </a:solidFill>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U</a:t>
            </a:r>
            <a:r>
              <a:rPr lang="ru-RU" sz="2000" baseline="-25000" dirty="0" err="1">
                <a:latin typeface="Times New Roman" panose="02020603050405020304" pitchFamily="18" charset="0"/>
                <a:cs typeface="Times New Roman" panose="02020603050405020304" pitchFamily="18" charset="0"/>
              </a:rPr>
              <a:t>вых</a:t>
            </a:r>
            <a:r>
              <a:rPr lang="ru-RU" sz="2000" dirty="0">
                <a:latin typeface="Times New Roman" panose="02020603050405020304" pitchFamily="18" charset="0"/>
                <a:cs typeface="Times New Roman" panose="02020603050405020304" pitchFamily="18" charset="0"/>
              </a:rPr>
              <a:t>→ 1/ (</a:t>
            </a:r>
            <a:r>
              <a:rPr lang="en-US" sz="2000" dirty="0">
                <a:latin typeface="Times New Roman" panose="02020603050405020304" pitchFamily="18" charset="0"/>
                <a:cs typeface="Times New Roman" panose="02020603050405020304" pitchFamily="18" charset="0"/>
              </a:rPr>
              <a:t>a K</a:t>
            </a:r>
            <a:r>
              <a:rPr lang="ru-RU" sz="2000" baseline="-25000" dirty="0">
                <a:latin typeface="Times New Roman" panose="02020603050405020304" pitchFamily="18" charset="0"/>
                <a:cs typeface="Times New Roman" panose="02020603050405020304" pitchFamily="18" charset="0"/>
              </a:rPr>
              <a:t>д</a:t>
            </a:r>
            <a:r>
              <a:rPr lang="en-US" sz="2000" dirty="0">
                <a:latin typeface="Times New Roman" panose="02020603050405020304" pitchFamily="18" charset="0"/>
                <a:cs typeface="Times New Roman" panose="02020603050405020304" pitchFamily="18" charset="0"/>
              </a:rPr>
              <a:t> K</a:t>
            </a:r>
            <a:r>
              <a:rPr lang="ru-RU" sz="2000" baseline="-25000" dirty="0">
                <a:latin typeface="Times New Roman" panose="02020603050405020304" pitchFamily="18" charset="0"/>
                <a:cs typeface="Times New Roman" panose="02020603050405020304" pitchFamily="18" charset="0"/>
              </a:rPr>
              <a:t>ф</a:t>
            </a:r>
            <a:r>
              <a:rPr lang="ru-RU"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493358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9E4D6-5127-61D1-4312-FD43B63C974A}"/>
            </a:ext>
          </a:extLst>
        </p:cNvPr>
        <p:cNvGrpSpPr/>
        <p:nvPr/>
      </p:nvGrpSpPr>
      <p:grpSpPr>
        <a:xfrm>
          <a:off x="0" y="0"/>
          <a:ext cx="0" cy="0"/>
          <a:chOff x="0" y="0"/>
          <a:chExt cx="0" cy="0"/>
        </a:xfrm>
      </p:grpSpPr>
      <p:sp>
        <p:nvSpPr>
          <p:cNvPr id="2" name="Прямоугольник 1"/>
          <p:cNvSpPr/>
          <p:nvPr/>
        </p:nvSpPr>
        <p:spPr>
          <a:xfrm>
            <a:off x="1531717" y="617402"/>
            <a:ext cx="2392101" cy="369332"/>
          </a:xfrm>
          <a:prstGeom prst="rect">
            <a:avLst/>
          </a:prstGeom>
        </p:spPr>
        <p:txBody>
          <a:bodyPr wrap="square">
            <a:spAutoFit/>
          </a:bodyPr>
          <a:lstStyle/>
          <a:p>
            <a:r>
              <a:rPr lang="ru-RU" b="1" dirty="0">
                <a:solidFill>
                  <a:srgbClr val="000000"/>
                </a:solidFill>
                <a:latin typeface="Times New Roman" panose="02020603050405020304" pitchFamily="18" charset="0"/>
                <a:cs typeface="Times New Roman" panose="02020603050405020304" pitchFamily="18" charset="0"/>
              </a:rPr>
              <a:t>3.2. Прямая АРУ</a:t>
            </a:r>
            <a:endParaRPr lang="ru-RU" dirty="0">
              <a:latin typeface="Times New Roman" panose="02020603050405020304" pitchFamily="18" charset="0"/>
              <a:cs typeface="Times New Roman" panose="02020603050405020304" pitchFamily="18" charset="0"/>
            </a:endParaRPr>
          </a:p>
        </p:txBody>
      </p:sp>
      <p:pic>
        <p:nvPicPr>
          <p:cNvPr id="3" name="Рисунок 2"/>
          <p:cNvPicPr>
            <a:picLocks noChangeAspect="1"/>
          </p:cNvPicPr>
          <p:nvPr/>
        </p:nvPicPr>
        <p:blipFill>
          <a:blip r:embed="rId2"/>
          <a:stretch>
            <a:fillRect/>
          </a:stretch>
        </p:blipFill>
        <p:spPr>
          <a:xfrm>
            <a:off x="6530533" y="592238"/>
            <a:ext cx="4038600" cy="2895600"/>
          </a:xfrm>
          <a:prstGeom prst="rect">
            <a:avLst/>
          </a:prstGeom>
        </p:spPr>
      </p:pic>
      <p:sp>
        <p:nvSpPr>
          <p:cNvPr id="4" name="Прямоугольник 3"/>
          <p:cNvSpPr/>
          <p:nvPr/>
        </p:nvSpPr>
        <p:spPr>
          <a:xfrm>
            <a:off x="605740" y="986734"/>
            <a:ext cx="6096000" cy="2585323"/>
          </a:xfrm>
          <a:prstGeom prst="rect">
            <a:avLst/>
          </a:prstGeom>
        </p:spPr>
        <p:txBody>
          <a:bodyPr>
            <a:spAutoFit/>
          </a:bodyPr>
          <a:lstStyle/>
          <a:p>
            <a:r>
              <a:rPr lang="ru-RU" dirty="0">
                <a:solidFill>
                  <a:srgbClr val="000000"/>
                </a:solidFill>
                <a:latin typeface="Times New Roman" panose="02020603050405020304" pitchFamily="18" charset="0"/>
                <a:cs typeface="Times New Roman" panose="02020603050405020304" pitchFamily="18" charset="0"/>
              </a:rPr>
              <a:t>В этой схеме регулирующее напряжение пропорционально амплитуде несущей на входе регулируемого тракта.</a:t>
            </a:r>
            <a:br>
              <a:rPr lang="ru-RU" dirty="0">
                <a:solidFill>
                  <a:srgbClr val="000000"/>
                </a:solidFill>
                <a:latin typeface="Times New Roman" panose="02020603050405020304" pitchFamily="18" charset="0"/>
                <a:cs typeface="Times New Roman" panose="02020603050405020304" pitchFamily="18" charset="0"/>
              </a:rPr>
            </a:br>
            <a:r>
              <a:rPr lang="ru-RU" dirty="0">
                <a:solidFill>
                  <a:srgbClr val="000000"/>
                </a:solidFill>
                <a:latin typeface="Times New Roman" panose="02020603050405020304" pitchFamily="18" charset="0"/>
                <a:cs typeface="Times New Roman" panose="02020603050405020304" pitchFamily="18" charset="0"/>
              </a:rPr>
              <a:t>Достоинство – теоретическая возможность получения постоянного напряжения на выходе регулируемого тракта, недостаток – возможность перегрузки нерегулируемого тракта и первого каскада регулируемого. В отличие от обратной АРУ в прямой АРУ регулирующее напряжение </a:t>
            </a:r>
            <a:r>
              <a:rPr lang="ru-RU" dirty="0" err="1">
                <a:solidFill>
                  <a:srgbClr val="000000"/>
                </a:solidFill>
                <a:latin typeface="Times New Roman" panose="02020603050405020304" pitchFamily="18" charset="0"/>
                <a:cs typeface="Times New Roman" panose="02020603050405020304" pitchFamily="18" charset="0"/>
              </a:rPr>
              <a:t>Uрег</a:t>
            </a:r>
            <a:r>
              <a:rPr lang="ru-RU" dirty="0">
                <a:solidFill>
                  <a:srgbClr val="000000"/>
                </a:solidFill>
                <a:latin typeface="Times New Roman" panose="02020603050405020304" pitchFamily="18" charset="0"/>
                <a:cs typeface="Times New Roman" panose="02020603050405020304" pitchFamily="18" charset="0"/>
              </a:rPr>
              <a:t> не зависит от напряжения на выходе </a:t>
            </a:r>
            <a:r>
              <a:rPr lang="ru-RU" dirty="0" err="1">
                <a:solidFill>
                  <a:srgbClr val="000000"/>
                </a:solidFill>
                <a:latin typeface="Times New Roman" panose="02020603050405020304" pitchFamily="18" charset="0"/>
                <a:cs typeface="Times New Roman" panose="02020603050405020304" pitchFamily="18" charset="0"/>
              </a:rPr>
              <a:t>Uвых</a:t>
            </a:r>
            <a:r>
              <a:rPr lang="ru-RU" dirty="0">
                <a:solidFill>
                  <a:srgbClr val="000000"/>
                </a:solidFill>
                <a:latin typeface="Times New Roman" panose="02020603050405020304" pitchFamily="18" charset="0"/>
                <a:cs typeface="Times New Roman" panose="02020603050405020304" pitchFamily="18" charset="0"/>
              </a:rPr>
              <a:t>, и теоретически можно было бы получить </a:t>
            </a:r>
            <a:r>
              <a:rPr lang="ru-RU" dirty="0" err="1">
                <a:solidFill>
                  <a:srgbClr val="000000"/>
                </a:solidFill>
                <a:latin typeface="Times New Roman" panose="02020603050405020304" pitchFamily="18" charset="0"/>
                <a:cs typeface="Times New Roman" panose="02020603050405020304" pitchFamily="18" charset="0"/>
              </a:rPr>
              <a:t>Uвых</a:t>
            </a:r>
            <a:r>
              <a:rPr lang="ru-RU" dirty="0">
                <a:solidFill>
                  <a:srgbClr val="000000"/>
                </a:solidFill>
                <a:latin typeface="Times New Roman" panose="02020603050405020304" pitchFamily="18" charset="0"/>
                <a:cs typeface="Times New Roman" panose="02020603050405020304" pitchFamily="18" charset="0"/>
              </a:rPr>
              <a:t>=</a:t>
            </a:r>
            <a:r>
              <a:rPr lang="ru-RU" dirty="0" err="1">
                <a:solidFill>
                  <a:srgbClr val="000000"/>
                </a:solidFill>
                <a:latin typeface="Times New Roman" panose="02020603050405020304" pitchFamily="18" charset="0"/>
                <a:cs typeface="Times New Roman" panose="02020603050405020304" pitchFamily="18" charset="0"/>
              </a:rPr>
              <a:t>const</a:t>
            </a:r>
            <a:r>
              <a:rPr lang="ru-RU" dirty="0">
                <a:solidFill>
                  <a:srgbClr val="000000"/>
                </a:solidFill>
                <a:latin typeface="Times New Roman" panose="02020603050405020304" pitchFamily="18" charset="0"/>
                <a:cs typeface="Times New Roman" panose="02020603050405020304" pitchFamily="18" charset="0"/>
              </a:rPr>
              <a:t>. </a:t>
            </a:r>
            <a:endParaRPr lang="ru-RU" dirty="0">
              <a:latin typeface="Times New Roman" panose="02020603050405020304" pitchFamily="18" charset="0"/>
              <a:cs typeface="Times New Roman" panose="02020603050405020304" pitchFamily="18" charset="0"/>
            </a:endParaRPr>
          </a:p>
        </p:txBody>
      </p:sp>
      <p:sp>
        <p:nvSpPr>
          <p:cNvPr id="5" name="Прямоугольник 4"/>
          <p:cNvSpPr/>
          <p:nvPr/>
        </p:nvSpPr>
        <p:spPr>
          <a:xfrm>
            <a:off x="605740" y="3580068"/>
            <a:ext cx="10945793" cy="2862322"/>
          </a:xfrm>
          <a:prstGeom prst="rect">
            <a:avLst/>
          </a:prstGeom>
        </p:spPr>
        <p:txBody>
          <a:bodyPr wrap="square">
            <a:spAutoFit/>
          </a:bodyPr>
          <a:lstStyle/>
          <a:p>
            <a:r>
              <a:rPr lang="ru-RU" dirty="0">
                <a:solidFill>
                  <a:srgbClr val="000000"/>
                </a:solidFill>
                <a:latin typeface="Times New Roman" panose="02020603050405020304" pitchFamily="18" charset="0"/>
                <a:cs typeface="Times New Roman" panose="02020603050405020304" pitchFamily="18" charset="0"/>
              </a:rPr>
              <a:t>Однако:</a:t>
            </a:r>
            <a:br>
              <a:rPr lang="ru-RU" dirty="0">
                <a:solidFill>
                  <a:srgbClr val="000000"/>
                </a:solidFill>
                <a:latin typeface="Times New Roman" panose="02020603050405020304" pitchFamily="18" charset="0"/>
                <a:cs typeface="Times New Roman" panose="02020603050405020304" pitchFamily="18" charset="0"/>
              </a:rPr>
            </a:br>
            <a:r>
              <a:rPr lang="ru-RU" dirty="0">
                <a:solidFill>
                  <a:srgbClr val="000000"/>
                </a:solidFill>
                <a:latin typeface="Times New Roman" panose="02020603050405020304" pitchFamily="18" charset="0"/>
                <a:cs typeface="Times New Roman" panose="02020603050405020304" pitchFamily="18" charset="0"/>
              </a:rPr>
              <a:t>- реализовать это можно было бы, если бы соблюдался закон регулирования по рисунку, кривая 1. В реальных условиях это выполнить невозможно, так как регулирующее напряжение </a:t>
            </a:r>
            <a:r>
              <a:rPr lang="ru-RU" dirty="0" err="1">
                <a:solidFill>
                  <a:srgbClr val="000000"/>
                </a:solidFill>
                <a:latin typeface="Times New Roman" panose="02020603050405020304" pitchFamily="18" charset="0"/>
                <a:cs typeface="Times New Roman" panose="02020603050405020304" pitchFamily="18" charset="0"/>
              </a:rPr>
              <a:t>Uрег</a:t>
            </a:r>
            <a:r>
              <a:rPr lang="ru-RU" dirty="0">
                <a:solidFill>
                  <a:srgbClr val="000000"/>
                </a:solidFill>
                <a:latin typeface="Times New Roman" panose="02020603050405020304" pitchFamily="18" charset="0"/>
                <a:cs typeface="Times New Roman" panose="02020603050405020304" pitchFamily="18" charset="0"/>
              </a:rPr>
              <a:t> получают при использовании нелинейных элементов, их характеристики не позволяют обеспечить закон регулирования</a:t>
            </a:r>
            <a:br>
              <a:rPr lang="ru-RU" dirty="0">
                <a:solidFill>
                  <a:srgbClr val="000000"/>
                </a:solidFill>
                <a:latin typeface="Times New Roman" panose="02020603050405020304" pitchFamily="18" charset="0"/>
                <a:cs typeface="Times New Roman" panose="02020603050405020304" pitchFamily="18" charset="0"/>
              </a:rPr>
            </a:br>
            <a:r>
              <a:rPr lang="ru-RU" dirty="0">
                <a:solidFill>
                  <a:srgbClr val="000000"/>
                </a:solidFill>
                <a:latin typeface="Times New Roman" panose="02020603050405020304" pitchFamily="18" charset="0"/>
                <a:cs typeface="Times New Roman" panose="02020603050405020304" pitchFamily="18" charset="0"/>
              </a:rPr>
              <a:t>по кривой 1, возникают отклонения от нее, и, соответственно, </a:t>
            </a:r>
            <a:r>
              <a:rPr lang="ru-RU" dirty="0" err="1">
                <a:solidFill>
                  <a:srgbClr val="000000"/>
                </a:solidFill>
                <a:latin typeface="Times New Roman" panose="02020603050405020304" pitchFamily="18" charset="0"/>
                <a:cs typeface="Times New Roman" panose="02020603050405020304" pitchFamily="18" charset="0"/>
              </a:rPr>
              <a:t>Uвых</a:t>
            </a:r>
            <a:r>
              <a:rPr lang="ru-RU" dirty="0">
                <a:solidFill>
                  <a:srgbClr val="000000"/>
                </a:solidFill>
                <a:latin typeface="Times New Roman" panose="02020603050405020304" pitchFamily="18" charset="0"/>
                <a:cs typeface="Times New Roman" panose="02020603050405020304" pitchFamily="18" charset="0"/>
              </a:rPr>
              <a:t>=</a:t>
            </a:r>
            <a:r>
              <a:rPr lang="ru-RU" dirty="0" err="1">
                <a:solidFill>
                  <a:srgbClr val="000000"/>
                </a:solidFill>
                <a:latin typeface="Times New Roman" panose="02020603050405020304" pitchFamily="18" charset="0"/>
                <a:cs typeface="Times New Roman" panose="02020603050405020304" pitchFamily="18" charset="0"/>
              </a:rPr>
              <a:t>const</a:t>
            </a:r>
            <a:r>
              <a:rPr lang="ru-RU" dirty="0">
                <a:solidFill>
                  <a:srgbClr val="000000"/>
                </a:solidFill>
                <a:latin typeface="Times New Roman" panose="02020603050405020304" pitchFamily="18" charset="0"/>
                <a:cs typeface="Times New Roman" panose="02020603050405020304" pitchFamily="18" charset="0"/>
              </a:rPr>
              <a:t>.</a:t>
            </a:r>
          </a:p>
          <a:p>
            <a:r>
              <a:rPr lang="ru-RU" dirty="0">
                <a:latin typeface="Times New Roman" panose="02020603050405020304" pitchFamily="18" charset="0"/>
                <a:cs typeface="Times New Roman" panose="02020603050405020304" pitchFamily="18" charset="0"/>
              </a:rPr>
              <a:t>- кроме того, трудности реализации прямой АРУ возникают из-за того, что напряжение на выходе К1 изменяется в 100-1000 раз в диапазоне изменения входного напряжения </a:t>
            </a:r>
            <a:r>
              <a:rPr lang="ru-RU" i="1" dirty="0">
                <a:latin typeface="Times New Roman" panose="02020603050405020304" pitchFamily="18" charset="0"/>
                <a:cs typeface="Times New Roman" panose="02020603050405020304" pitchFamily="18" charset="0"/>
              </a:rPr>
              <a:t>U</a:t>
            </a:r>
            <a:r>
              <a:rPr lang="ru-RU" sz="1200" i="1" dirty="0">
                <a:latin typeface="Times New Roman" panose="02020603050405020304" pitchFamily="18" charset="0"/>
                <a:cs typeface="Times New Roman" panose="02020603050405020304" pitchFamily="18" charset="0"/>
              </a:rPr>
              <a:t>ВХ </a:t>
            </a:r>
            <a:r>
              <a:rPr lang="ru-RU" sz="1200" dirty="0" err="1">
                <a:latin typeface="Times New Roman" panose="02020603050405020304" pitchFamily="18" charset="0"/>
                <a:cs typeface="Times New Roman" panose="02020603050405020304" pitchFamily="18" charset="0"/>
              </a:rPr>
              <a:t>min</a:t>
            </a:r>
            <a:r>
              <a:rPr lang="ru-RU" dirty="0">
                <a:latin typeface="Times New Roman" panose="02020603050405020304" pitchFamily="18" charset="0"/>
                <a:cs typeface="Times New Roman" panose="02020603050405020304" pitchFamily="18" charset="0"/>
              </a:rPr>
              <a:t> …</a:t>
            </a:r>
            <a:r>
              <a:rPr lang="ru-RU" i="1" dirty="0">
                <a:latin typeface="Times New Roman" panose="02020603050405020304" pitchFamily="18" charset="0"/>
                <a:cs typeface="Times New Roman" panose="02020603050405020304" pitchFamily="18" charset="0"/>
              </a:rPr>
              <a:t>U</a:t>
            </a:r>
            <a:r>
              <a:rPr lang="ru-RU" sz="1200" i="1" dirty="0">
                <a:latin typeface="Times New Roman" panose="02020603050405020304" pitchFamily="18" charset="0"/>
                <a:cs typeface="Times New Roman" panose="02020603050405020304" pitchFamily="18" charset="0"/>
              </a:rPr>
              <a:t>ВХ </a:t>
            </a:r>
            <a:r>
              <a:rPr lang="ru-RU" sz="1200" dirty="0" err="1">
                <a:latin typeface="Times New Roman" panose="02020603050405020304" pitchFamily="18" charset="0"/>
                <a:cs typeface="Times New Roman" panose="02020603050405020304" pitchFamily="18" charset="0"/>
              </a:rPr>
              <a:t>max</a:t>
            </a:r>
            <a:r>
              <a:rPr lang="ru-RU" dirty="0">
                <a:latin typeface="Times New Roman" panose="02020603050405020304" pitchFamily="18" charset="0"/>
                <a:cs typeface="Times New Roman" panose="02020603050405020304" pitchFamily="18" charset="0"/>
              </a:rPr>
              <a:t> и в цепи АРУ возникают перегрузки, появляются нелинейные искажения.</a:t>
            </a:r>
            <a:br>
              <a:rPr lang="ru-RU" dirty="0">
                <a:latin typeface="Times New Roman" panose="02020603050405020304" pitchFamily="18" charset="0"/>
                <a:cs typeface="Times New Roman" panose="02020603050405020304" pitchFamily="18" charset="0"/>
              </a:rPr>
            </a:br>
            <a:r>
              <a:rPr lang="ru-RU" dirty="0">
                <a:latin typeface="Times New Roman" panose="02020603050405020304" pitchFamily="18" charset="0"/>
                <a:cs typeface="Times New Roman" panose="02020603050405020304" pitchFamily="18" charset="0"/>
              </a:rPr>
              <a:t>Для устранения этого цепь АРУ должна иметь свою собственную цепь АРУ (внутреннюю), что усложняет РПУ. Ввиду этого такая схема в “чистом” виде не применяется, а применяют «смешанную» АРУ. </a:t>
            </a:r>
          </a:p>
        </p:txBody>
      </p:sp>
    </p:spTree>
    <p:extLst>
      <p:ext uri="{BB962C8B-B14F-4D97-AF65-F5344CB8AC3E}">
        <p14:creationId xmlns:p14="http://schemas.microsoft.com/office/powerpoint/2010/main" val="42176207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9E4D6-5127-61D1-4312-FD43B63C974A}"/>
            </a:ext>
          </a:extLst>
        </p:cNvPr>
        <p:cNvGrpSpPr/>
        <p:nvPr/>
      </p:nvGrpSpPr>
      <p:grpSpPr>
        <a:xfrm>
          <a:off x="0" y="0"/>
          <a:ext cx="0" cy="0"/>
          <a:chOff x="0" y="0"/>
          <a:chExt cx="0" cy="0"/>
        </a:xfrm>
      </p:grpSpPr>
      <p:sp>
        <p:nvSpPr>
          <p:cNvPr id="2" name="Прямоугольник 1"/>
          <p:cNvSpPr/>
          <p:nvPr/>
        </p:nvSpPr>
        <p:spPr>
          <a:xfrm>
            <a:off x="709913" y="568356"/>
            <a:ext cx="6096000" cy="954107"/>
          </a:xfrm>
          <a:prstGeom prst="rect">
            <a:avLst/>
          </a:prstGeom>
        </p:spPr>
        <p:txBody>
          <a:bodyPr>
            <a:spAutoFit/>
          </a:bodyPr>
          <a:lstStyle/>
          <a:p>
            <a:r>
              <a:rPr lang="ru-RU" sz="2000" b="1" dirty="0">
                <a:solidFill>
                  <a:srgbClr val="000000"/>
                </a:solidFill>
                <a:latin typeface="Times New Roman" panose="02020603050405020304" pitchFamily="18" charset="0"/>
                <a:cs typeface="Times New Roman" panose="02020603050405020304" pitchFamily="18" charset="0"/>
              </a:rPr>
              <a:t>3.3</a:t>
            </a:r>
            <a:r>
              <a:rPr lang="ru-RU" sz="2000" b="1" i="1" dirty="0">
                <a:solidFill>
                  <a:srgbClr val="000000"/>
                </a:solidFill>
                <a:latin typeface="Times New Roman" panose="02020603050405020304" pitchFamily="18" charset="0"/>
                <a:cs typeface="Times New Roman" panose="02020603050405020304" pitchFamily="18" charset="0"/>
              </a:rPr>
              <a:t>. </a:t>
            </a:r>
            <a:r>
              <a:rPr lang="ru-RU" sz="2000" b="1" dirty="0">
                <a:solidFill>
                  <a:srgbClr val="000000"/>
                </a:solidFill>
                <a:latin typeface="Times New Roman" panose="02020603050405020304" pitchFamily="18" charset="0"/>
                <a:cs typeface="Times New Roman" panose="02020603050405020304" pitchFamily="18" charset="0"/>
              </a:rPr>
              <a:t>Смешанная (комбинированная) АРУ</a:t>
            </a:r>
            <a:br>
              <a:rPr lang="ru-RU" sz="2000" b="1" dirty="0">
                <a:solidFill>
                  <a:srgbClr val="000000"/>
                </a:solidFill>
                <a:latin typeface="Times New Roman" panose="02020603050405020304" pitchFamily="18" charset="0"/>
                <a:cs typeface="Times New Roman" panose="02020603050405020304" pitchFamily="18" charset="0"/>
              </a:rPr>
            </a:br>
            <a:r>
              <a:rPr lang="ru-RU" dirty="0">
                <a:solidFill>
                  <a:srgbClr val="000000"/>
                </a:solidFill>
                <a:latin typeface="Times New Roman" panose="02020603050405020304" pitchFamily="18" charset="0"/>
                <a:cs typeface="Times New Roman" panose="02020603050405020304" pitchFamily="18" charset="0"/>
              </a:rPr>
              <a:t>Регулирующее напряжение Uрег1 (рисунок) осуществляет</a:t>
            </a:r>
            <a:br>
              <a:rPr lang="ru-RU" dirty="0">
                <a:solidFill>
                  <a:srgbClr val="000000"/>
                </a:solidFill>
                <a:latin typeface="Times New Roman" panose="02020603050405020304" pitchFamily="18" charset="0"/>
                <a:cs typeface="Times New Roman" panose="02020603050405020304" pitchFamily="18" charset="0"/>
              </a:rPr>
            </a:br>
            <a:r>
              <a:rPr lang="ru-RU" dirty="0">
                <a:solidFill>
                  <a:srgbClr val="000000"/>
                </a:solidFill>
                <a:latin typeface="Times New Roman" panose="02020603050405020304" pitchFamily="18" charset="0"/>
                <a:cs typeface="Times New Roman" panose="02020603050405020304" pitchFamily="18" charset="0"/>
              </a:rPr>
              <a:t>обратную регулировку усиления К1 .</a:t>
            </a:r>
            <a:r>
              <a:rPr lang="ru-RU" dirty="0">
                <a:latin typeface="Times New Roman" panose="02020603050405020304" pitchFamily="18" charset="0"/>
                <a:cs typeface="Times New Roman" panose="02020603050405020304" pitchFamily="18" charset="0"/>
              </a:rPr>
              <a:t> </a:t>
            </a:r>
          </a:p>
        </p:txBody>
      </p:sp>
      <p:pic>
        <p:nvPicPr>
          <p:cNvPr id="3" name="Рисунок 2"/>
          <p:cNvPicPr>
            <a:picLocks noChangeAspect="1"/>
          </p:cNvPicPr>
          <p:nvPr/>
        </p:nvPicPr>
        <p:blipFill>
          <a:blip r:embed="rId2"/>
          <a:stretch>
            <a:fillRect/>
          </a:stretch>
        </p:blipFill>
        <p:spPr>
          <a:xfrm>
            <a:off x="7186916" y="926888"/>
            <a:ext cx="4191000" cy="2305050"/>
          </a:xfrm>
          <a:prstGeom prst="rect">
            <a:avLst/>
          </a:prstGeom>
        </p:spPr>
      </p:pic>
      <p:sp>
        <p:nvSpPr>
          <p:cNvPr id="4" name="Прямоугольник 3"/>
          <p:cNvSpPr/>
          <p:nvPr/>
        </p:nvSpPr>
        <p:spPr>
          <a:xfrm>
            <a:off x="814084" y="2252963"/>
            <a:ext cx="5887657" cy="3170099"/>
          </a:xfrm>
          <a:prstGeom prst="rect">
            <a:avLst/>
          </a:prstGeom>
        </p:spPr>
        <p:txBody>
          <a:bodyPr wrap="square">
            <a:spAutoFit/>
          </a:bodyPr>
          <a:lstStyle/>
          <a:p>
            <a:r>
              <a:rPr lang="ru-RU" sz="2000" dirty="0">
                <a:latin typeface="Times New Roman" panose="02020603050405020304" pitchFamily="18" charset="0"/>
                <a:cs typeface="Times New Roman" panose="02020603050405020304" pitchFamily="18" charset="0"/>
              </a:rPr>
              <a:t>В этой схеме требования к качеству регулирования снижены, т.е. допускаются сравнительно большие изменения напряжения U (единицы дБ). Далее напряжение </a:t>
            </a:r>
            <a:r>
              <a:rPr lang="ru-RU" sz="2000" dirty="0" err="1">
                <a:latin typeface="Times New Roman" panose="02020603050405020304" pitchFamily="18" charset="0"/>
                <a:cs typeface="Times New Roman" panose="02020603050405020304" pitchFamily="18" charset="0"/>
              </a:rPr>
              <a:t>Uр</a:t>
            </a:r>
            <a:r>
              <a:rPr lang="ru-RU" sz="2000" dirty="0">
                <a:latin typeface="Times New Roman" panose="02020603050405020304" pitchFamily="18" charset="0"/>
                <a:cs typeface="Times New Roman" panose="02020603050405020304" pitchFamily="18" charset="0"/>
              </a:rPr>
              <a:t> используют для прямой регулировки усиления К2. Так как при этом необходимо изменять усиление лишь в несколько раз, расхождение теоретического и реального законов становятся небольшими и</a:t>
            </a:r>
            <a:br>
              <a:rPr lang="ru-RU" sz="2000" dirty="0">
                <a:latin typeface="Times New Roman" panose="02020603050405020304" pitchFamily="18" charset="0"/>
                <a:cs typeface="Times New Roman" panose="02020603050405020304" pitchFamily="18" charset="0"/>
              </a:rPr>
            </a:br>
            <a:r>
              <a:rPr lang="ru-RU" sz="2000" i="1" dirty="0">
                <a:latin typeface="Times New Roman" panose="02020603050405020304" pitchFamily="18" charset="0"/>
                <a:cs typeface="Times New Roman" panose="02020603050405020304" pitchFamily="18" charset="0"/>
              </a:rPr>
              <a:t>U</a:t>
            </a:r>
            <a:r>
              <a:rPr lang="ru-RU" sz="1200" i="1" dirty="0">
                <a:latin typeface="Times New Roman" panose="02020603050405020304" pitchFamily="18" charset="0"/>
                <a:cs typeface="Times New Roman" panose="02020603050405020304" pitchFamily="18" charset="0"/>
              </a:rPr>
              <a:t>ВЫХ</a:t>
            </a:r>
            <a:r>
              <a:rPr lang="ru-RU" sz="2000" i="1" dirty="0">
                <a:latin typeface="Times New Roman" panose="02020603050405020304" pitchFamily="18" charset="0"/>
                <a:cs typeface="Times New Roman" panose="02020603050405020304" pitchFamily="18" charset="0"/>
              </a:rPr>
              <a:t> ≈ </a:t>
            </a:r>
            <a:r>
              <a:rPr lang="ru-RU" sz="2000" i="1" dirty="0" err="1">
                <a:latin typeface="Times New Roman" panose="02020603050405020304" pitchFamily="18" charset="0"/>
                <a:cs typeface="Times New Roman" panose="02020603050405020304" pitchFamily="18" charset="0"/>
              </a:rPr>
              <a:t>const</a:t>
            </a:r>
            <a:r>
              <a:rPr lang="ru-RU" sz="2000" dirty="0">
                <a:latin typeface="Times New Roman" panose="02020603050405020304" pitchFamily="18" charset="0"/>
                <a:cs typeface="Times New Roman" panose="02020603050405020304" pitchFamily="18" charset="0"/>
              </a:rPr>
              <a:t>, т.е. обеспечивается высокое качество регулирования. </a:t>
            </a:r>
          </a:p>
        </p:txBody>
      </p:sp>
    </p:spTree>
    <p:extLst>
      <p:ext uri="{BB962C8B-B14F-4D97-AF65-F5344CB8AC3E}">
        <p14:creationId xmlns:p14="http://schemas.microsoft.com/office/powerpoint/2010/main" val="5085172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9E4D6-5127-61D1-4312-FD43B63C974A}"/>
            </a:ext>
          </a:extLst>
        </p:cNvPr>
        <p:cNvGrpSpPr/>
        <p:nvPr/>
      </p:nvGrpSpPr>
      <p:grpSpPr>
        <a:xfrm>
          <a:off x="0" y="0"/>
          <a:ext cx="0" cy="0"/>
          <a:chOff x="0" y="0"/>
          <a:chExt cx="0" cy="0"/>
        </a:xfrm>
      </p:grpSpPr>
      <p:sp>
        <p:nvSpPr>
          <p:cNvPr id="2" name="Прямоугольник 1"/>
          <p:cNvSpPr/>
          <p:nvPr/>
        </p:nvSpPr>
        <p:spPr>
          <a:xfrm>
            <a:off x="895109" y="567562"/>
            <a:ext cx="6871504" cy="2585323"/>
          </a:xfrm>
          <a:prstGeom prst="rect">
            <a:avLst/>
          </a:prstGeom>
        </p:spPr>
        <p:txBody>
          <a:bodyPr wrap="square">
            <a:spAutoFit/>
          </a:bodyPr>
          <a:lstStyle/>
          <a:p>
            <a:r>
              <a:rPr lang="ru-RU" b="1" dirty="0">
                <a:solidFill>
                  <a:srgbClr val="000000"/>
                </a:solidFill>
                <a:latin typeface="Times New Roman" panose="02020603050405020304" pitchFamily="18" charset="0"/>
                <a:cs typeface="Times New Roman" panose="02020603050405020304" pitchFamily="18" charset="0"/>
              </a:rPr>
              <a:t>3.4. Режимная АРУ</a:t>
            </a:r>
            <a:br>
              <a:rPr lang="ru-RU" b="1" dirty="0">
                <a:solidFill>
                  <a:srgbClr val="000000"/>
                </a:solidFill>
                <a:latin typeface="Times New Roman" panose="02020603050405020304" pitchFamily="18" charset="0"/>
                <a:cs typeface="Times New Roman" panose="02020603050405020304" pitchFamily="18" charset="0"/>
              </a:rPr>
            </a:br>
            <a:r>
              <a:rPr lang="ru-RU" dirty="0">
                <a:solidFill>
                  <a:srgbClr val="000000"/>
                </a:solidFill>
                <a:latin typeface="Times New Roman" panose="02020603050405020304" pitchFamily="18" charset="0"/>
                <a:cs typeface="Times New Roman" panose="02020603050405020304" pitchFamily="18" charset="0"/>
              </a:rPr>
              <a:t>Усиление каскада  с АРУ можно изменять:</a:t>
            </a:r>
          </a:p>
          <a:p>
            <a:pPr marL="285750" indent="-285750">
              <a:buFontTx/>
              <a:buChar char="-"/>
            </a:pPr>
            <a:r>
              <a:rPr lang="ru-RU" dirty="0">
                <a:latin typeface="Times New Roman" panose="02020603050405020304" pitchFamily="18" charset="0"/>
                <a:cs typeface="Times New Roman" panose="02020603050405020304" pitchFamily="18" charset="0"/>
              </a:rPr>
              <a:t>за счет изменения режима работы каскада по постоянному току,</a:t>
            </a:r>
            <a:br>
              <a:rPr lang="ru-RU" dirty="0">
                <a:latin typeface="Times New Roman" panose="02020603050405020304" pitchFamily="18" charset="0"/>
                <a:cs typeface="Times New Roman" panose="02020603050405020304" pitchFamily="18" charset="0"/>
              </a:rPr>
            </a:br>
            <a:r>
              <a:rPr lang="ru-RU" dirty="0">
                <a:latin typeface="Times New Roman" panose="02020603050405020304" pitchFamily="18" charset="0"/>
                <a:cs typeface="Times New Roman" panose="02020603050405020304" pitchFamily="18" charset="0"/>
              </a:rPr>
              <a:t>- изменением эквивалентного сопротивления нагрузки,</a:t>
            </a:r>
            <a:br>
              <a:rPr lang="ru-RU" dirty="0">
                <a:latin typeface="Times New Roman" panose="02020603050405020304" pitchFamily="18" charset="0"/>
                <a:cs typeface="Times New Roman" panose="02020603050405020304" pitchFamily="18" charset="0"/>
              </a:rPr>
            </a:br>
            <a:r>
              <a:rPr lang="ru-RU" dirty="0">
                <a:latin typeface="Times New Roman" panose="02020603050405020304" pitchFamily="18" charset="0"/>
                <a:cs typeface="Times New Roman" panose="02020603050405020304" pitchFamily="18" charset="0"/>
              </a:rPr>
              <a:t>- изменением коэффициентов включения p и q,</a:t>
            </a:r>
            <a:br>
              <a:rPr lang="ru-RU" dirty="0">
                <a:latin typeface="Times New Roman" panose="02020603050405020304" pitchFamily="18" charset="0"/>
                <a:cs typeface="Times New Roman" panose="02020603050405020304" pitchFamily="18" charset="0"/>
              </a:rPr>
            </a:br>
            <a:r>
              <a:rPr lang="ru-RU" dirty="0">
                <a:latin typeface="Times New Roman" panose="02020603050405020304" pitchFamily="18" charset="0"/>
                <a:cs typeface="Times New Roman" panose="02020603050405020304" pitchFamily="18" charset="0"/>
              </a:rPr>
              <a:t>- изменением глубины отрицательной обратной связи,</a:t>
            </a:r>
            <a:br>
              <a:rPr lang="ru-RU" dirty="0">
                <a:latin typeface="Times New Roman" panose="02020603050405020304" pitchFamily="18" charset="0"/>
                <a:cs typeface="Times New Roman" panose="02020603050405020304" pitchFamily="18" charset="0"/>
              </a:rPr>
            </a:br>
            <a:r>
              <a:rPr lang="ru-RU" dirty="0">
                <a:latin typeface="Times New Roman" panose="02020603050405020304" pitchFamily="18" charset="0"/>
                <a:cs typeface="Times New Roman" panose="02020603050405020304" pitchFamily="18" charset="0"/>
              </a:rPr>
              <a:t>- изменением параметров цепей, специально включаемых для целей регулировки</a:t>
            </a:r>
            <a:r>
              <a:rPr lang="ru-RU" b="1" dirty="0">
                <a:latin typeface="Times New Roman" panose="02020603050405020304" pitchFamily="18" charset="0"/>
                <a:cs typeface="Times New Roman" panose="02020603050405020304" pitchFamily="18" charset="0"/>
              </a:rPr>
              <a:t>.</a:t>
            </a:r>
            <a:br>
              <a:rPr lang="ru-RU" b="1" dirty="0">
                <a:latin typeface="Times New Roman" panose="02020603050405020304" pitchFamily="18" charset="0"/>
                <a:cs typeface="Times New Roman" panose="02020603050405020304" pitchFamily="18" charset="0"/>
              </a:rPr>
            </a:br>
            <a:r>
              <a:rPr lang="ru-RU" dirty="0">
                <a:latin typeface="Times New Roman" panose="02020603050405020304" pitchFamily="18" charset="0"/>
                <a:cs typeface="Times New Roman" panose="02020603050405020304" pitchFamily="18" charset="0"/>
              </a:rPr>
              <a:t>Известно, что резонансный коэффициент усиления каскада равен</a:t>
            </a:r>
          </a:p>
        </p:txBody>
      </p:sp>
      <p:sp>
        <p:nvSpPr>
          <p:cNvPr id="4" name="Прямоугольник 3"/>
          <p:cNvSpPr/>
          <p:nvPr/>
        </p:nvSpPr>
        <p:spPr>
          <a:xfrm>
            <a:off x="895109" y="3646026"/>
            <a:ext cx="9753599" cy="2677656"/>
          </a:xfrm>
          <a:prstGeom prst="rect">
            <a:avLst/>
          </a:prstGeom>
        </p:spPr>
        <p:txBody>
          <a:bodyPr wrap="square">
            <a:spAutoFit/>
          </a:bodyPr>
          <a:lstStyle/>
          <a:p>
            <a:r>
              <a:rPr lang="ru-RU" dirty="0">
                <a:solidFill>
                  <a:srgbClr val="000000"/>
                </a:solidFill>
                <a:latin typeface="Times New Roman" panose="02020603050405020304" pitchFamily="18" charset="0"/>
                <a:cs typeface="Times New Roman" panose="02020603050405020304" pitchFamily="18" charset="0"/>
              </a:rPr>
              <a:t>(здесь p и q - коэффициенты включения по входу и выходу, соответственно).</a:t>
            </a:r>
            <a:br>
              <a:rPr lang="ru-RU" dirty="0">
                <a:solidFill>
                  <a:srgbClr val="000000"/>
                </a:solidFill>
                <a:latin typeface="Times New Roman" panose="02020603050405020304" pitchFamily="18" charset="0"/>
                <a:cs typeface="Times New Roman" panose="02020603050405020304" pitchFamily="18" charset="0"/>
              </a:rPr>
            </a:br>
            <a:r>
              <a:rPr lang="ru-RU" dirty="0">
                <a:solidFill>
                  <a:srgbClr val="000000"/>
                </a:solidFill>
                <a:latin typeface="Times New Roman" panose="02020603050405020304" pitchFamily="18" charset="0"/>
                <a:cs typeface="Times New Roman" panose="02020603050405020304" pitchFamily="18" charset="0"/>
              </a:rPr>
              <a:t>Как видно из формулы, резонансный коэффициент усиления К</a:t>
            </a:r>
            <a:r>
              <a:rPr lang="ru-RU" sz="800" dirty="0">
                <a:solidFill>
                  <a:srgbClr val="000000"/>
                </a:solidFill>
                <a:latin typeface="Times New Roman" panose="02020603050405020304" pitchFamily="18" charset="0"/>
                <a:cs typeface="Times New Roman" panose="02020603050405020304" pitchFamily="18" charset="0"/>
              </a:rPr>
              <a:t>0  </a:t>
            </a:r>
            <a:r>
              <a:rPr lang="ru-RU" dirty="0">
                <a:solidFill>
                  <a:srgbClr val="000000"/>
                </a:solidFill>
                <a:latin typeface="Times New Roman" panose="02020603050405020304" pitchFamily="18" charset="0"/>
                <a:cs typeface="Times New Roman" panose="02020603050405020304" pitchFamily="18" charset="0"/>
              </a:rPr>
              <a:t>может быть изменен любым способом:</a:t>
            </a:r>
            <a:br>
              <a:rPr lang="ru-RU" dirty="0">
                <a:solidFill>
                  <a:srgbClr val="000000"/>
                </a:solidFill>
                <a:latin typeface="Times New Roman" panose="02020603050405020304" pitchFamily="18" charset="0"/>
                <a:cs typeface="Times New Roman" panose="02020603050405020304" pitchFamily="18" charset="0"/>
              </a:rPr>
            </a:br>
            <a:r>
              <a:rPr lang="ru-RU" dirty="0">
                <a:solidFill>
                  <a:srgbClr val="000000"/>
                </a:solidFill>
                <a:latin typeface="Times New Roman" panose="02020603050405020304" pitchFamily="18" charset="0"/>
                <a:cs typeface="Times New Roman" panose="02020603050405020304" pitchFamily="18" charset="0"/>
              </a:rPr>
              <a:t>1) Регулировка усиления изменением крутизны осуществляется за счет изменения режима усилительного элемента УЭ (отсюда - режимная регулировка). Для этого нужно изменить смещение на УЭ, что вызывает существенное изменение крутизны усилительного элемента S в рабочей точке.</a:t>
            </a:r>
            <a:br>
              <a:rPr lang="ru-RU" dirty="0">
                <a:solidFill>
                  <a:srgbClr val="000000"/>
                </a:solidFill>
                <a:latin typeface="Times New Roman" panose="02020603050405020304" pitchFamily="18" charset="0"/>
                <a:cs typeface="Times New Roman" panose="02020603050405020304" pitchFamily="18" charset="0"/>
              </a:rPr>
            </a:br>
            <a:r>
              <a:rPr lang="ru-RU" dirty="0">
                <a:solidFill>
                  <a:srgbClr val="000000"/>
                </a:solidFill>
                <a:latin typeface="Times New Roman" panose="02020603050405020304" pitchFamily="18" charset="0"/>
                <a:cs typeface="Times New Roman" panose="02020603050405020304" pitchFamily="18" charset="0"/>
              </a:rPr>
              <a:t>В полевом транзисторе изменяется в основном крутизна S. </a:t>
            </a:r>
            <a:br>
              <a:rPr lang="en-US" dirty="0">
                <a:solidFill>
                  <a:srgbClr val="000000"/>
                </a:solidFill>
                <a:latin typeface="Times New Roman" panose="02020603050405020304" pitchFamily="18" charset="0"/>
                <a:cs typeface="Times New Roman" panose="02020603050405020304" pitchFamily="18" charset="0"/>
              </a:rPr>
            </a:br>
            <a:r>
              <a:rPr lang="ru-RU" dirty="0">
                <a:solidFill>
                  <a:srgbClr val="000000"/>
                </a:solidFill>
                <a:latin typeface="Times New Roman" panose="02020603050405020304" pitchFamily="18" charset="0"/>
                <a:cs typeface="Times New Roman" panose="02020603050405020304" pitchFamily="18" charset="0"/>
              </a:rPr>
              <a:t>В биполярном транзисторе одновременно с крутизной S изменяются и проводимости </a:t>
            </a:r>
            <a:r>
              <a:rPr lang="ru-RU" i="1" dirty="0">
                <a:solidFill>
                  <a:srgbClr val="000000"/>
                </a:solidFill>
                <a:latin typeface="Times New Roman" panose="02020603050405020304" pitchFamily="18" charset="0"/>
                <a:cs typeface="Times New Roman" panose="02020603050405020304" pitchFamily="18" charset="0"/>
              </a:rPr>
              <a:t>g</a:t>
            </a:r>
            <a:r>
              <a:rPr lang="ru-RU" dirty="0">
                <a:solidFill>
                  <a:srgbClr val="000000"/>
                </a:solidFill>
                <a:latin typeface="Times New Roman" panose="02020603050405020304" pitchFamily="18" charset="0"/>
                <a:cs typeface="Times New Roman" panose="02020603050405020304" pitchFamily="18" charset="0"/>
              </a:rPr>
              <a:t> </a:t>
            </a:r>
            <a:r>
              <a:rPr lang="ru-RU" sz="1200" i="1" dirty="0" err="1">
                <a:solidFill>
                  <a:srgbClr val="000000"/>
                </a:solidFill>
                <a:latin typeface="Times New Roman" panose="02020603050405020304" pitchFamily="18" charset="0"/>
                <a:cs typeface="Times New Roman" panose="02020603050405020304" pitchFamily="18" charset="0"/>
              </a:rPr>
              <a:t>вх</a:t>
            </a:r>
            <a:r>
              <a:rPr lang="ru-RU" sz="2400" i="1" dirty="0">
                <a:solidFill>
                  <a:srgbClr val="000000"/>
                </a:solidFill>
                <a:latin typeface="Times New Roman" panose="02020603050405020304" pitchFamily="18" charset="0"/>
                <a:cs typeface="Times New Roman" panose="02020603050405020304" pitchFamily="18" charset="0"/>
              </a:rPr>
              <a:t> </a:t>
            </a:r>
            <a:r>
              <a:rPr lang="ru-RU" dirty="0">
                <a:solidFill>
                  <a:srgbClr val="000000"/>
                </a:solidFill>
                <a:latin typeface="Times New Roman" panose="02020603050405020304" pitchFamily="18" charset="0"/>
                <a:cs typeface="Times New Roman" panose="02020603050405020304" pitchFamily="18" charset="0"/>
              </a:rPr>
              <a:t>и </a:t>
            </a:r>
            <a:r>
              <a:rPr lang="ru-RU" i="1" dirty="0">
                <a:solidFill>
                  <a:srgbClr val="000000"/>
                </a:solidFill>
                <a:latin typeface="Times New Roman" panose="02020603050405020304" pitchFamily="18" charset="0"/>
                <a:cs typeface="Times New Roman" panose="02020603050405020304" pitchFamily="18" charset="0"/>
              </a:rPr>
              <a:t>g</a:t>
            </a:r>
            <a:r>
              <a:rPr lang="en-US" i="1" dirty="0">
                <a:solidFill>
                  <a:srgbClr val="000000"/>
                </a:solidFill>
                <a:latin typeface="Times New Roman" panose="02020603050405020304" pitchFamily="18" charset="0"/>
                <a:cs typeface="Times New Roman" panose="02020603050405020304" pitchFamily="18" charset="0"/>
              </a:rPr>
              <a:t> </a:t>
            </a:r>
            <a:r>
              <a:rPr lang="ru-RU" sz="1200" i="1" dirty="0" err="1">
                <a:solidFill>
                  <a:srgbClr val="000000"/>
                </a:solidFill>
                <a:latin typeface="Times New Roman" panose="02020603050405020304" pitchFamily="18" charset="0"/>
                <a:cs typeface="Times New Roman" panose="02020603050405020304" pitchFamily="18" charset="0"/>
              </a:rPr>
              <a:t>вых</a:t>
            </a:r>
            <a:r>
              <a:rPr lang="ru-RU" dirty="0">
                <a:solidFill>
                  <a:srgbClr val="000000"/>
                </a:solidFill>
                <a:latin typeface="Times New Roman" panose="02020603050405020304" pitchFamily="18" charset="0"/>
                <a:cs typeface="Times New Roman" panose="02020603050405020304" pitchFamily="18" charset="0"/>
              </a:rPr>
              <a:t>.</a:t>
            </a:r>
            <a:endParaRPr lang="ru-RU" dirty="0">
              <a:latin typeface="Times New Roman" panose="02020603050405020304" pitchFamily="18" charset="0"/>
              <a:cs typeface="Times New Roman" panose="02020603050405020304" pitchFamily="18" charset="0"/>
            </a:endParaRPr>
          </a:p>
        </p:txBody>
      </p:sp>
      <p:pic>
        <p:nvPicPr>
          <p:cNvPr id="8" name="Рисунок 7">
            <a:extLst>
              <a:ext uri="{FF2B5EF4-FFF2-40B4-BE49-F238E27FC236}">
                <a16:creationId xmlns:a16="http://schemas.microsoft.com/office/drawing/2014/main" id="{D0A95FB1-0835-721A-C50C-5076FA24B6C6}"/>
              </a:ext>
            </a:extLst>
          </p:cNvPr>
          <p:cNvPicPr>
            <a:picLocks noChangeAspect="1"/>
          </p:cNvPicPr>
          <p:nvPr/>
        </p:nvPicPr>
        <p:blipFill>
          <a:blip r:embed="rId2"/>
          <a:stretch>
            <a:fillRect/>
          </a:stretch>
        </p:blipFill>
        <p:spPr>
          <a:xfrm>
            <a:off x="8117676" y="2674747"/>
            <a:ext cx="2882095" cy="631789"/>
          </a:xfrm>
          <a:prstGeom prst="rect">
            <a:avLst/>
          </a:prstGeom>
        </p:spPr>
      </p:pic>
    </p:spTree>
    <p:extLst>
      <p:ext uri="{BB962C8B-B14F-4D97-AF65-F5344CB8AC3E}">
        <p14:creationId xmlns:p14="http://schemas.microsoft.com/office/powerpoint/2010/main" val="41310880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9E4D6-5127-61D1-4312-FD43B63C974A}"/>
            </a:ext>
          </a:extLst>
        </p:cNvPr>
        <p:cNvGrpSpPr/>
        <p:nvPr/>
      </p:nvGrpSpPr>
      <p:grpSpPr>
        <a:xfrm>
          <a:off x="0" y="0"/>
          <a:ext cx="0" cy="0"/>
          <a:chOff x="0" y="0"/>
          <a:chExt cx="0" cy="0"/>
        </a:xfrm>
      </p:grpSpPr>
      <p:sp>
        <p:nvSpPr>
          <p:cNvPr id="2" name="Прямоугольник 1"/>
          <p:cNvSpPr/>
          <p:nvPr/>
        </p:nvSpPr>
        <p:spPr>
          <a:xfrm>
            <a:off x="1068729" y="490353"/>
            <a:ext cx="9823048" cy="369332"/>
          </a:xfrm>
          <a:prstGeom prst="rect">
            <a:avLst/>
          </a:prstGeom>
        </p:spPr>
        <p:txBody>
          <a:bodyPr wrap="square">
            <a:spAutoFit/>
          </a:bodyPr>
          <a:lstStyle/>
          <a:p>
            <a:r>
              <a:rPr lang="ru-RU" dirty="0">
                <a:solidFill>
                  <a:srgbClr val="000000"/>
                </a:solidFill>
                <a:latin typeface="Times New Roman" panose="02020603050405020304" pitchFamily="18" charset="0"/>
                <a:cs typeface="Times New Roman" panose="02020603050405020304" pitchFamily="18" charset="0"/>
              </a:rPr>
              <a:t>2) Регулировка усиления изменением</a:t>
            </a:r>
            <a:r>
              <a:rPr lang="en-US" dirty="0">
                <a:solidFill>
                  <a:srgbClr val="000000"/>
                </a:solidFill>
                <a:latin typeface="Times New Roman" panose="02020603050405020304" pitchFamily="18" charset="0"/>
                <a:cs typeface="Times New Roman" panose="02020603050405020304" pitchFamily="18" charset="0"/>
              </a:rPr>
              <a:t> </a:t>
            </a:r>
            <a:r>
              <a:rPr lang="ru-RU" i="1" dirty="0">
                <a:solidFill>
                  <a:srgbClr val="000000"/>
                </a:solidFill>
                <a:latin typeface="Times New Roman" panose="02020603050405020304" pitchFamily="18" charset="0"/>
                <a:cs typeface="Times New Roman" panose="02020603050405020304" pitchFamily="18" charset="0"/>
              </a:rPr>
              <a:t>R</a:t>
            </a:r>
            <a:r>
              <a:rPr lang="en-US" dirty="0">
                <a:solidFill>
                  <a:srgbClr val="000000"/>
                </a:solidFill>
                <a:latin typeface="Times New Roman" panose="02020603050405020304" pitchFamily="18" charset="0"/>
                <a:cs typeface="Times New Roman" panose="02020603050405020304" pitchFamily="18" charset="0"/>
              </a:rPr>
              <a:t> </a:t>
            </a:r>
            <a:r>
              <a:rPr lang="ru-RU" sz="1200" i="1" dirty="0" err="1">
                <a:solidFill>
                  <a:srgbClr val="000000"/>
                </a:solidFill>
                <a:latin typeface="Times New Roman" panose="02020603050405020304" pitchFamily="18" charset="0"/>
                <a:cs typeface="Times New Roman" panose="02020603050405020304" pitchFamily="18" charset="0"/>
              </a:rPr>
              <a:t>экв</a:t>
            </a:r>
            <a:r>
              <a:rPr lang="en-US" sz="1200" i="1" dirty="0">
                <a:solidFill>
                  <a:srgbClr val="000000"/>
                </a:solidFill>
                <a:latin typeface="Times New Roman" panose="02020603050405020304" pitchFamily="18" charset="0"/>
                <a:cs typeface="Times New Roman" panose="02020603050405020304" pitchFamily="18" charset="0"/>
              </a:rPr>
              <a:t> </a:t>
            </a:r>
            <a:r>
              <a:rPr lang="ru-RU" dirty="0">
                <a:solidFill>
                  <a:srgbClr val="000000"/>
                </a:solidFill>
                <a:latin typeface="Times New Roman" panose="02020603050405020304" pitchFamily="18" charset="0"/>
                <a:cs typeface="Times New Roman" panose="02020603050405020304" pitchFamily="18" charset="0"/>
              </a:rPr>
              <a:t>осуществляется</a:t>
            </a:r>
            <a:r>
              <a:rPr lang="en-US" dirty="0">
                <a:solidFill>
                  <a:srgbClr val="000000"/>
                </a:solidFill>
                <a:latin typeface="Times New Roman" panose="02020603050405020304" pitchFamily="18" charset="0"/>
                <a:cs typeface="Times New Roman" panose="02020603050405020304" pitchFamily="18" charset="0"/>
              </a:rPr>
              <a:t> </a:t>
            </a:r>
            <a:r>
              <a:rPr lang="ru-RU" dirty="0">
                <a:solidFill>
                  <a:srgbClr val="000000"/>
                </a:solidFill>
                <a:latin typeface="Times New Roman" panose="02020603050405020304" pitchFamily="18" charset="0"/>
                <a:cs typeface="Times New Roman" panose="02020603050405020304" pitchFamily="18" charset="0"/>
              </a:rPr>
              <a:t>подключением к контуру одного диода:</a:t>
            </a:r>
            <a:endParaRPr lang="ru-RU" dirty="0"/>
          </a:p>
        </p:txBody>
      </p:sp>
      <p:pic>
        <p:nvPicPr>
          <p:cNvPr id="3" name="Рисунок 2"/>
          <p:cNvPicPr>
            <a:picLocks noChangeAspect="1"/>
          </p:cNvPicPr>
          <p:nvPr/>
        </p:nvPicPr>
        <p:blipFill>
          <a:blip r:embed="rId2"/>
          <a:stretch>
            <a:fillRect/>
          </a:stretch>
        </p:blipFill>
        <p:spPr>
          <a:xfrm>
            <a:off x="7540786" y="1035642"/>
            <a:ext cx="3638550" cy="1200150"/>
          </a:xfrm>
          <a:prstGeom prst="rect">
            <a:avLst/>
          </a:prstGeom>
        </p:spPr>
      </p:pic>
      <p:sp>
        <p:nvSpPr>
          <p:cNvPr id="4" name="Прямоугольник 3"/>
          <p:cNvSpPr/>
          <p:nvPr/>
        </p:nvSpPr>
        <p:spPr>
          <a:xfrm>
            <a:off x="7284334" y="2411749"/>
            <a:ext cx="4151453" cy="369332"/>
          </a:xfrm>
          <a:prstGeom prst="rect">
            <a:avLst/>
          </a:prstGeom>
        </p:spPr>
        <p:txBody>
          <a:bodyPr wrap="square">
            <a:spAutoFit/>
          </a:bodyPr>
          <a:lstStyle/>
          <a:p>
            <a:r>
              <a:rPr lang="ru-RU" dirty="0">
                <a:solidFill>
                  <a:srgbClr val="000000"/>
                </a:solidFill>
                <a:latin typeface="Times New Roman" panose="02020603050405020304" pitchFamily="18" charset="0"/>
                <a:cs typeface="Times New Roman" panose="02020603050405020304" pitchFamily="18" charset="0"/>
              </a:rPr>
              <a:t>Регулировка усиления изменением</a:t>
            </a:r>
            <a:r>
              <a:rPr lang="en-US" dirty="0">
                <a:solidFill>
                  <a:srgbClr val="000000"/>
                </a:solidFill>
                <a:latin typeface="Times New Roman" panose="02020603050405020304" pitchFamily="18" charset="0"/>
                <a:cs typeface="Times New Roman" panose="02020603050405020304" pitchFamily="18" charset="0"/>
              </a:rPr>
              <a:t> R </a:t>
            </a:r>
            <a:r>
              <a:rPr lang="ru-RU" sz="1200" i="1" dirty="0" err="1">
                <a:solidFill>
                  <a:srgbClr val="000000"/>
                </a:solidFill>
                <a:latin typeface="Times New Roman" panose="02020603050405020304" pitchFamily="18" charset="0"/>
                <a:cs typeface="Times New Roman" panose="02020603050405020304" pitchFamily="18" charset="0"/>
              </a:rPr>
              <a:t>экв</a:t>
            </a:r>
            <a:r>
              <a:rPr lang="ru-RU" dirty="0">
                <a:latin typeface="Times New Roman" panose="02020603050405020304" pitchFamily="18" charset="0"/>
                <a:cs typeface="Times New Roman" panose="02020603050405020304" pitchFamily="18" charset="0"/>
              </a:rPr>
              <a:t> </a:t>
            </a:r>
          </a:p>
        </p:txBody>
      </p:sp>
      <p:sp>
        <p:nvSpPr>
          <p:cNvPr id="5" name="Прямоугольник 4"/>
          <p:cNvSpPr/>
          <p:nvPr/>
        </p:nvSpPr>
        <p:spPr>
          <a:xfrm>
            <a:off x="628891" y="1085099"/>
            <a:ext cx="6501114" cy="2492990"/>
          </a:xfrm>
          <a:prstGeom prst="rect">
            <a:avLst/>
          </a:prstGeom>
        </p:spPr>
        <p:txBody>
          <a:bodyPr wrap="square">
            <a:spAutoFit/>
          </a:bodyPr>
          <a:lstStyle/>
          <a:p>
            <a:r>
              <a:rPr lang="ru-RU" dirty="0">
                <a:solidFill>
                  <a:srgbClr val="000000"/>
                </a:solidFill>
                <a:latin typeface="Times New Roman" panose="02020603050405020304" pitchFamily="18" charset="0"/>
                <a:cs typeface="Times New Roman" panose="02020603050405020304" pitchFamily="18" charset="0"/>
              </a:rPr>
              <a:t>При</a:t>
            </a:r>
            <a:r>
              <a:rPr lang="en-US" dirty="0">
                <a:solidFill>
                  <a:srgbClr val="000000"/>
                </a:solidFill>
                <a:latin typeface="Times New Roman" panose="02020603050405020304" pitchFamily="18" charset="0"/>
                <a:cs typeface="Times New Roman" panose="02020603050405020304" pitchFamily="18" charset="0"/>
              </a:rPr>
              <a:t> </a:t>
            </a:r>
            <a:r>
              <a:rPr lang="ru-RU" i="1" dirty="0">
                <a:solidFill>
                  <a:srgbClr val="000000"/>
                </a:solidFill>
                <a:latin typeface="Times New Roman" panose="02020603050405020304" pitchFamily="18" charset="0"/>
                <a:cs typeface="Times New Roman" panose="02020603050405020304" pitchFamily="18" charset="0"/>
              </a:rPr>
              <a:t>Е</a:t>
            </a:r>
            <a:r>
              <a:rPr lang="en-US" i="1" dirty="0">
                <a:solidFill>
                  <a:srgbClr val="000000"/>
                </a:solidFill>
                <a:latin typeface="Times New Roman" panose="02020603050405020304" pitchFamily="18" charset="0"/>
                <a:cs typeface="Times New Roman" panose="02020603050405020304" pitchFamily="18" charset="0"/>
              </a:rPr>
              <a:t> </a:t>
            </a:r>
            <a:r>
              <a:rPr lang="ru-RU" sz="1200" i="1" dirty="0" err="1">
                <a:solidFill>
                  <a:srgbClr val="000000"/>
                </a:solidFill>
                <a:latin typeface="Times New Roman" panose="02020603050405020304" pitchFamily="18" charset="0"/>
                <a:cs typeface="Times New Roman" panose="02020603050405020304" pitchFamily="18" charset="0"/>
              </a:rPr>
              <a:t>рег</a:t>
            </a:r>
            <a:r>
              <a:rPr lang="en-US" sz="2400" dirty="0">
                <a:solidFill>
                  <a:srgbClr val="000000"/>
                </a:solidFill>
                <a:latin typeface="Times New Roman" panose="02020603050405020304" pitchFamily="18" charset="0"/>
                <a:cs typeface="Times New Roman" panose="02020603050405020304" pitchFamily="18" charset="0"/>
              </a:rPr>
              <a:t> </a:t>
            </a:r>
            <a:r>
              <a:rPr lang="en-US" dirty="0">
                <a:solidFill>
                  <a:srgbClr val="000000"/>
                </a:solidFill>
                <a:latin typeface="Times New Roman" panose="02020603050405020304" pitchFamily="18" charset="0"/>
                <a:cs typeface="Times New Roman" panose="02020603050405020304" pitchFamily="18" charset="0"/>
              </a:rPr>
              <a:t>&gt;</a:t>
            </a:r>
            <a:r>
              <a:rPr lang="ru-RU" i="1" dirty="0">
                <a:solidFill>
                  <a:srgbClr val="000000"/>
                </a:solidFill>
                <a:latin typeface="Times New Roman" panose="02020603050405020304" pitchFamily="18" charset="0"/>
                <a:cs typeface="Times New Roman" panose="02020603050405020304" pitchFamily="18" charset="0"/>
              </a:rPr>
              <a:t>U </a:t>
            </a:r>
            <a:r>
              <a:rPr lang="ru-RU" sz="1200" i="1" dirty="0">
                <a:solidFill>
                  <a:srgbClr val="000000"/>
                </a:solidFill>
                <a:latin typeface="Times New Roman" panose="02020603050405020304" pitchFamily="18" charset="0"/>
                <a:cs typeface="Times New Roman" panose="02020603050405020304" pitchFamily="18" charset="0"/>
              </a:rPr>
              <a:t>к</a:t>
            </a:r>
            <a:r>
              <a:rPr lang="ru-RU" sz="1200" dirty="0">
                <a:solidFill>
                  <a:srgbClr val="000000"/>
                </a:solidFill>
                <a:latin typeface="Times New Roman" panose="02020603050405020304" pitchFamily="18" charset="0"/>
                <a:cs typeface="Times New Roman" panose="02020603050405020304" pitchFamily="18" charset="0"/>
              </a:rPr>
              <a:t>  </a:t>
            </a:r>
            <a:r>
              <a:rPr lang="ru-RU" dirty="0">
                <a:solidFill>
                  <a:srgbClr val="000000"/>
                </a:solidFill>
                <a:latin typeface="Times New Roman" panose="02020603050405020304" pitchFamily="18" charset="0"/>
                <a:cs typeface="Times New Roman" panose="02020603050405020304" pitchFamily="18" charset="0"/>
              </a:rPr>
              <a:t>диод закрыт и контур практически не шунтируется, </a:t>
            </a:r>
            <a:r>
              <a:rPr lang="ru-RU" dirty="0" err="1">
                <a:solidFill>
                  <a:srgbClr val="000000"/>
                </a:solidFill>
                <a:latin typeface="Times New Roman" panose="02020603050405020304" pitchFamily="18" charset="0"/>
                <a:cs typeface="Times New Roman" panose="02020603050405020304" pitchFamily="18" charset="0"/>
              </a:rPr>
              <a:t>Rэкв</a:t>
            </a:r>
            <a:r>
              <a:rPr lang="ru-RU" dirty="0">
                <a:solidFill>
                  <a:srgbClr val="000000"/>
                </a:solidFill>
                <a:latin typeface="Times New Roman" panose="02020603050405020304" pitchFamily="18" charset="0"/>
                <a:cs typeface="Times New Roman" panose="02020603050405020304" pitchFamily="18" charset="0"/>
              </a:rPr>
              <a:t> и коэффициент усиления К максимальны. При </a:t>
            </a:r>
            <a:r>
              <a:rPr lang="en-US" i="1" dirty="0">
                <a:solidFill>
                  <a:srgbClr val="000000"/>
                </a:solidFill>
                <a:latin typeface="Times New Roman" panose="02020603050405020304" pitchFamily="18" charset="0"/>
                <a:cs typeface="Times New Roman" panose="02020603050405020304" pitchFamily="18" charset="0"/>
              </a:rPr>
              <a:t>E</a:t>
            </a:r>
            <a:r>
              <a:rPr lang="en-US" dirty="0">
                <a:solidFill>
                  <a:srgbClr val="000000"/>
                </a:solidFill>
                <a:latin typeface="Times New Roman" panose="02020603050405020304" pitchFamily="18" charset="0"/>
                <a:cs typeface="Times New Roman" panose="02020603050405020304" pitchFamily="18" charset="0"/>
              </a:rPr>
              <a:t> </a:t>
            </a:r>
            <a:r>
              <a:rPr lang="ru-RU" sz="1200" i="1" dirty="0" err="1">
                <a:solidFill>
                  <a:srgbClr val="000000"/>
                </a:solidFill>
                <a:latin typeface="Times New Roman" panose="02020603050405020304" pitchFamily="18" charset="0"/>
                <a:cs typeface="Times New Roman" panose="02020603050405020304" pitchFamily="18" charset="0"/>
              </a:rPr>
              <a:t>рег</a:t>
            </a:r>
            <a:r>
              <a:rPr lang="en-US" i="1" dirty="0">
                <a:solidFill>
                  <a:srgbClr val="000000"/>
                </a:solidFill>
                <a:latin typeface="Times New Roman" panose="02020603050405020304" pitchFamily="18" charset="0"/>
                <a:cs typeface="Times New Roman" panose="02020603050405020304" pitchFamily="18" charset="0"/>
              </a:rPr>
              <a:t>&lt;</a:t>
            </a:r>
            <a:r>
              <a:rPr lang="ru-RU" i="1" dirty="0" err="1">
                <a:solidFill>
                  <a:srgbClr val="000000"/>
                </a:solidFill>
                <a:latin typeface="Times New Roman" panose="02020603050405020304" pitchFamily="18" charset="0"/>
                <a:cs typeface="Times New Roman" panose="02020603050405020304" pitchFamily="18" charset="0"/>
              </a:rPr>
              <a:t>U</a:t>
            </a:r>
            <a:r>
              <a:rPr lang="ru-RU" sz="1200" i="1" dirty="0" err="1">
                <a:solidFill>
                  <a:srgbClr val="000000"/>
                </a:solidFill>
                <a:latin typeface="Times New Roman" panose="02020603050405020304" pitchFamily="18" charset="0"/>
                <a:cs typeface="Times New Roman" panose="02020603050405020304" pitchFamily="18" charset="0"/>
              </a:rPr>
              <a:t>к</a:t>
            </a:r>
            <a:r>
              <a:rPr lang="en-US" sz="2400" i="1" dirty="0">
                <a:solidFill>
                  <a:srgbClr val="000000"/>
                </a:solidFill>
                <a:latin typeface="Times New Roman" panose="02020603050405020304" pitchFamily="18" charset="0"/>
                <a:cs typeface="Times New Roman" panose="02020603050405020304" pitchFamily="18" charset="0"/>
              </a:rPr>
              <a:t> </a:t>
            </a:r>
            <a:r>
              <a:rPr lang="ru-RU" dirty="0">
                <a:solidFill>
                  <a:srgbClr val="000000"/>
                </a:solidFill>
                <a:latin typeface="Times New Roman" panose="02020603050405020304" pitchFamily="18" charset="0"/>
                <a:cs typeface="Times New Roman" panose="02020603050405020304" pitchFamily="18" charset="0"/>
              </a:rPr>
              <a:t>диод VD открывается и контур шунтируется. </a:t>
            </a:r>
            <a:br>
              <a:rPr lang="ru-RU" dirty="0">
                <a:solidFill>
                  <a:srgbClr val="000000"/>
                </a:solidFill>
                <a:latin typeface="Times New Roman" panose="02020603050405020304" pitchFamily="18" charset="0"/>
                <a:cs typeface="Times New Roman" panose="02020603050405020304" pitchFamily="18" charset="0"/>
              </a:rPr>
            </a:br>
            <a:r>
              <a:rPr lang="ru-RU" dirty="0" err="1">
                <a:solidFill>
                  <a:srgbClr val="000000"/>
                </a:solidFill>
                <a:latin typeface="Times New Roman" panose="02020603050405020304" pitchFamily="18" charset="0"/>
                <a:cs typeface="Times New Roman" panose="02020603050405020304" pitchFamily="18" charset="0"/>
              </a:rPr>
              <a:t>Rэкв</a:t>
            </a:r>
            <a:r>
              <a:rPr lang="ru-RU" dirty="0">
                <a:solidFill>
                  <a:srgbClr val="000000"/>
                </a:solidFill>
                <a:latin typeface="Times New Roman" panose="02020603050405020304" pitchFamily="18" charset="0"/>
                <a:cs typeface="Times New Roman" panose="02020603050405020304" pitchFamily="18" charset="0"/>
              </a:rPr>
              <a:t> и коэффициент усиления К уменьшаются.</a:t>
            </a:r>
            <a:br>
              <a:rPr lang="ru-RU" dirty="0">
                <a:solidFill>
                  <a:srgbClr val="000000"/>
                </a:solidFill>
                <a:latin typeface="Times New Roman" panose="02020603050405020304" pitchFamily="18" charset="0"/>
                <a:cs typeface="Times New Roman" panose="02020603050405020304" pitchFamily="18" charset="0"/>
              </a:rPr>
            </a:br>
            <a:r>
              <a:rPr lang="ru-RU" dirty="0">
                <a:solidFill>
                  <a:srgbClr val="000000"/>
                </a:solidFill>
                <a:latin typeface="Times New Roman" panose="02020603050405020304" pitchFamily="18" charset="0"/>
                <a:cs typeface="Times New Roman" panose="02020603050405020304" pitchFamily="18" charset="0"/>
              </a:rPr>
              <a:t>Недостаток этого способа - изменяется не только </a:t>
            </a:r>
            <a:r>
              <a:rPr lang="ru-RU" dirty="0" err="1">
                <a:solidFill>
                  <a:srgbClr val="000000"/>
                </a:solidFill>
                <a:latin typeface="Times New Roman" panose="02020603050405020304" pitchFamily="18" charset="0"/>
                <a:cs typeface="Times New Roman" panose="02020603050405020304" pitchFamily="18" charset="0"/>
              </a:rPr>
              <a:t>Rэкв</a:t>
            </a:r>
            <a:r>
              <a:rPr lang="ru-RU" dirty="0">
                <a:solidFill>
                  <a:srgbClr val="000000"/>
                </a:solidFill>
                <a:latin typeface="Times New Roman" panose="02020603050405020304" pitchFamily="18" charset="0"/>
                <a:cs typeface="Times New Roman" panose="02020603050405020304" pitchFamily="18" charset="0"/>
              </a:rPr>
              <a:t> и коэффициент усиления К. Увеличивается полоса пропускания и</a:t>
            </a:r>
            <a:br>
              <a:rPr lang="ru-RU" dirty="0">
                <a:solidFill>
                  <a:srgbClr val="000000"/>
                </a:solidFill>
                <a:latin typeface="Times New Roman" panose="02020603050405020304" pitchFamily="18" charset="0"/>
                <a:cs typeface="Times New Roman" panose="02020603050405020304" pitchFamily="18" charset="0"/>
              </a:rPr>
            </a:br>
            <a:r>
              <a:rPr lang="ru-RU" dirty="0">
                <a:solidFill>
                  <a:srgbClr val="000000"/>
                </a:solidFill>
                <a:latin typeface="Times New Roman" panose="02020603050405020304" pitchFamily="18" charset="0"/>
                <a:cs typeface="Times New Roman" panose="02020603050405020304" pitchFamily="18" charset="0"/>
              </a:rPr>
              <a:t>уменьшается селективность. Такая регулировка применяется</a:t>
            </a:r>
            <a:br>
              <a:rPr lang="ru-RU" dirty="0">
                <a:solidFill>
                  <a:srgbClr val="000000"/>
                </a:solidFill>
                <a:latin typeface="Times New Roman" panose="02020603050405020304" pitchFamily="18" charset="0"/>
                <a:cs typeface="Times New Roman" panose="02020603050405020304" pitchFamily="18" charset="0"/>
              </a:rPr>
            </a:br>
            <a:r>
              <a:rPr lang="ru-RU" dirty="0">
                <a:solidFill>
                  <a:srgbClr val="000000"/>
                </a:solidFill>
                <a:latin typeface="Times New Roman" panose="02020603050405020304" pitchFamily="18" charset="0"/>
                <a:cs typeface="Times New Roman" panose="02020603050405020304" pitchFamily="18" charset="0"/>
              </a:rPr>
              <a:t>достаточно редко.</a:t>
            </a:r>
            <a:endParaRPr lang="ru-RU" dirty="0">
              <a:latin typeface="Times New Roman" panose="02020603050405020304" pitchFamily="18" charset="0"/>
              <a:cs typeface="Times New Roman" panose="02020603050405020304" pitchFamily="18" charset="0"/>
            </a:endParaRPr>
          </a:p>
        </p:txBody>
      </p:sp>
      <p:sp>
        <p:nvSpPr>
          <p:cNvPr id="6" name="Прямоугольник 5"/>
          <p:cNvSpPr/>
          <p:nvPr/>
        </p:nvSpPr>
        <p:spPr>
          <a:xfrm>
            <a:off x="1068728" y="3684965"/>
            <a:ext cx="7311343" cy="646331"/>
          </a:xfrm>
          <a:prstGeom prst="rect">
            <a:avLst/>
          </a:prstGeom>
        </p:spPr>
        <p:txBody>
          <a:bodyPr wrap="square">
            <a:spAutoFit/>
          </a:bodyPr>
          <a:lstStyle/>
          <a:p>
            <a:r>
              <a:rPr lang="ru-RU" dirty="0">
                <a:solidFill>
                  <a:srgbClr val="000000"/>
                </a:solidFill>
                <a:latin typeface="Times New Roman" panose="02020603050405020304" pitchFamily="18" charset="0"/>
                <a:cs typeface="Times New Roman" panose="02020603050405020304" pitchFamily="18" charset="0"/>
              </a:rPr>
              <a:t>3) Регулировка усиления изменением коэффициентов включения p и q:</a:t>
            </a:r>
            <a:r>
              <a:rPr lang="ru-RU" dirty="0">
                <a:latin typeface="Times New Roman" panose="02020603050405020304" pitchFamily="18" charset="0"/>
                <a:cs typeface="Times New Roman" panose="02020603050405020304" pitchFamily="18" charset="0"/>
              </a:rPr>
              <a:t> </a:t>
            </a:r>
            <a:br>
              <a:rPr lang="ru-RU" dirty="0">
                <a:latin typeface="Times New Roman" panose="02020603050405020304" pitchFamily="18" charset="0"/>
                <a:cs typeface="Times New Roman" panose="02020603050405020304" pitchFamily="18" charset="0"/>
              </a:rPr>
            </a:br>
            <a:endParaRPr lang="ru-RU" dirty="0"/>
          </a:p>
        </p:txBody>
      </p:sp>
      <p:pic>
        <p:nvPicPr>
          <p:cNvPr id="7" name="Рисунок 6"/>
          <p:cNvPicPr>
            <a:picLocks noChangeAspect="1"/>
          </p:cNvPicPr>
          <p:nvPr/>
        </p:nvPicPr>
        <p:blipFill>
          <a:blip r:embed="rId3"/>
          <a:stretch>
            <a:fillRect/>
          </a:stretch>
        </p:blipFill>
        <p:spPr>
          <a:xfrm>
            <a:off x="8380071" y="3302596"/>
            <a:ext cx="3476625" cy="2057400"/>
          </a:xfrm>
          <a:prstGeom prst="rect">
            <a:avLst/>
          </a:prstGeom>
        </p:spPr>
      </p:pic>
      <p:sp>
        <p:nvSpPr>
          <p:cNvPr id="8" name="Прямоугольник 7"/>
          <p:cNvSpPr/>
          <p:nvPr/>
        </p:nvSpPr>
        <p:spPr>
          <a:xfrm>
            <a:off x="628890" y="4150334"/>
            <a:ext cx="6655443" cy="1477328"/>
          </a:xfrm>
          <a:prstGeom prst="rect">
            <a:avLst/>
          </a:prstGeom>
        </p:spPr>
        <p:txBody>
          <a:bodyPr wrap="square">
            <a:spAutoFit/>
          </a:bodyPr>
          <a:lstStyle/>
          <a:p>
            <a:r>
              <a:rPr lang="ru-RU" dirty="0">
                <a:solidFill>
                  <a:srgbClr val="000000"/>
                </a:solidFill>
                <a:latin typeface="Times New Roman" panose="02020603050405020304" pitchFamily="18" charset="0"/>
                <a:cs typeface="Times New Roman" panose="02020603050405020304" pitchFamily="18" charset="0"/>
              </a:rPr>
              <a:t>В качестве элементов изменения коэффициентов включения -</a:t>
            </a:r>
            <a:br>
              <a:rPr lang="ru-RU" dirty="0">
                <a:solidFill>
                  <a:srgbClr val="000000"/>
                </a:solidFill>
                <a:latin typeface="Times New Roman" panose="02020603050405020304" pitchFamily="18" charset="0"/>
                <a:cs typeface="Times New Roman" panose="02020603050405020304" pitchFamily="18" charset="0"/>
              </a:rPr>
            </a:br>
            <a:r>
              <a:rPr lang="ru-RU" dirty="0">
                <a:solidFill>
                  <a:srgbClr val="000000"/>
                </a:solidFill>
                <a:latin typeface="Times New Roman" panose="02020603050405020304" pitchFamily="18" charset="0"/>
                <a:cs typeface="Times New Roman" panose="02020603050405020304" pitchFamily="18" charset="0"/>
              </a:rPr>
              <a:t>элементов Z1 и Z2 - могут быть применены или переменная</a:t>
            </a:r>
            <a:br>
              <a:rPr lang="ru-RU" dirty="0">
                <a:solidFill>
                  <a:srgbClr val="000000"/>
                </a:solidFill>
                <a:latin typeface="Times New Roman" panose="02020603050405020304" pitchFamily="18" charset="0"/>
                <a:cs typeface="Times New Roman" panose="02020603050405020304" pitchFamily="18" charset="0"/>
              </a:rPr>
            </a:br>
            <a:r>
              <a:rPr lang="ru-RU" dirty="0">
                <a:solidFill>
                  <a:srgbClr val="000000"/>
                </a:solidFill>
                <a:latin typeface="Times New Roman" panose="02020603050405020304" pitchFamily="18" charset="0"/>
                <a:cs typeface="Times New Roman" panose="02020603050405020304" pitchFamily="18" charset="0"/>
              </a:rPr>
              <a:t>индуктивность или переменная емкость.</a:t>
            </a:r>
            <a:br>
              <a:rPr lang="ru-RU" dirty="0">
                <a:solidFill>
                  <a:srgbClr val="000000"/>
                </a:solidFill>
                <a:latin typeface="Times New Roman" panose="02020603050405020304" pitchFamily="18" charset="0"/>
                <a:cs typeface="Times New Roman" panose="02020603050405020304" pitchFamily="18" charset="0"/>
              </a:rPr>
            </a:br>
            <a:r>
              <a:rPr lang="ru-RU" dirty="0">
                <a:solidFill>
                  <a:srgbClr val="000000"/>
                </a:solidFill>
                <a:latin typeface="Times New Roman" panose="02020603050405020304" pitchFamily="18" charset="0"/>
                <a:cs typeface="Times New Roman" panose="02020603050405020304" pitchFamily="18" charset="0"/>
              </a:rPr>
              <a:t>Недостатки - изменяется настройка контура LС, что трудно</a:t>
            </a:r>
            <a:br>
              <a:rPr lang="ru-RU" dirty="0">
                <a:solidFill>
                  <a:srgbClr val="000000"/>
                </a:solidFill>
                <a:latin typeface="Times New Roman" panose="02020603050405020304" pitchFamily="18" charset="0"/>
                <a:cs typeface="Times New Roman" panose="02020603050405020304" pitchFamily="18" charset="0"/>
              </a:rPr>
            </a:br>
            <a:r>
              <a:rPr lang="ru-RU" dirty="0">
                <a:solidFill>
                  <a:srgbClr val="000000"/>
                </a:solidFill>
                <a:latin typeface="Times New Roman" panose="02020603050405020304" pitchFamily="18" charset="0"/>
                <a:cs typeface="Times New Roman" panose="02020603050405020304" pitchFamily="18" charset="0"/>
              </a:rPr>
              <a:t>предотвратить.</a:t>
            </a:r>
            <a:r>
              <a:rPr lang="ru-RU"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9074877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9E4D6-5127-61D1-4312-FD43B63C974A}"/>
            </a:ext>
          </a:extLst>
        </p:cNvPr>
        <p:cNvGrpSpPr/>
        <p:nvPr/>
      </p:nvGrpSpPr>
      <p:grpSpPr>
        <a:xfrm>
          <a:off x="0" y="0"/>
          <a:ext cx="0" cy="0"/>
          <a:chOff x="0" y="0"/>
          <a:chExt cx="0" cy="0"/>
        </a:xfrm>
      </p:grpSpPr>
      <p:sp>
        <p:nvSpPr>
          <p:cNvPr id="2" name="Прямоугольник 1"/>
          <p:cNvSpPr/>
          <p:nvPr/>
        </p:nvSpPr>
        <p:spPr>
          <a:xfrm>
            <a:off x="848810" y="656366"/>
            <a:ext cx="10355484" cy="2031325"/>
          </a:xfrm>
          <a:prstGeom prst="rect">
            <a:avLst/>
          </a:prstGeom>
        </p:spPr>
        <p:txBody>
          <a:bodyPr wrap="square">
            <a:spAutoFit/>
          </a:bodyPr>
          <a:lstStyle/>
          <a:p>
            <a:r>
              <a:rPr lang="ru-RU" dirty="0">
                <a:solidFill>
                  <a:srgbClr val="000000"/>
                </a:solidFill>
                <a:latin typeface="Times New Roman" panose="02020603050405020304" pitchFamily="18" charset="0"/>
                <a:cs typeface="Times New Roman" panose="02020603050405020304" pitchFamily="18" charset="0"/>
              </a:rPr>
              <a:t>4) Регулировка усиления изменением ООС. При этом способе ООС вводится в цепь смещения эмиттера (цепочки </a:t>
            </a:r>
            <a:r>
              <a:rPr lang="ru-RU" dirty="0" err="1">
                <a:solidFill>
                  <a:srgbClr val="000000"/>
                </a:solidFill>
                <a:latin typeface="Times New Roman" panose="02020603050405020304" pitchFamily="18" charset="0"/>
                <a:cs typeface="Times New Roman" panose="02020603050405020304" pitchFamily="18" charset="0"/>
              </a:rPr>
              <a:t>RэСэ</a:t>
            </a:r>
            <a:r>
              <a:rPr lang="ru-RU" dirty="0">
                <a:solidFill>
                  <a:srgbClr val="000000"/>
                </a:solidFill>
                <a:latin typeface="Times New Roman" panose="02020603050405020304" pitchFamily="18" charset="0"/>
                <a:cs typeface="Times New Roman" panose="02020603050405020304" pitchFamily="18" charset="0"/>
              </a:rPr>
              <a:t>). В качестве регулирующего элемента используют варикапы: с увеличением регулирующего напряжения </a:t>
            </a:r>
            <a:r>
              <a:rPr lang="ru-RU" dirty="0" err="1">
                <a:solidFill>
                  <a:srgbClr val="000000"/>
                </a:solidFill>
                <a:latin typeface="Times New Roman" panose="02020603050405020304" pitchFamily="18" charset="0"/>
                <a:cs typeface="Times New Roman" panose="02020603050405020304" pitchFamily="18" charset="0"/>
              </a:rPr>
              <a:t>Uрег</a:t>
            </a:r>
            <a:r>
              <a:rPr lang="ru-RU" dirty="0">
                <a:solidFill>
                  <a:srgbClr val="000000"/>
                </a:solidFill>
                <a:latin typeface="Times New Roman" panose="02020603050405020304" pitchFamily="18" charset="0"/>
                <a:cs typeface="Times New Roman" panose="02020603050405020304" pitchFamily="18" charset="0"/>
              </a:rPr>
              <a:t> на варикапе его емкость уменьшается, что приводит к увеличению ООС и, соответственно, усиление К уменьшается.</a:t>
            </a:r>
            <a:br>
              <a:rPr lang="ru-RU" dirty="0">
                <a:solidFill>
                  <a:srgbClr val="000000"/>
                </a:solidFill>
                <a:latin typeface="Times New Roman" panose="02020603050405020304" pitchFamily="18" charset="0"/>
                <a:cs typeface="Times New Roman" panose="02020603050405020304" pitchFamily="18" charset="0"/>
              </a:rPr>
            </a:br>
            <a:r>
              <a:rPr lang="ru-RU" dirty="0">
                <a:solidFill>
                  <a:srgbClr val="000000"/>
                </a:solidFill>
                <a:latin typeface="Times New Roman" panose="02020603050405020304" pitchFamily="18" charset="0"/>
                <a:cs typeface="Times New Roman" panose="02020603050405020304" pitchFamily="18" charset="0"/>
              </a:rPr>
              <a:t>5) Регулировка усиления изменением параметров цепей, специально включаемых для целей регулирования. При такой</a:t>
            </a:r>
            <a:r>
              <a:rPr lang="ru-RU" dirty="0">
                <a:latin typeface="Times New Roman" panose="02020603050405020304" pitchFamily="18" charset="0"/>
                <a:cs typeface="Times New Roman" panose="02020603050405020304" pitchFamily="18" charset="0"/>
              </a:rPr>
              <a:t> регулировке АРУ используются специально включаемые элементы, например, аттенюаторы с переменным коэффициентом передачи</a:t>
            </a:r>
          </a:p>
        </p:txBody>
      </p:sp>
      <p:pic>
        <p:nvPicPr>
          <p:cNvPr id="3" name="Рисунок 2"/>
          <p:cNvPicPr>
            <a:picLocks noChangeAspect="1"/>
          </p:cNvPicPr>
          <p:nvPr/>
        </p:nvPicPr>
        <p:blipFill>
          <a:blip r:embed="rId2"/>
          <a:stretch>
            <a:fillRect/>
          </a:stretch>
        </p:blipFill>
        <p:spPr>
          <a:xfrm>
            <a:off x="4714333" y="2687691"/>
            <a:ext cx="2267424" cy="2115803"/>
          </a:xfrm>
          <a:prstGeom prst="rect">
            <a:avLst/>
          </a:prstGeom>
        </p:spPr>
      </p:pic>
      <p:sp>
        <p:nvSpPr>
          <p:cNvPr id="4" name="Прямоугольник 3"/>
          <p:cNvSpPr/>
          <p:nvPr/>
        </p:nvSpPr>
        <p:spPr>
          <a:xfrm>
            <a:off x="848810" y="4803494"/>
            <a:ext cx="8364638" cy="1292662"/>
          </a:xfrm>
          <a:prstGeom prst="rect">
            <a:avLst/>
          </a:prstGeom>
        </p:spPr>
        <p:txBody>
          <a:bodyPr wrap="square">
            <a:spAutoFit/>
          </a:bodyPr>
          <a:lstStyle/>
          <a:p>
            <a:r>
              <a:rPr lang="ru-RU" dirty="0">
                <a:solidFill>
                  <a:srgbClr val="000000"/>
                </a:solidFill>
                <a:latin typeface="Times New Roman" panose="02020603050405020304" pitchFamily="18" charset="0"/>
                <a:cs typeface="Times New Roman" panose="02020603050405020304" pitchFamily="18" charset="0"/>
              </a:rPr>
              <a:t>При </a:t>
            </a:r>
            <a:r>
              <a:rPr lang="ru-RU" sz="2400" i="1" dirty="0" err="1">
                <a:solidFill>
                  <a:srgbClr val="000000"/>
                </a:solidFill>
                <a:latin typeface="Times New Roman" panose="02020603050405020304" pitchFamily="18" charset="0"/>
                <a:cs typeface="Times New Roman" panose="02020603050405020304" pitchFamily="18" charset="0"/>
              </a:rPr>
              <a:t>Е</a:t>
            </a:r>
            <a:r>
              <a:rPr lang="ru-RU" sz="1200" i="1" dirty="0" err="1">
                <a:solidFill>
                  <a:srgbClr val="000000"/>
                </a:solidFill>
                <a:latin typeface="Times New Roman" panose="02020603050405020304" pitchFamily="18" charset="0"/>
                <a:cs typeface="Times New Roman" panose="02020603050405020304" pitchFamily="18" charset="0"/>
              </a:rPr>
              <a:t>ре</a:t>
            </a:r>
            <a:r>
              <a:rPr lang="ru-RU" sz="1200" dirty="0" err="1">
                <a:solidFill>
                  <a:srgbClr val="000000"/>
                </a:solidFill>
                <a:latin typeface="Times New Roman" panose="02020603050405020304" pitchFamily="18" charset="0"/>
                <a:cs typeface="Times New Roman" panose="02020603050405020304" pitchFamily="18" charset="0"/>
              </a:rPr>
              <a:t>г</a:t>
            </a:r>
            <a:r>
              <a:rPr lang="ru-RU" sz="1200"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&lt;</a:t>
            </a:r>
            <a:r>
              <a:rPr lang="ru-RU" sz="2400" i="1" dirty="0">
                <a:solidFill>
                  <a:srgbClr val="000000"/>
                </a:solidFill>
                <a:latin typeface="Times New Roman" panose="02020603050405020304" pitchFamily="18" charset="0"/>
                <a:cs typeface="Times New Roman" panose="02020603050405020304" pitchFamily="18" charset="0"/>
              </a:rPr>
              <a:t>U</a:t>
            </a:r>
            <a:r>
              <a:rPr lang="ru-RU" sz="1200" dirty="0">
                <a:solidFill>
                  <a:srgbClr val="000000"/>
                </a:solidFill>
                <a:latin typeface="Times New Roman" panose="02020603050405020304" pitchFamily="18" charset="0"/>
                <a:cs typeface="Times New Roman" panose="02020603050405020304" pitchFamily="18" charset="0"/>
              </a:rPr>
              <a:t>0 </a:t>
            </a:r>
            <a:r>
              <a:rPr lang="ru-RU" dirty="0">
                <a:solidFill>
                  <a:srgbClr val="000000"/>
                </a:solidFill>
                <a:latin typeface="Times New Roman" panose="02020603050405020304" pitchFamily="18" charset="0"/>
                <a:cs typeface="Times New Roman" panose="02020603050405020304" pitchFamily="18" charset="0"/>
              </a:rPr>
              <a:t>диоды VD1 и VD2 открыты. Диод VD3- закрыт, контур не шунтируется, коэффициент передачи максимален. По мере увеличения регулирующего напряжения </a:t>
            </a:r>
            <a:r>
              <a:rPr lang="ru-RU" dirty="0" err="1">
                <a:solidFill>
                  <a:srgbClr val="000000"/>
                </a:solidFill>
                <a:latin typeface="Times New Roman" panose="02020603050405020304" pitchFamily="18" charset="0"/>
                <a:cs typeface="Times New Roman" panose="02020603050405020304" pitchFamily="18" charset="0"/>
              </a:rPr>
              <a:t>Ерег</a:t>
            </a:r>
            <a:r>
              <a:rPr lang="ru-RU" dirty="0">
                <a:solidFill>
                  <a:srgbClr val="000000"/>
                </a:solidFill>
                <a:latin typeface="Times New Roman" panose="02020603050405020304" pitchFamily="18" charset="0"/>
                <a:cs typeface="Times New Roman" panose="02020603050405020304" pitchFamily="18" charset="0"/>
              </a:rPr>
              <a:t> диоды VD1 и VD2 закрываются, диод VD3 открывается, что приводит к уменьшению коэффициента передачи.</a:t>
            </a:r>
            <a:r>
              <a:rPr lang="ru-RU"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700776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9E4D6-5127-61D1-4312-FD43B63C974A}"/>
            </a:ext>
          </a:extLst>
        </p:cNvPr>
        <p:cNvGrpSpPr/>
        <p:nvPr/>
      </p:nvGrpSpPr>
      <p:grpSpPr>
        <a:xfrm>
          <a:off x="0" y="0"/>
          <a:ext cx="0" cy="0"/>
          <a:chOff x="0" y="0"/>
          <a:chExt cx="0" cy="0"/>
        </a:xfrm>
      </p:grpSpPr>
      <p:sp>
        <p:nvSpPr>
          <p:cNvPr id="2" name="Прямоугольник 1"/>
          <p:cNvSpPr/>
          <p:nvPr/>
        </p:nvSpPr>
        <p:spPr>
          <a:xfrm>
            <a:off x="628891" y="271226"/>
            <a:ext cx="6003404" cy="3170099"/>
          </a:xfrm>
          <a:prstGeom prst="rect">
            <a:avLst/>
          </a:prstGeom>
        </p:spPr>
        <p:txBody>
          <a:bodyPr wrap="square">
            <a:spAutoFit/>
          </a:bodyPr>
          <a:lstStyle/>
          <a:p>
            <a:r>
              <a:rPr lang="ru-RU" sz="2000" b="1" dirty="0">
                <a:solidFill>
                  <a:srgbClr val="000000"/>
                </a:solidFill>
                <a:latin typeface="Times New Roman" panose="02020603050405020304" pitchFamily="18" charset="0"/>
                <a:cs typeface="Times New Roman" panose="02020603050405020304" pitchFamily="18" charset="0"/>
              </a:rPr>
              <a:t>4. Варианты схем электронных регуляторов</a:t>
            </a:r>
            <a:r>
              <a:rPr lang="en-US" sz="2000" b="1" dirty="0">
                <a:solidFill>
                  <a:srgbClr val="000000"/>
                </a:solidFill>
                <a:latin typeface="Times New Roman" panose="02020603050405020304" pitchFamily="18" charset="0"/>
                <a:cs typeface="Times New Roman" panose="02020603050405020304" pitchFamily="18" charset="0"/>
              </a:rPr>
              <a:t> </a:t>
            </a:r>
            <a:r>
              <a:rPr lang="ru-RU" sz="2000" b="1" dirty="0">
                <a:solidFill>
                  <a:srgbClr val="000000"/>
                </a:solidFill>
                <a:latin typeface="Times New Roman" panose="02020603050405020304" pitchFamily="18" charset="0"/>
                <a:cs typeface="Times New Roman" panose="02020603050405020304" pitchFamily="18" charset="0"/>
              </a:rPr>
              <a:t>усиления</a:t>
            </a:r>
            <a:endParaRPr lang="en-US" sz="2000" b="1" dirty="0">
              <a:solidFill>
                <a:srgbClr val="000000"/>
              </a:solidFill>
              <a:latin typeface="Times New Roman" panose="02020603050405020304" pitchFamily="18" charset="0"/>
              <a:cs typeface="Times New Roman" panose="02020603050405020304" pitchFamily="18" charset="0"/>
            </a:endParaRPr>
          </a:p>
          <a:p>
            <a:br>
              <a:rPr lang="ru-RU" sz="2000" b="1" dirty="0">
                <a:solidFill>
                  <a:srgbClr val="000000"/>
                </a:solidFill>
                <a:latin typeface="Times New Roman" panose="02020603050405020304" pitchFamily="18" charset="0"/>
                <a:cs typeface="Times New Roman" panose="02020603050405020304" pitchFamily="18" charset="0"/>
              </a:rPr>
            </a:br>
            <a:r>
              <a:rPr lang="ru-RU" sz="2000" b="1" dirty="0">
                <a:solidFill>
                  <a:srgbClr val="000000"/>
                </a:solidFill>
                <a:latin typeface="Times New Roman" panose="02020603050405020304" pitchFamily="18" charset="0"/>
                <a:cs typeface="Times New Roman" panose="02020603050405020304" pitchFamily="18" charset="0"/>
              </a:rPr>
              <a:t>4.1. Регулятор усиления на полевом</a:t>
            </a:r>
            <a:r>
              <a:rPr lang="en-US" sz="2000" b="1" dirty="0">
                <a:solidFill>
                  <a:srgbClr val="000000"/>
                </a:solidFill>
                <a:latin typeface="Times New Roman" panose="02020603050405020304" pitchFamily="18" charset="0"/>
                <a:cs typeface="Times New Roman" panose="02020603050405020304" pitchFamily="18" charset="0"/>
              </a:rPr>
              <a:t> </a:t>
            </a:r>
            <a:r>
              <a:rPr lang="ru-RU" sz="2000" b="1" dirty="0">
                <a:solidFill>
                  <a:srgbClr val="000000"/>
                </a:solidFill>
                <a:latin typeface="Times New Roman" panose="02020603050405020304" pitchFamily="18" charset="0"/>
                <a:cs typeface="Times New Roman" panose="02020603050405020304" pitchFamily="18" charset="0"/>
              </a:rPr>
              <a:t>транзисторе</a:t>
            </a:r>
            <a:endParaRPr lang="en-US" sz="2000" b="1" dirty="0">
              <a:solidFill>
                <a:srgbClr val="000000"/>
              </a:solidFill>
              <a:latin typeface="Times New Roman" panose="02020603050405020304" pitchFamily="18" charset="0"/>
              <a:cs typeface="Times New Roman" panose="02020603050405020304" pitchFamily="18" charset="0"/>
            </a:endParaRPr>
          </a:p>
          <a:p>
            <a:r>
              <a:rPr lang="ru-RU" sz="2000" dirty="0">
                <a:latin typeface="Times New Roman" panose="02020603050405020304" pitchFamily="18" charset="0"/>
                <a:cs typeface="Times New Roman" panose="02020603050405020304" pitchFamily="18" charset="0"/>
              </a:rPr>
              <a:t>На рисунке изображен резонансный усилитель на полевом</a:t>
            </a:r>
          </a:p>
          <a:p>
            <a:r>
              <a:rPr lang="ru-RU" sz="2000" dirty="0">
                <a:latin typeface="Times New Roman" panose="02020603050405020304" pitchFamily="18" charset="0"/>
                <a:cs typeface="Times New Roman" panose="02020603050405020304" pitchFamily="18" charset="0"/>
              </a:rPr>
              <a:t>транзисторе, в цепи затвора которого имеется начальное автоматическое смещение. Оно создается за счет падения напряжения постоянного тока истока на резисторе </a:t>
            </a:r>
            <a:r>
              <a:rPr lang="ru-RU" sz="2000" dirty="0" err="1">
                <a:latin typeface="Times New Roman" panose="02020603050405020304" pitchFamily="18" charset="0"/>
                <a:cs typeface="Times New Roman" panose="02020603050405020304" pitchFamily="18" charset="0"/>
              </a:rPr>
              <a:t>Rи</a:t>
            </a:r>
            <a:r>
              <a:rPr lang="ru-RU" sz="2000" dirty="0">
                <a:latin typeface="Times New Roman" panose="02020603050405020304" pitchFamily="18" charset="0"/>
                <a:cs typeface="Times New Roman" panose="02020603050405020304" pitchFamily="18" charset="0"/>
              </a:rPr>
              <a:t>. </a:t>
            </a:r>
          </a:p>
        </p:txBody>
      </p:sp>
      <p:pic>
        <p:nvPicPr>
          <p:cNvPr id="3" name="Рисунок 2"/>
          <p:cNvPicPr>
            <a:picLocks noChangeAspect="1"/>
          </p:cNvPicPr>
          <p:nvPr/>
        </p:nvPicPr>
        <p:blipFill>
          <a:blip r:embed="rId2"/>
          <a:stretch>
            <a:fillRect/>
          </a:stretch>
        </p:blipFill>
        <p:spPr>
          <a:xfrm>
            <a:off x="7488880" y="616605"/>
            <a:ext cx="3209925" cy="2105025"/>
          </a:xfrm>
          <a:prstGeom prst="rect">
            <a:avLst/>
          </a:prstGeom>
        </p:spPr>
      </p:pic>
      <p:sp>
        <p:nvSpPr>
          <p:cNvPr id="4" name="Прямоугольник 3"/>
          <p:cNvSpPr/>
          <p:nvPr/>
        </p:nvSpPr>
        <p:spPr>
          <a:xfrm>
            <a:off x="7342207" y="2885916"/>
            <a:ext cx="4440880" cy="369332"/>
          </a:xfrm>
          <a:prstGeom prst="rect">
            <a:avLst/>
          </a:prstGeom>
        </p:spPr>
        <p:txBody>
          <a:bodyPr wrap="square">
            <a:spAutoFit/>
          </a:bodyPr>
          <a:lstStyle/>
          <a:p>
            <a:r>
              <a:rPr lang="ru-RU" dirty="0">
                <a:solidFill>
                  <a:srgbClr val="000000"/>
                </a:solidFill>
                <a:latin typeface="Times New Roman" panose="02020603050405020304" pitchFamily="18" charset="0"/>
                <a:cs typeface="Times New Roman" panose="02020603050405020304" pitchFamily="18" charset="0"/>
              </a:rPr>
              <a:t>Резонансный усилитель с режимной АРУ</a:t>
            </a:r>
            <a:r>
              <a:rPr lang="ru-RU" dirty="0">
                <a:latin typeface="Times New Roman" panose="02020603050405020304" pitchFamily="18" charset="0"/>
                <a:cs typeface="Times New Roman" panose="02020603050405020304" pitchFamily="18" charset="0"/>
              </a:rPr>
              <a:t> </a:t>
            </a:r>
          </a:p>
        </p:txBody>
      </p:sp>
      <p:sp>
        <p:nvSpPr>
          <p:cNvPr id="5" name="Прямоугольник 4"/>
          <p:cNvSpPr/>
          <p:nvPr/>
        </p:nvSpPr>
        <p:spPr>
          <a:xfrm>
            <a:off x="628891" y="3545033"/>
            <a:ext cx="6096000" cy="2246769"/>
          </a:xfrm>
          <a:prstGeom prst="rect">
            <a:avLst/>
          </a:prstGeom>
        </p:spPr>
        <p:txBody>
          <a:bodyPr>
            <a:spAutoFit/>
          </a:bodyPr>
          <a:lstStyle/>
          <a:p>
            <a:r>
              <a:rPr lang="ru-RU" sz="2000" dirty="0">
                <a:solidFill>
                  <a:srgbClr val="000000"/>
                </a:solidFill>
                <a:latin typeface="Times New Roman" panose="02020603050405020304" pitchFamily="18" charset="0"/>
                <a:cs typeface="Times New Roman" panose="02020603050405020304" pitchFamily="18" charset="0"/>
              </a:rPr>
              <a:t>В эту же цепь подается через фильтр C , R </a:t>
            </a:r>
            <a:r>
              <a:rPr lang="ru-RU" sz="800" dirty="0">
                <a:solidFill>
                  <a:srgbClr val="000000"/>
                </a:solidFill>
                <a:latin typeface="Times New Roman" panose="02020603050405020304" pitchFamily="18" charset="0"/>
                <a:cs typeface="Times New Roman" panose="02020603050405020304" pitchFamily="18" charset="0"/>
              </a:rPr>
              <a:t>ф АРУ ф АРУ </a:t>
            </a:r>
            <a:r>
              <a:rPr lang="ru-RU" sz="2000" dirty="0">
                <a:solidFill>
                  <a:srgbClr val="000000"/>
                </a:solidFill>
                <a:latin typeface="Times New Roman" panose="02020603050405020304" pitchFamily="18" charset="0"/>
                <a:cs typeface="Times New Roman" panose="02020603050405020304" pitchFamily="18" charset="0"/>
              </a:rPr>
              <a:t>отрицательное регулирующее напряжение от детектора АРУ. При увеличении абсолютного значения этого напряжения рабочая точка смещается вниз по проходной вольтамперной характеристике на участок с меньшей крутизной. Уменьшение крутизны приводит к уменьшению коэффициента усиления.</a:t>
            </a:r>
            <a:endParaRPr lang="ru-RU"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12262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9E4D6-5127-61D1-4312-FD43B63C974A}"/>
            </a:ext>
          </a:extLst>
        </p:cNvPr>
        <p:cNvGrpSpPr/>
        <p:nvPr/>
      </p:nvGrpSpPr>
      <p:grpSpPr>
        <a:xfrm>
          <a:off x="0" y="0"/>
          <a:ext cx="0" cy="0"/>
          <a:chOff x="0" y="0"/>
          <a:chExt cx="0" cy="0"/>
        </a:xfrm>
      </p:grpSpPr>
      <p:sp>
        <p:nvSpPr>
          <p:cNvPr id="2" name="Прямоугольник 1"/>
          <p:cNvSpPr/>
          <p:nvPr/>
        </p:nvSpPr>
        <p:spPr>
          <a:xfrm>
            <a:off x="397397" y="571773"/>
            <a:ext cx="6477965" cy="707886"/>
          </a:xfrm>
          <a:prstGeom prst="rect">
            <a:avLst/>
          </a:prstGeom>
        </p:spPr>
        <p:txBody>
          <a:bodyPr wrap="square">
            <a:spAutoFit/>
          </a:bodyPr>
          <a:lstStyle/>
          <a:p>
            <a:r>
              <a:rPr lang="ru-RU" sz="2000" b="1" dirty="0">
                <a:solidFill>
                  <a:srgbClr val="000000"/>
                </a:solidFill>
                <a:latin typeface="Times New Roman" panose="02020603050405020304" pitchFamily="18" charset="0"/>
                <a:cs typeface="Times New Roman" panose="02020603050405020304" pitchFamily="18" charset="0"/>
              </a:rPr>
              <a:t>4.2. Регулятор усиления на основе </a:t>
            </a:r>
            <a:r>
              <a:rPr lang="ru-RU" sz="2000" b="1" dirty="0" err="1">
                <a:solidFill>
                  <a:srgbClr val="000000"/>
                </a:solidFill>
                <a:latin typeface="Times New Roman" panose="02020603050405020304" pitchFamily="18" charset="0"/>
                <a:cs typeface="Times New Roman" panose="02020603050405020304" pitchFamily="18" charset="0"/>
              </a:rPr>
              <a:t>трехтранзисторного</a:t>
            </a:r>
            <a:r>
              <a:rPr lang="ru-RU" sz="2000" b="1" dirty="0">
                <a:solidFill>
                  <a:srgbClr val="000000"/>
                </a:solidFill>
                <a:latin typeface="Times New Roman" panose="02020603050405020304" pitchFamily="18" charset="0"/>
                <a:cs typeface="Times New Roman" panose="02020603050405020304" pitchFamily="18" charset="0"/>
              </a:rPr>
              <a:t> дифференциального каскада</a:t>
            </a:r>
            <a:r>
              <a:rPr lang="ru-RU" sz="2000" dirty="0">
                <a:latin typeface="Times New Roman" panose="02020603050405020304" pitchFamily="18" charset="0"/>
                <a:cs typeface="Times New Roman" panose="02020603050405020304" pitchFamily="18" charset="0"/>
              </a:rPr>
              <a:t> </a:t>
            </a:r>
          </a:p>
        </p:txBody>
      </p:sp>
      <p:pic>
        <p:nvPicPr>
          <p:cNvPr id="3" name="Рисунок 2"/>
          <p:cNvPicPr>
            <a:picLocks noChangeAspect="1"/>
          </p:cNvPicPr>
          <p:nvPr/>
        </p:nvPicPr>
        <p:blipFill>
          <a:blip r:embed="rId2"/>
          <a:stretch>
            <a:fillRect/>
          </a:stretch>
        </p:blipFill>
        <p:spPr>
          <a:xfrm>
            <a:off x="6690167" y="1602127"/>
            <a:ext cx="5248275" cy="3600450"/>
          </a:xfrm>
          <a:prstGeom prst="rect">
            <a:avLst/>
          </a:prstGeom>
        </p:spPr>
      </p:pic>
      <p:sp>
        <p:nvSpPr>
          <p:cNvPr id="4" name="Прямоугольник 3"/>
          <p:cNvSpPr/>
          <p:nvPr/>
        </p:nvSpPr>
        <p:spPr>
          <a:xfrm>
            <a:off x="397397" y="1416925"/>
            <a:ext cx="6292770" cy="5324535"/>
          </a:xfrm>
          <a:prstGeom prst="rect">
            <a:avLst/>
          </a:prstGeom>
        </p:spPr>
        <p:txBody>
          <a:bodyPr wrap="square">
            <a:spAutoFit/>
          </a:bodyPr>
          <a:lstStyle/>
          <a:p>
            <a:r>
              <a:rPr lang="ru-RU" sz="2000" dirty="0">
                <a:solidFill>
                  <a:srgbClr val="000000"/>
                </a:solidFill>
                <a:latin typeface="Times New Roman" panose="02020603050405020304" pitchFamily="18" charset="0"/>
                <a:cs typeface="Times New Roman" panose="02020603050405020304" pitchFamily="18" charset="0"/>
              </a:rPr>
              <a:t>На рис. 10.9 приведена принципиальная схема резонансного усилителя на основе </a:t>
            </a:r>
            <a:r>
              <a:rPr lang="ru-RU" sz="2000" dirty="0" err="1">
                <a:solidFill>
                  <a:srgbClr val="000000"/>
                </a:solidFill>
                <a:latin typeface="Times New Roman" panose="02020603050405020304" pitchFamily="18" charset="0"/>
                <a:cs typeface="Times New Roman" panose="02020603050405020304" pitchFamily="18" charset="0"/>
              </a:rPr>
              <a:t>трехтранзисторного</a:t>
            </a:r>
            <a:r>
              <a:rPr lang="ru-RU" sz="2000" dirty="0">
                <a:solidFill>
                  <a:srgbClr val="000000"/>
                </a:solidFill>
                <a:latin typeface="Times New Roman" panose="02020603050405020304" pitchFamily="18" charset="0"/>
                <a:cs typeface="Times New Roman" panose="02020603050405020304" pitchFamily="18" charset="0"/>
              </a:rPr>
              <a:t> дифференциального каскада.</a:t>
            </a:r>
            <a:br>
              <a:rPr lang="ru-RU" sz="2000" dirty="0">
                <a:solidFill>
                  <a:srgbClr val="000000"/>
                </a:solidFill>
                <a:latin typeface="Times New Roman" panose="02020603050405020304" pitchFamily="18" charset="0"/>
                <a:cs typeface="Times New Roman" panose="02020603050405020304" pitchFamily="18" charset="0"/>
              </a:rPr>
            </a:br>
            <a:r>
              <a:rPr lang="ru-RU" sz="2000" dirty="0">
                <a:solidFill>
                  <a:srgbClr val="000000"/>
                </a:solidFill>
                <a:latin typeface="Times New Roman" panose="02020603050405020304" pitchFamily="18" charset="0"/>
                <a:cs typeface="Times New Roman" panose="02020603050405020304" pitchFamily="18" charset="0"/>
              </a:rPr>
              <a:t>В этом усилителе регулировка усиления осуществляется за счет перераспределения тока транзистора Т3 между транзисторами Т1 и Т2. В цепь затвора транзистора Т1 подаются напряжение постоянного смещения </a:t>
            </a:r>
            <a:r>
              <a:rPr lang="ru-RU" sz="2000" b="1" dirty="0">
                <a:solidFill>
                  <a:srgbClr val="000000"/>
                </a:solidFill>
                <a:latin typeface="Times New Roman" panose="02020603050405020304" pitchFamily="18" charset="0"/>
                <a:cs typeface="Times New Roman" panose="02020603050405020304" pitchFamily="18" charset="0"/>
              </a:rPr>
              <a:t>Е </a:t>
            </a:r>
            <a:r>
              <a:rPr lang="ru-RU" sz="2000" dirty="0">
                <a:solidFill>
                  <a:srgbClr val="000000"/>
                </a:solidFill>
                <a:latin typeface="Times New Roman" panose="02020603050405020304" pitchFamily="18" charset="0"/>
                <a:cs typeface="Times New Roman" panose="02020603050405020304" pitchFamily="18" charset="0"/>
              </a:rPr>
              <a:t>и регулирующее положительное напряжение </a:t>
            </a:r>
            <a:r>
              <a:rPr lang="ru-RU" sz="2000" dirty="0" err="1">
                <a:solidFill>
                  <a:srgbClr val="000000"/>
                </a:solidFill>
                <a:latin typeface="Times New Roman" panose="02020603050405020304" pitchFamily="18" charset="0"/>
                <a:cs typeface="Times New Roman" panose="02020603050405020304" pitchFamily="18" charset="0"/>
              </a:rPr>
              <a:t>uр</a:t>
            </a:r>
            <a:r>
              <a:rPr lang="ru-RU" sz="2000" dirty="0">
                <a:solidFill>
                  <a:srgbClr val="000000"/>
                </a:solidFill>
                <a:latin typeface="Times New Roman" panose="02020603050405020304" pitchFamily="18" charset="0"/>
                <a:cs typeface="Times New Roman" panose="02020603050405020304" pitchFamily="18" charset="0"/>
              </a:rPr>
              <a:t>. Положительное  напряжение </a:t>
            </a:r>
            <a:r>
              <a:rPr lang="ru-RU" sz="2000" b="1" dirty="0">
                <a:solidFill>
                  <a:srgbClr val="000000"/>
                </a:solidFill>
                <a:latin typeface="Times New Roman" panose="02020603050405020304" pitchFamily="18" charset="0"/>
                <a:cs typeface="Times New Roman" panose="02020603050405020304" pitchFamily="18" charset="0"/>
              </a:rPr>
              <a:t>Е </a:t>
            </a:r>
            <a:r>
              <a:rPr lang="ru-RU" sz="2000" dirty="0">
                <a:solidFill>
                  <a:srgbClr val="000000"/>
                </a:solidFill>
                <a:latin typeface="Times New Roman" panose="02020603050405020304" pitchFamily="18" charset="0"/>
                <a:cs typeface="Times New Roman" panose="02020603050405020304" pitchFamily="18" charset="0"/>
              </a:rPr>
              <a:t>выбирается так, чтобы при отсутствии регулирующего напряжения транзистор Т1 был закрыт, и весь ток транзистора Т3 протекал через Т2</a:t>
            </a:r>
            <a:r>
              <a:rPr lang="ru-RU" sz="2000" dirty="0">
                <a:latin typeface="Times New Roman" panose="02020603050405020304" pitchFamily="18" charset="0"/>
                <a:cs typeface="Times New Roman" panose="02020603050405020304" pitchFamily="18" charset="0"/>
              </a:rPr>
              <a:t>.</a:t>
            </a:r>
          </a:p>
          <a:p>
            <a:r>
              <a:rPr lang="ru-RU" sz="2000" dirty="0">
                <a:latin typeface="Times New Roman" panose="02020603050405020304" pitchFamily="18" charset="0"/>
                <a:cs typeface="Times New Roman" panose="02020603050405020304" pitchFamily="18" charset="0"/>
              </a:rPr>
              <a:t>Коэффициент усиления усилителя в этом случае максимален. При появлении положительного регулирующего напряжения ток через Т1 увеличивается, а ток через Т2 уменьшается. В результате уменьшается коэффициент усиления. </a:t>
            </a:r>
          </a:p>
        </p:txBody>
      </p:sp>
      <p:sp>
        <p:nvSpPr>
          <p:cNvPr id="5" name="Прямоугольник 4"/>
          <p:cNvSpPr/>
          <p:nvPr/>
        </p:nvSpPr>
        <p:spPr>
          <a:xfrm>
            <a:off x="6667018" y="5387779"/>
            <a:ext cx="4421529" cy="646331"/>
          </a:xfrm>
          <a:prstGeom prst="rect">
            <a:avLst/>
          </a:prstGeom>
        </p:spPr>
        <p:txBody>
          <a:bodyPr wrap="square">
            <a:spAutoFit/>
          </a:bodyPr>
          <a:lstStyle/>
          <a:p>
            <a:r>
              <a:rPr lang="ru-RU" dirty="0">
                <a:solidFill>
                  <a:srgbClr val="000000"/>
                </a:solidFill>
                <a:latin typeface="Times New Roman" panose="02020603050405020304" pitchFamily="18" charset="0"/>
                <a:cs typeface="Times New Roman" panose="02020603050405020304" pitchFamily="18" charset="0"/>
              </a:rPr>
              <a:t>Резонансный усилитель с АРУ путем</a:t>
            </a:r>
            <a:br>
              <a:rPr lang="ru-RU" dirty="0">
                <a:solidFill>
                  <a:srgbClr val="000000"/>
                </a:solidFill>
                <a:latin typeface="Times New Roman" panose="02020603050405020304" pitchFamily="18" charset="0"/>
                <a:cs typeface="Times New Roman" panose="02020603050405020304" pitchFamily="18" charset="0"/>
              </a:rPr>
            </a:br>
            <a:r>
              <a:rPr lang="ru-RU" dirty="0">
                <a:solidFill>
                  <a:srgbClr val="000000"/>
                </a:solidFill>
                <a:latin typeface="Times New Roman" panose="02020603050405020304" pitchFamily="18" charset="0"/>
                <a:cs typeface="Times New Roman" panose="02020603050405020304" pitchFamily="18" charset="0"/>
              </a:rPr>
              <a:t>перераспределения токов</a:t>
            </a:r>
            <a:r>
              <a:rPr lang="ru-RU"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4627884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9E4D6-5127-61D1-4312-FD43B63C974A}"/>
            </a:ext>
          </a:extLst>
        </p:cNvPr>
        <p:cNvGrpSpPr/>
        <p:nvPr/>
      </p:nvGrpSpPr>
      <p:grpSpPr>
        <a:xfrm>
          <a:off x="0" y="0"/>
          <a:ext cx="0" cy="0"/>
          <a:chOff x="0" y="0"/>
          <a:chExt cx="0" cy="0"/>
        </a:xfrm>
      </p:grpSpPr>
      <p:sp>
        <p:nvSpPr>
          <p:cNvPr id="2" name="Прямоугольник 1"/>
          <p:cNvSpPr/>
          <p:nvPr/>
        </p:nvSpPr>
        <p:spPr>
          <a:xfrm>
            <a:off x="559443" y="518802"/>
            <a:ext cx="6096000" cy="3477875"/>
          </a:xfrm>
          <a:prstGeom prst="rect">
            <a:avLst/>
          </a:prstGeom>
        </p:spPr>
        <p:txBody>
          <a:bodyPr>
            <a:spAutoFit/>
          </a:bodyPr>
          <a:lstStyle/>
          <a:p>
            <a:r>
              <a:rPr lang="ru-RU" sz="2000" b="1" dirty="0">
                <a:solidFill>
                  <a:srgbClr val="000000"/>
                </a:solidFill>
                <a:latin typeface="Times New Roman" panose="02020603050405020304" pitchFamily="18" charset="0"/>
                <a:cs typeface="Times New Roman" panose="02020603050405020304" pitchFamily="18" charset="0"/>
              </a:rPr>
              <a:t>4.3. Регулятор усиления изменением глубины</a:t>
            </a:r>
            <a:br>
              <a:rPr lang="ru-RU" sz="2000" b="1" dirty="0">
                <a:solidFill>
                  <a:srgbClr val="000000"/>
                </a:solidFill>
                <a:latin typeface="Times New Roman" panose="02020603050405020304" pitchFamily="18" charset="0"/>
                <a:cs typeface="Times New Roman" panose="02020603050405020304" pitchFamily="18" charset="0"/>
              </a:rPr>
            </a:br>
            <a:r>
              <a:rPr lang="ru-RU" sz="2000" b="1" dirty="0">
                <a:solidFill>
                  <a:srgbClr val="000000"/>
                </a:solidFill>
                <a:latin typeface="Times New Roman" panose="02020603050405020304" pitchFamily="18" charset="0"/>
                <a:cs typeface="Times New Roman" panose="02020603050405020304" pitchFamily="18" charset="0"/>
              </a:rPr>
              <a:t>отрицательной обратной связи</a:t>
            </a:r>
            <a:br>
              <a:rPr lang="ru-RU" sz="2000" b="1" dirty="0">
                <a:solidFill>
                  <a:srgbClr val="000000"/>
                </a:solidFill>
                <a:latin typeface="Times New Roman" panose="02020603050405020304" pitchFamily="18" charset="0"/>
                <a:cs typeface="Times New Roman" panose="02020603050405020304" pitchFamily="18" charset="0"/>
              </a:rPr>
            </a:br>
            <a:r>
              <a:rPr lang="ru-RU" sz="2000" dirty="0">
                <a:solidFill>
                  <a:srgbClr val="000000"/>
                </a:solidFill>
                <a:latin typeface="Times New Roman" panose="02020603050405020304" pitchFamily="18" charset="0"/>
                <a:cs typeface="Times New Roman" panose="02020603050405020304" pitchFamily="18" charset="0"/>
              </a:rPr>
              <a:t>На рисунке приведена схема резонансного усилителя с плавной регулировкой усиления путем изменения глубины отрицательной обратной связи</a:t>
            </a:r>
            <a:r>
              <a:rPr lang="ru-RU" sz="2000" b="1" dirty="0">
                <a:solidFill>
                  <a:srgbClr val="000000"/>
                </a:solidFill>
                <a:latin typeface="Times New Roman" panose="02020603050405020304" pitchFamily="18" charset="0"/>
                <a:cs typeface="Times New Roman" panose="02020603050405020304" pitchFamily="18" charset="0"/>
              </a:rPr>
              <a:t>.</a:t>
            </a:r>
            <a:br>
              <a:rPr lang="ru-RU" sz="2000" b="1" dirty="0">
                <a:solidFill>
                  <a:srgbClr val="000000"/>
                </a:solidFill>
                <a:latin typeface="Times New Roman" panose="02020603050405020304" pitchFamily="18" charset="0"/>
                <a:cs typeface="Times New Roman" panose="02020603050405020304" pitchFamily="18" charset="0"/>
              </a:rPr>
            </a:br>
            <a:r>
              <a:rPr lang="ru-RU" sz="2000" dirty="0">
                <a:solidFill>
                  <a:srgbClr val="000000"/>
                </a:solidFill>
                <a:latin typeface="Times New Roman" panose="02020603050405020304" pitchFamily="18" charset="0"/>
                <a:cs typeface="Times New Roman" panose="02020603050405020304" pitchFamily="18" charset="0"/>
              </a:rPr>
              <a:t>Обратная связь создается из-за сопротивления переменному току, действующего в цепи истока.</a:t>
            </a:r>
            <a:br>
              <a:rPr lang="ru-RU" sz="2000" dirty="0">
                <a:solidFill>
                  <a:srgbClr val="000000"/>
                </a:solidFill>
                <a:latin typeface="Times New Roman" panose="02020603050405020304" pitchFamily="18" charset="0"/>
                <a:cs typeface="Times New Roman" panose="02020603050405020304" pitchFamily="18" charset="0"/>
              </a:rPr>
            </a:br>
            <a:r>
              <a:rPr lang="ru-RU" sz="2000" dirty="0">
                <a:solidFill>
                  <a:srgbClr val="000000"/>
                </a:solidFill>
                <a:latin typeface="Times New Roman" panose="02020603050405020304" pitchFamily="18" charset="0"/>
                <a:cs typeface="Times New Roman" panose="02020603050405020304" pitchFamily="18" charset="0"/>
              </a:rPr>
              <a:t>Это сопротивление создается параллельно включенными по переменному току резистором </a:t>
            </a:r>
            <a:r>
              <a:rPr lang="ru-RU" sz="2000" dirty="0" err="1">
                <a:solidFill>
                  <a:srgbClr val="000000"/>
                </a:solidFill>
                <a:latin typeface="Times New Roman" panose="02020603050405020304" pitchFamily="18" charset="0"/>
                <a:cs typeface="Times New Roman" panose="02020603050405020304" pitchFamily="18" charset="0"/>
              </a:rPr>
              <a:t>Rи</a:t>
            </a:r>
            <a:r>
              <a:rPr lang="ru-RU" sz="2000" dirty="0">
                <a:solidFill>
                  <a:srgbClr val="000000"/>
                </a:solidFill>
                <a:latin typeface="Times New Roman" panose="02020603050405020304" pitchFamily="18" charset="0"/>
                <a:cs typeface="Times New Roman" panose="02020603050405020304" pitchFamily="18" charset="0"/>
              </a:rPr>
              <a:t>, сопротивлением диода и резистором R.</a:t>
            </a:r>
            <a:r>
              <a:rPr lang="ru-RU" sz="2000" dirty="0">
                <a:latin typeface="Times New Roman" panose="02020603050405020304" pitchFamily="18" charset="0"/>
                <a:cs typeface="Times New Roman" panose="02020603050405020304" pitchFamily="18" charset="0"/>
              </a:rPr>
              <a:t> </a:t>
            </a:r>
            <a:br>
              <a:rPr lang="ru-RU" sz="2000" dirty="0">
                <a:latin typeface="Times New Roman" panose="02020603050405020304" pitchFamily="18" charset="0"/>
                <a:cs typeface="Times New Roman" panose="02020603050405020304" pitchFamily="18" charset="0"/>
              </a:rPr>
            </a:br>
            <a:endParaRPr lang="ru-RU" sz="2000" dirty="0">
              <a:latin typeface="Times New Roman" panose="02020603050405020304" pitchFamily="18" charset="0"/>
              <a:cs typeface="Times New Roman" panose="02020603050405020304" pitchFamily="18" charset="0"/>
            </a:endParaRPr>
          </a:p>
        </p:txBody>
      </p:sp>
      <p:sp>
        <p:nvSpPr>
          <p:cNvPr id="4" name="Прямоугольник 3"/>
          <p:cNvSpPr/>
          <p:nvPr/>
        </p:nvSpPr>
        <p:spPr>
          <a:xfrm>
            <a:off x="559443" y="4207997"/>
            <a:ext cx="9637853" cy="1938992"/>
          </a:xfrm>
          <a:prstGeom prst="rect">
            <a:avLst/>
          </a:prstGeom>
        </p:spPr>
        <p:txBody>
          <a:bodyPr wrap="square">
            <a:spAutoFit/>
          </a:bodyPr>
          <a:lstStyle/>
          <a:p>
            <a:r>
              <a:rPr lang="ru-RU" sz="2000" dirty="0">
                <a:latin typeface="Times New Roman" panose="02020603050405020304" pitchFamily="18" charset="0"/>
                <a:cs typeface="Times New Roman" panose="02020603050405020304" pitchFamily="18" charset="0"/>
              </a:rPr>
              <a:t>К диоду приложены положительное напряжение постоянного смещения </a:t>
            </a:r>
            <a:r>
              <a:rPr lang="ru-RU" sz="2000" b="1" dirty="0">
                <a:latin typeface="Times New Roman" panose="02020603050405020304" pitchFamily="18" charset="0"/>
                <a:cs typeface="Times New Roman" panose="02020603050405020304" pitchFamily="18" charset="0"/>
              </a:rPr>
              <a:t>Е </a:t>
            </a:r>
            <a:r>
              <a:rPr lang="ru-RU" sz="2000" dirty="0">
                <a:latin typeface="Times New Roman" panose="02020603050405020304" pitchFamily="18" charset="0"/>
                <a:cs typeface="Times New Roman" panose="02020603050405020304" pitchFamily="18" charset="0"/>
              </a:rPr>
              <a:t>и отрицательное регулирующее напряжение </a:t>
            </a:r>
            <a:r>
              <a:rPr lang="ru-RU" sz="2000" dirty="0" err="1">
                <a:latin typeface="Times New Roman" panose="02020603050405020304" pitchFamily="18" charset="0"/>
                <a:cs typeface="Times New Roman" panose="02020603050405020304" pitchFamily="18" charset="0"/>
              </a:rPr>
              <a:t>u</a:t>
            </a:r>
            <a:r>
              <a:rPr lang="ru-RU" sz="1200" dirty="0" err="1">
                <a:latin typeface="Times New Roman" panose="02020603050405020304" pitchFamily="18" charset="0"/>
                <a:cs typeface="Times New Roman" panose="02020603050405020304" pitchFamily="18" charset="0"/>
              </a:rPr>
              <a:t>р</a:t>
            </a:r>
            <a:r>
              <a:rPr lang="ru-RU" sz="2000" dirty="0">
                <a:latin typeface="Times New Roman" panose="02020603050405020304" pitchFamily="18" charset="0"/>
                <a:cs typeface="Times New Roman" panose="02020603050405020304" pitchFamily="18" charset="0"/>
              </a:rPr>
              <a:t>. При отсутствии регулирующего напряжения диод открыт, его сопротивление минимально, коэффициент усиления усилителя максимален. При подаче регулирующего напряжения сопротивление диода увеличивается, увеличивается глубина отрицательной обратной связи, коэффициент усиления усилителя уменьшается. </a:t>
            </a:r>
          </a:p>
        </p:txBody>
      </p:sp>
      <p:sp>
        <p:nvSpPr>
          <p:cNvPr id="5" name="Прямоугольник 4"/>
          <p:cNvSpPr/>
          <p:nvPr/>
        </p:nvSpPr>
        <p:spPr>
          <a:xfrm>
            <a:off x="7014258" y="3111372"/>
            <a:ext cx="4591230" cy="923330"/>
          </a:xfrm>
          <a:prstGeom prst="rect">
            <a:avLst/>
          </a:prstGeom>
        </p:spPr>
        <p:txBody>
          <a:bodyPr wrap="square">
            <a:spAutoFit/>
          </a:bodyPr>
          <a:lstStyle/>
          <a:p>
            <a:r>
              <a:rPr lang="ru-RU" dirty="0">
                <a:solidFill>
                  <a:srgbClr val="000000"/>
                </a:solidFill>
                <a:latin typeface="Times New Roman" panose="02020603050405020304" pitchFamily="18" charset="0"/>
                <a:cs typeface="Times New Roman" panose="02020603050405020304" pitchFamily="18" charset="0"/>
              </a:rPr>
              <a:t>Резонансный усилитель с АРУ путем</a:t>
            </a:r>
          </a:p>
          <a:p>
            <a:r>
              <a:rPr lang="ru-RU" dirty="0">
                <a:solidFill>
                  <a:srgbClr val="000000"/>
                </a:solidFill>
                <a:latin typeface="Times New Roman" panose="02020603050405020304" pitchFamily="18" charset="0"/>
                <a:cs typeface="Times New Roman" panose="02020603050405020304" pitchFamily="18" charset="0"/>
              </a:rPr>
              <a:t>изменения глубины отрицательной обратной связи</a:t>
            </a:r>
            <a:r>
              <a:rPr lang="ru-RU" dirty="0">
                <a:latin typeface="Times New Roman" panose="02020603050405020304" pitchFamily="18" charset="0"/>
                <a:cs typeface="Times New Roman" panose="02020603050405020304" pitchFamily="18" charset="0"/>
              </a:rPr>
              <a:t> </a:t>
            </a:r>
          </a:p>
        </p:txBody>
      </p:sp>
      <p:pic>
        <p:nvPicPr>
          <p:cNvPr id="6" name="Рисунок 5"/>
          <p:cNvPicPr>
            <a:picLocks noChangeAspect="1"/>
          </p:cNvPicPr>
          <p:nvPr/>
        </p:nvPicPr>
        <p:blipFill>
          <a:blip r:embed="rId2"/>
          <a:stretch>
            <a:fillRect/>
          </a:stretch>
        </p:blipFill>
        <p:spPr>
          <a:xfrm>
            <a:off x="7378740" y="518802"/>
            <a:ext cx="3638550" cy="2381250"/>
          </a:xfrm>
          <a:prstGeom prst="rect">
            <a:avLst/>
          </a:prstGeom>
        </p:spPr>
      </p:pic>
    </p:spTree>
    <p:extLst>
      <p:ext uri="{BB962C8B-B14F-4D97-AF65-F5344CB8AC3E}">
        <p14:creationId xmlns:p14="http://schemas.microsoft.com/office/powerpoint/2010/main" val="4678400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9E4D6-5127-61D1-4312-FD43B63C974A}"/>
            </a:ext>
          </a:extLst>
        </p:cNvPr>
        <p:cNvGrpSpPr/>
        <p:nvPr/>
      </p:nvGrpSpPr>
      <p:grpSpPr>
        <a:xfrm>
          <a:off x="0" y="0"/>
          <a:ext cx="0" cy="0"/>
          <a:chOff x="0" y="0"/>
          <a:chExt cx="0" cy="0"/>
        </a:xfrm>
      </p:grpSpPr>
      <p:sp>
        <p:nvSpPr>
          <p:cNvPr id="2" name="Прямоугольник 1"/>
          <p:cNvSpPr/>
          <p:nvPr/>
        </p:nvSpPr>
        <p:spPr>
          <a:xfrm>
            <a:off x="455271" y="479064"/>
            <a:ext cx="6096000" cy="4401205"/>
          </a:xfrm>
          <a:prstGeom prst="rect">
            <a:avLst/>
          </a:prstGeom>
        </p:spPr>
        <p:txBody>
          <a:bodyPr>
            <a:spAutoFit/>
          </a:bodyPr>
          <a:lstStyle/>
          <a:p>
            <a:r>
              <a:rPr lang="ru-RU" sz="2000" b="1" dirty="0">
                <a:solidFill>
                  <a:srgbClr val="000000"/>
                </a:solidFill>
                <a:latin typeface="Times New Roman" panose="02020603050405020304" pitchFamily="18" charset="0"/>
                <a:cs typeface="Times New Roman" panose="02020603050405020304" pitchFamily="18" charset="0"/>
              </a:rPr>
              <a:t>4.4. Регулятор усиления на операционном</a:t>
            </a:r>
            <a:br>
              <a:rPr lang="ru-RU" sz="2000" b="1" dirty="0">
                <a:solidFill>
                  <a:srgbClr val="000000"/>
                </a:solidFill>
                <a:latin typeface="Times New Roman" panose="02020603050405020304" pitchFamily="18" charset="0"/>
                <a:cs typeface="Times New Roman" panose="02020603050405020304" pitchFamily="18" charset="0"/>
              </a:rPr>
            </a:br>
            <a:r>
              <a:rPr lang="ru-RU" sz="2000" b="1" dirty="0">
                <a:solidFill>
                  <a:srgbClr val="000000"/>
                </a:solidFill>
                <a:latin typeface="Times New Roman" panose="02020603050405020304" pitchFamily="18" charset="0"/>
                <a:cs typeface="Times New Roman" panose="02020603050405020304" pitchFamily="18" charset="0"/>
              </a:rPr>
              <a:t>усилителе с дискретной коммутацией резисторов,</a:t>
            </a:r>
            <a:br>
              <a:rPr lang="ru-RU" sz="2000" b="1" dirty="0">
                <a:solidFill>
                  <a:srgbClr val="000000"/>
                </a:solidFill>
                <a:latin typeface="Times New Roman" panose="02020603050405020304" pitchFamily="18" charset="0"/>
                <a:cs typeface="Times New Roman" panose="02020603050405020304" pitchFamily="18" charset="0"/>
              </a:rPr>
            </a:br>
            <a:r>
              <a:rPr lang="ru-RU" sz="2000" b="1" dirty="0">
                <a:solidFill>
                  <a:srgbClr val="000000"/>
                </a:solidFill>
                <a:latin typeface="Times New Roman" panose="02020603050405020304" pitchFamily="18" charset="0"/>
                <a:cs typeface="Times New Roman" panose="02020603050405020304" pitchFamily="18" charset="0"/>
              </a:rPr>
              <a:t>включенных в цепь обратной связи</a:t>
            </a:r>
            <a:br>
              <a:rPr lang="ru-RU" sz="2000" b="1" dirty="0">
                <a:solidFill>
                  <a:srgbClr val="000000"/>
                </a:solidFill>
                <a:latin typeface="Times New Roman" panose="02020603050405020304" pitchFamily="18" charset="0"/>
                <a:cs typeface="Times New Roman" panose="02020603050405020304" pitchFamily="18" charset="0"/>
              </a:rPr>
            </a:br>
            <a:r>
              <a:rPr lang="ru-RU" sz="2000" dirty="0">
                <a:solidFill>
                  <a:srgbClr val="000000"/>
                </a:solidFill>
                <a:latin typeface="Times New Roman" panose="02020603050405020304" pitchFamily="18" charset="0"/>
                <a:cs typeface="Times New Roman" panose="02020603050405020304" pitchFamily="18" charset="0"/>
              </a:rPr>
              <a:t>В предыдущем варианте регулятора усиления изменением глубины отрицательной обратной связи регулировка осуществлялась плавно. На рисунке приведена функциональная схема</a:t>
            </a:r>
            <a:br>
              <a:rPr lang="ru-RU" sz="2000" dirty="0">
                <a:solidFill>
                  <a:srgbClr val="000000"/>
                </a:solidFill>
                <a:latin typeface="Times New Roman" panose="02020603050405020304" pitchFamily="18" charset="0"/>
                <a:cs typeface="Times New Roman" panose="02020603050405020304" pitchFamily="18" charset="0"/>
              </a:rPr>
            </a:br>
            <a:r>
              <a:rPr lang="ru-RU" sz="2000" dirty="0">
                <a:solidFill>
                  <a:srgbClr val="000000"/>
                </a:solidFill>
                <a:latin typeface="Times New Roman" panose="02020603050405020304" pitchFamily="18" charset="0"/>
                <a:cs typeface="Times New Roman" panose="02020603050405020304" pitchFamily="18" charset="0"/>
              </a:rPr>
              <a:t>операционного усилителя, в котором регулировка осуществляется дискретно путем коммутации резисторов, включенных в</a:t>
            </a:r>
            <a:br>
              <a:rPr lang="ru-RU" sz="2000" dirty="0">
                <a:solidFill>
                  <a:srgbClr val="000000"/>
                </a:solidFill>
                <a:latin typeface="Times New Roman" panose="02020603050405020304" pitchFamily="18" charset="0"/>
                <a:cs typeface="Times New Roman" panose="02020603050405020304" pitchFamily="18" charset="0"/>
              </a:rPr>
            </a:br>
            <a:r>
              <a:rPr lang="ru-RU" sz="2000" dirty="0">
                <a:solidFill>
                  <a:srgbClr val="000000"/>
                </a:solidFill>
                <a:latin typeface="Times New Roman" panose="02020603050405020304" pitchFamily="18" charset="0"/>
                <a:cs typeface="Times New Roman" panose="02020603050405020304" pitchFamily="18" charset="0"/>
              </a:rPr>
              <a:t>цепь обратной связи.</a:t>
            </a:r>
            <a:r>
              <a:rPr lang="ru-RU" sz="2000" dirty="0">
                <a:latin typeface="Times New Roman" panose="02020603050405020304" pitchFamily="18" charset="0"/>
                <a:cs typeface="Times New Roman" panose="02020603050405020304" pitchFamily="18" charset="0"/>
              </a:rPr>
              <a:t> </a:t>
            </a:r>
          </a:p>
          <a:p>
            <a:r>
              <a:rPr lang="ru-RU" sz="2000" dirty="0">
                <a:latin typeface="Times New Roman" panose="02020603050405020304" pitchFamily="18" charset="0"/>
                <a:cs typeface="Times New Roman" panose="02020603050405020304" pitchFamily="18" charset="0"/>
              </a:rPr>
              <a:t>Управление электронными ключами осуществляется двоичной кодовой комбинацией, поступающей от микропроцессорной системы управления РПУ. </a:t>
            </a:r>
          </a:p>
        </p:txBody>
      </p:sp>
      <p:pic>
        <p:nvPicPr>
          <p:cNvPr id="3" name="Рисунок 2"/>
          <p:cNvPicPr>
            <a:picLocks noChangeAspect="1"/>
          </p:cNvPicPr>
          <p:nvPr/>
        </p:nvPicPr>
        <p:blipFill>
          <a:blip r:embed="rId2"/>
          <a:stretch>
            <a:fillRect/>
          </a:stretch>
        </p:blipFill>
        <p:spPr>
          <a:xfrm>
            <a:off x="7061763" y="1522378"/>
            <a:ext cx="4457700" cy="2314575"/>
          </a:xfrm>
          <a:prstGeom prst="rect">
            <a:avLst/>
          </a:prstGeom>
        </p:spPr>
      </p:pic>
      <p:sp>
        <p:nvSpPr>
          <p:cNvPr id="4" name="Прямоугольник 3"/>
          <p:cNvSpPr/>
          <p:nvPr/>
        </p:nvSpPr>
        <p:spPr>
          <a:xfrm>
            <a:off x="7220673" y="3956939"/>
            <a:ext cx="4139879" cy="923330"/>
          </a:xfrm>
          <a:prstGeom prst="rect">
            <a:avLst/>
          </a:prstGeom>
        </p:spPr>
        <p:txBody>
          <a:bodyPr wrap="square">
            <a:spAutoFit/>
          </a:bodyPr>
          <a:lstStyle/>
          <a:p>
            <a:r>
              <a:rPr lang="ru-RU" dirty="0">
                <a:solidFill>
                  <a:srgbClr val="000000"/>
                </a:solidFill>
                <a:latin typeface="Times New Roman" panose="02020603050405020304" pitchFamily="18" charset="0"/>
                <a:cs typeface="Times New Roman" panose="02020603050405020304" pitchFamily="18" charset="0"/>
              </a:rPr>
              <a:t>Операционный усилитель с дискретной АРУ путем изменения глубины отрицательной обратной связи</a:t>
            </a:r>
            <a:r>
              <a:rPr lang="ru-RU"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1944430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9E4D6-5127-61D1-4312-FD43B63C974A}"/>
            </a:ext>
          </a:extLst>
        </p:cNvPr>
        <p:cNvGrpSpPr/>
        <p:nvPr/>
      </p:nvGrpSpPr>
      <p:grpSpPr>
        <a:xfrm>
          <a:off x="0" y="0"/>
          <a:ext cx="0" cy="0"/>
          <a:chOff x="0" y="0"/>
          <a:chExt cx="0" cy="0"/>
        </a:xfrm>
      </p:grpSpPr>
      <p:sp>
        <p:nvSpPr>
          <p:cNvPr id="2" name="Прямоугольник 1"/>
          <p:cNvSpPr/>
          <p:nvPr/>
        </p:nvSpPr>
        <p:spPr>
          <a:xfrm>
            <a:off x="848811" y="667279"/>
            <a:ext cx="6096000" cy="5324535"/>
          </a:xfrm>
          <a:prstGeom prst="rect">
            <a:avLst/>
          </a:prstGeom>
        </p:spPr>
        <p:txBody>
          <a:bodyPr>
            <a:spAutoFit/>
          </a:bodyPr>
          <a:lstStyle/>
          <a:p>
            <a:r>
              <a:rPr lang="ru-RU" sz="2000" b="1" dirty="0">
                <a:solidFill>
                  <a:srgbClr val="000000"/>
                </a:solidFill>
                <a:latin typeface="Times New Roman" panose="02020603050405020304" pitchFamily="18" charset="0"/>
                <a:cs typeface="Times New Roman" panose="02020603050405020304" pitchFamily="18" charset="0"/>
              </a:rPr>
              <a:t>4.5. Регулятор усиления на основе делителя</a:t>
            </a:r>
            <a:br>
              <a:rPr lang="ru-RU" sz="2000" b="1" dirty="0">
                <a:solidFill>
                  <a:srgbClr val="000000"/>
                </a:solidFill>
                <a:latin typeface="Times New Roman" panose="02020603050405020304" pitchFamily="18" charset="0"/>
                <a:cs typeface="Times New Roman" panose="02020603050405020304" pitchFamily="18" charset="0"/>
              </a:rPr>
            </a:br>
            <a:r>
              <a:rPr lang="ru-RU" sz="2000" b="1" dirty="0">
                <a:solidFill>
                  <a:srgbClr val="000000"/>
                </a:solidFill>
                <a:latin typeface="Times New Roman" panose="02020603050405020304" pitchFamily="18" charset="0"/>
                <a:cs typeface="Times New Roman" panose="02020603050405020304" pitchFamily="18" charset="0"/>
              </a:rPr>
              <a:t>напряжения с регулируемым коэффициентом усиления</a:t>
            </a:r>
            <a:br>
              <a:rPr lang="ru-RU" sz="2000" b="1" dirty="0">
                <a:solidFill>
                  <a:srgbClr val="000000"/>
                </a:solidFill>
                <a:latin typeface="Times New Roman" panose="02020603050405020304" pitchFamily="18" charset="0"/>
                <a:cs typeface="Times New Roman" panose="02020603050405020304" pitchFamily="18" charset="0"/>
              </a:rPr>
            </a:br>
            <a:r>
              <a:rPr lang="ru-RU" sz="2000" dirty="0">
                <a:solidFill>
                  <a:srgbClr val="000000"/>
                </a:solidFill>
                <a:latin typeface="Times New Roman" panose="02020603050405020304" pitchFamily="18" charset="0"/>
                <a:cs typeface="Times New Roman" panose="02020603050405020304" pitchFamily="18" charset="0"/>
              </a:rPr>
              <a:t>Наряду с регулировкой усиления усилителей приемника используются цепи, специально включенные для целей регулировки. Примером такой цепи является управляемый делитель напряжения, схема которого приведена на рисунке.</a:t>
            </a:r>
            <a:r>
              <a:rPr lang="ru-RU" sz="2000" dirty="0">
                <a:latin typeface="Times New Roman" panose="02020603050405020304" pitchFamily="18" charset="0"/>
                <a:cs typeface="Times New Roman" panose="02020603050405020304" pitchFamily="18" charset="0"/>
              </a:rPr>
              <a:t> </a:t>
            </a:r>
            <a:br>
              <a:rPr lang="ru-RU" sz="2000" dirty="0">
                <a:latin typeface="Times New Roman" panose="02020603050405020304" pitchFamily="18" charset="0"/>
                <a:cs typeface="Times New Roman" panose="02020603050405020304" pitchFamily="18" charset="0"/>
              </a:rPr>
            </a:br>
            <a:r>
              <a:rPr lang="ru-RU" sz="2000" dirty="0">
                <a:latin typeface="Times New Roman" panose="02020603050405020304" pitchFamily="18" charset="0"/>
                <a:cs typeface="Times New Roman" panose="02020603050405020304" pitchFamily="18" charset="0"/>
              </a:rPr>
              <a:t>В поперечное плечо Г-образного делителя включен полупроводниковый диод, сопротивление которого зависит от приложенного напряжения. При отсутствии регулирующего напряжения диод закрыт отрицательным напряжением смещения –Е, коэффициент передачи делителя напряжения максимален. Положительное регулирующее напряжение уменьшает сопротивление диода, следовательно, и коэффициент передачи делителя.</a:t>
            </a:r>
          </a:p>
        </p:txBody>
      </p:sp>
      <p:pic>
        <p:nvPicPr>
          <p:cNvPr id="3" name="Рисунок 2"/>
          <p:cNvPicPr>
            <a:picLocks noChangeAspect="1"/>
          </p:cNvPicPr>
          <p:nvPr/>
        </p:nvPicPr>
        <p:blipFill>
          <a:blip r:embed="rId2"/>
          <a:stretch>
            <a:fillRect/>
          </a:stretch>
        </p:blipFill>
        <p:spPr>
          <a:xfrm>
            <a:off x="7131331" y="1504165"/>
            <a:ext cx="4781550" cy="1743075"/>
          </a:xfrm>
          <a:prstGeom prst="rect">
            <a:avLst/>
          </a:prstGeom>
        </p:spPr>
      </p:pic>
      <p:sp>
        <p:nvSpPr>
          <p:cNvPr id="4" name="Прямоугольник 3"/>
          <p:cNvSpPr/>
          <p:nvPr/>
        </p:nvSpPr>
        <p:spPr>
          <a:xfrm>
            <a:off x="7379463" y="3638667"/>
            <a:ext cx="4533418" cy="646331"/>
          </a:xfrm>
          <a:prstGeom prst="rect">
            <a:avLst/>
          </a:prstGeom>
        </p:spPr>
        <p:txBody>
          <a:bodyPr wrap="square">
            <a:spAutoFit/>
          </a:bodyPr>
          <a:lstStyle/>
          <a:p>
            <a:r>
              <a:rPr lang="ru-RU" dirty="0">
                <a:solidFill>
                  <a:srgbClr val="000000"/>
                </a:solidFill>
                <a:latin typeface="TimesNewRomanPSMT"/>
              </a:rPr>
              <a:t>Делитель напряжения с регулируемым коэффициентом передачи</a:t>
            </a:r>
            <a:endParaRPr lang="ru-RU" dirty="0"/>
          </a:p>
        </p:txBody>
      </p:sp>
    </p:spTree>
    <p:extLst>
      <p:ext uri="{BB962C8B-B14F-4D97-AF65-F5344CB8AC3E}">
        <p14:creationId xmlns:p14="http://schemas.microsoft.com/office/powerpoint/2010/main" val="24528318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9E4D6-5127-61D1-4312-FD43B63C974A}"/>
            </a:ext>
          </a:extLst>
        </p:cNvPr>
        <p:cNvGrpSpPr/>
        <p:nvPr/>
      </p:nvGrpSpPr>
      <p:grpSpPr>
        <a:xfrm>
          <a:off x="0" y="0"/>
          <a:ext cx="0" cy="0"/>
          <a:chOff x="0" y="0"/>
          <a:chExt cx="0" cy="0"/>
        </a:xfrm>
      </p:grpSpPr>
    </p:spTree>
    <p:extLst>
      <p:ext uri="{BB962C8B-B14F-4D97-AF65-F5344CB8AC3E}">
        <p14:creationId xmlns:p14="http://schemas.microsoft.com/office/powerpoint/2010/main" val="992811406"/>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2321</Words>
  <Application>Microsoft Office PowerPoint</Application>
  <PresentationFormat>Широкоэкранный</PresentationFormat>
  <Paragraphs>76</Paragraphs>
  <Slides>20</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20</vt:i4>
      </vt:variant>
    </vt:vector>
  </HeadingPairs>
  <TitlesOfParts>
    <vt:vector size="26" baseType="lpstr">
      <vt:lpstr>Arial</vt:lpstr>
      <vt:lpstr>Calibri</vt:lpstr>
      <vt:lpstr>Calibri Light</vt:lpstr>
      <vt:lpstr>Times New Roman</vt:lpstr>
      <vt:lpstr>TimesNewRomanPSMT</vt:lpstr>
      <vt:lpstr>Тема Office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2023-12-01T18:04:15Z</dcterms:created>
  <dcterms:modified xsi:type="dcterms:W3CDTF">2026-05-21T20:03:03Z</dcterms:modified>
</cp:coreProperties>
</file>